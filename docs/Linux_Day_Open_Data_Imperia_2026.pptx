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Titolo e Apertura</a:t>
            </a:r>
          </a:p>
          <a:p>
            <a:r>
              <a:t>- Tempo stimato: 1 minuto.</a:t>
            </a:r>
          </a:p>
          <a:p>
            <a:r>
              <a:t>- Dare il benvenuto ai partecipanti e ringraziare l'Italian Linux Society e gli organizzatori del Linux Day 2026 ad Imperia.</a:t>
            </a:r>
          </a:p>
          <a:p>
            <a:r>
              <a:t>- Presentare il filo conduttore dell'incontro: come trasformare i dati detenuti dagli enti pubblici in veri e propri dati aperti a disposizione di cittadini, imprese e studenti, mostrando la realizzazione pratica del portale Open Data Imperia basato su CKAN e collector Python con licenza libera.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Chi siamo e perché questo progetto (Tempo: 1-2 min)</a:t>
            </a:r>
          </a:p>
          <a:p>
            <a:r>
              <a:t>- Presentare brevemente il Fablab Imperia e l'interesse per la trasparenza digitale.</a:t>
            </a:r>
          </a:p>
          <a:p>
            <a:r>
              <a:t>- Obiettivo centrale: sfatare il mito che gli open data siano un tema astratto o accessibile solo a grandi ministeri; anche a livello locale è possibile realizzare piattaforme professionali con strumenti liberi.</a:t>
            </a:r>
          </a:p>
          <a:p>
            <a:r>
              <a:t>- Nota fondamentale per il pubblico: specificare con chiarezza che il progetto è 'sperimentale' e indipendente. Non abbiamo contratti con il Comune o con la Regione; è un esperimento civico per dimostrare cosa si può fare e per stimolare le istituzioni locali.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Definizione formale (Tempo: 1-2 min)</a:t>
            </a:r>
          </a:p>
          <a:p>
            <a:r>
              <a:t>- Leggere la Open Definition: è lo standard globale elaborato dalla Open Knowledge Foundation.</a:t>
            </a:r>
          </a:p>
          <a:p>
            <a:r>
              <a:t>- Soffermarsi sul 3° pilastro: molte persone pensano erroneamente che 'open data' significhi 'vietato l'uso commerciale'. Invece la definizione formale e le direttive UE stabiliscono chiaramente che il dato aperto DEVE poter essere usato anche dalle imprese per creare lavoro, app e nuovi servizi commerciali. Se vieti il commercio, non è Open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Cosa NON è un open data (Tempo: 1-2 min)</a:t>
            </a:r>
          </a:p>
          <a:p>
            <a:r>
              <a:t>- Esempio pratico: un comune pubblica il bilancio in un PDF scansionato di 300 pagine; è trasparenza per l'occhio umano, ma è inservibile per un computer.</a:t>
            </a:r>
          </a:p>
          <a:p>
            <a:r>
              <a:t>- Spiegare il concetto legale: in Italia (e nel mondo occidentale), se su un sito non c'è una licenza esplicita, vige il copyright integrale ('tutti i diritti riservati'). Senza una licenza aperta, scaricare ed elaborare quei dati espone ad ambiguità giuridica.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Le 5 stelle di Tim Berners-Lee (Tempo: 1-2 min)</a:t>
            </a:r>
          </a:p>
          <a:p>
            <a:r>
              <a:t>- Ideata dal padre del World Wide Web. Mostra il continuum qualitativo.</a:t>
            </a:r>
          </a:p>
          <a:p>
            <a:r>
              <a:t>- Punto chiave: 3 stelle è la linea di demarcazione fondamentale tra passato e presente. Con il CSV o GeoJSON chiunque con Python, R, LibreOffice Calc o QGIS può lavorare senza pagare licenze software.</a:t>
            </a:r>
          </a:p>
          <a:p>
            <a:r>
              <a:t>- 5 stelle è l'orizzonte semantico: collegare ad esempio l'elenco dei monumenti di Imperia alle schede di Wikidata o alle ontologie dei beni culturali nazionali.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Formati e interoperabilità (Tempo: 1-2 min)</a:t>
            </a:r>
          </a:p>
          <a:p>
            <a:r>
              <a:t>- Perché la standardizzazione è vitale: immaginate se ogni comune della Liguria pubblicasse gli orari dei bus con un formato diverso inventato dal programmatore di turno. Nessuna app (come Google Maps o Moovit) potrebbe mai funzionare.</a:t>
            </a:r>
          </a:p>
          <a:p>
            <a:r>
              <a:t>- Le API REST con formati aperti permettono di costruire macchine che dialogano con macchine: è la base della smart city e del monitoraggio civico continuo.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Esempi d'uso concreti (Tempo: 1-2 min)</a:t>
            </a:r>
          </a:p>
          <a:p>
            <a:r>
              <a:t>- Portare esempi vicini all'esperienza del pubblico:</a:t>
            </a:r>
          </a:p>
          <a:p>
            <a:r>
              <a:t>  - Mobilità: sapere dov'è il bus sulla tratta Sanremo-Imperia-Ventimiglia.</a:t>
            </a:r>
          </a:p>
          <a:p>
            <a:r>
              <a:t>  - Risorsa idrica: il Ponente Ligure ha affrontato crisi idriche importanti; avere dati trasparenti sui livelli dei bacini e sulla qualità dell'acqua rassicura i cittadini e orienta le scelte degli amministratori.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Chi ci guadagna (Tempo: 1-2 min)</a:t>
            </a:r>
          </a:p>
          <a:p>
            <a:r>
              <a:t>- Sottolineare un paradosso comune: molto spesso il primo beneficiario degli open data è la PA stessa! In tantissimi comuni, l'ufficio commercio non sa cosa fa l'ufficio lavori pubblici e deve mandare protocolli formali interni per avere un foglio Excel. Avere un portale unificato risolve anche questo problema.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Il contesto locale (Tempo: 1 min)</a:t>
            </a:r>
          </a:p>
          <a:p>
            <a:r>
              <a:t>- Concludere la Sezione 1. Tempo cumulato: ~9 minuti.</a:t>
            </a:r>
          </a:p>
          <a:p>
            <a:r>
              <a:t>- Transizione verso la Sezione 2: 'Bene, abbiamo visto cosa sono gli open data e perché servono a Imperia. Ma è solo una buona intenzione, oppure la legge lo richiede espressamente? Scopriamo la normativa europea e italiana.'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Quadro europeo (Tempo: 1-2 min)</a:t>
            </a:r>
          </a:p>
          <a:p>
            <a:r>
              <a:t>- L'Unione Europea ha compreso oltre 20 anni fa che i dati pagati con le tasse dei contribuenti appartengono alla collettività.</a:t>
            </a:r>
          </a:p>
          <a:p>
            <a:r>
              <a:t>- La direttiva 2019/1024 e il recentissimo regolamento 2023/138 hanno introdotto sanzioni e obblighi stringenti per gli High Value Datasets: ambiente, trasporti e meteo devono essere rilasciati gratuitamente tramite API.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Recepimento in Italia (Tempo: 1-2 min)</a:t>
            </a:r>
          </a:p>
          <a:p>
            <a:r>
              <a:t>- Sottolineare la data: 15 dicembre 2021. Da quella data l'apertura non è una facoltà discrezionale del dirigente, ma un obbligo di legge.</a:t>
            </a:r>
          </a:p>
          <a:p>
            <a:r>
              <a:t>- Concetto cardine: 'Open by default'. Fino a qualche anno fa la regola era il silenzio/diniego, oggi la regola è che il dato pubblico è aperto a meno che non ci sia una norma specifica di riservatezza o tutela della privacy.</a:t>
            </a:r>
          </a:p>
          <a:p>
            <a:r>
              <a:t>- Termine di 30 giorni per rispondere alle istanze.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Trasparenza e CAD (Tempo: 1-2 min)</a:t>
            </a:r>
          </a:p>
          <a:p>
            <a:r>
              <a:t>- Notare il perfetto connubio tra Art. 52 (obbligo dati aperti) e Art. 68 (obbligo di privilegiare il software open source).</a:t>
            </a:r>
          </a:p>
          <a:p>
            <a:r>
              <a:t>- È proprio in ottemperanza all'Art. 68 del CAD che progetti come CKAN (open source con licenza AGPL) rappresentano la scelta più conforme alle direttive di legge per le amministrazioni, evitando di sprecare milioni in licenze proprietarie.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Linee guida AgID (Tempo: 1-2 min)</a:t>
            </a:r>
          </a:p>
          <a:p>
            <a:r>
              <a:t>- La determinazione n. 183/2023 ha aggiornato le storiche linee guida del 2016.</a:t>
            </a:r>
          </a:p>
          <a:p>
            <a:r>
              <a:t>- Sono il 'manuale di istruzioni' per gli sviluppatori e per i funzionari pubblici: definiscono con precisione scientifica cosa si deve fare per essere in regola con la legge.</a:t>
            </a:r>
          </a:p>
          <a:p>
            <a:r>
              <a:t>- Nel progetto Open Data Imperia abbiamo seguito esattamente questi quattro pilastri.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DCAT-AP_IT e Harvesting (Tempo: 1-2 min)</a:t>
            </a:r>
          </a:p>
          <a:p>
            <a:r>
              <a:t>- Perché i metadati sono più importanti dei dati stessi: senza metadati un file CSV è solo un mucchio di numeri senza contesto.</a:t>
            </a:r>
          </a:p>
          <a:p>
            <a:r>
              <a:t>- Concetto di Harvesting: mostrare la cascata. Chiunque può pubblicare un catalogo DCAT; gli spider di dati.gov.it passano di notte, leggono i metadati RDF e li integrano nell'indice nazionale.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dati.gov.it e federazione (Tempo: 1 min)</a:t>
            </a:r>
          </a:p>
          <a:p>
            <a:r>
              <a:t>- Ribadire che l'architettura federata è il cuore dell'approccio europeo.</a:t>
            </a:r>
          </a:p>
          <a:p>
            <a:r>
              <a:t>- L'Italia ha scelto CKAN come piattaforma sia per dati.gov.it che per la maggior parte dei portali regionali (inclusa Regione Liguria, Regione Toscana, Piemonte, ecc.). Per questo adottare CKAN per Open Data Imperia è stata una scelta di coerenza naturale.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Licenze (Tempo: 1-2 min)</a:t>
            </a:r>
          </a:p>
          <a:p>
            <a:r>
              <a:t>- Fine Sezione 2. Minuto stimato: ~18-19.</a:t>
            </a:r>
          </a:p>
          <a:p>
            <a:r>
              <a:t>- Concetto cruciale da ribadire prima di passare all'architettura: la licenza CC BY 4.0 è il perfetto equilibrio tra riconoscimento del lavoro (obbligo di citare 'Fablab Imperia / Fonte Ente') e totale libertà di riuso per la collettività.</a:t>
            </a:r>
          </a:p>
          <a:p>
            <a:r>
              <a:t>- Transizione: 'Ora che conosciamo perfettamente la normativa e le licenze, entriamo nella sala macchine del nostro progetto: come abbiamo costruito il portale con CKAN e Python.'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Obiettivi del progetto (Tempo: 1-2 min)</a:t>
            </a:r>
          </a:p>
          <a:p>
            <a:r>
              <a:t>- Apertura Sezione 3 (la parte tecnica più succosa del talk).</a:t>
            </a:r>
          </a:p>
          <a:p>
            <a:r>
              <a:t>- Spiegare il motto dell'iniziativa: non aspettare passivamente che la burocrazia si muova. Il mondo del software libero ci insegna che se vogliamo una cosa, possiamo iniziare a costruirla noi stessi, rilasciando il codice alla luce del sole.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Perché CKAN (Tempo: 1-2 min)</a:t>
            </a:r>
          </a:p>
          <a:p>
            <a:r>
              <a:t>- Principio ingegneristico fondamentale: 'Non reinventare la ruota'. Sviluppare da zero un catalogo dati con ricerca faccettata, gestione utenti, API REST, visualizzatori e conformità DCAT richiederebbe anni di lavoro.</a:t>
            </a:r>
          </a:p>
          <a:p>
            <a:r>
              <a:t>- Con CKAN partiamo dalle spalle dei giganti. Tutta la nostra energia si concentra su ciò che conta davvero: i dati di Imperia e i collector.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Architettura tecnica (Tempo: 1-2 min)</a:t>
            </a:r>
          </a:p>
          <a:p>
            <a:r>
              <a:t>- Illustrare la separazione dei compiti:</a:t>
            </a:r>
          </a:p>
          <a:p>
            <a:r>
              <a:t>  - Caddy gestisce i certificati SSL Let's Encrypt in automatico per il dominio di produzione dati.fablabimperia.org.</a:t>
            </a:r>
          </a:p>
          <a:p>
            <a:r>
              <a:t>  - Lo stack CKAN è composto da container Docker standard.</a:t>
            </a:r>
          </a:p>
          <a:p>
            <a:r>
              <a:t>  - I collector Python vivono in un container separato ed effettuano chiamate HTTP autenticate alla Action API di CKAN. Questa separazione protegge il database da corruzioni e garantisce che anche se un collector ha un bug, il portale resta online e funzionante.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Personalizzazione ckanext-openimperia (Tempo: 1-2 min)</a:t>
            </a:r>
          </a:p>
          <a:p>
            <a:r>
              <a:t>- Spiegare come CKAN viene esteso: non si tocca una sola riga del codice principale di CKAN. Si implementa un'estensione Python che implementa interfacce formali (IConfigurer, IActions, IClick).</a:t>
            </a:r>
          </a:p>
          <a:p>
            <a:r>
              <a:t>- Questo garantisce che quando uscirà CKAN 2.12 o 3.0, potremo aggiornare i container senza rischiare di sovrascrivere o perdere la grafica o le nostre configurazioni.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L'idea dei collector (Tempo: 1-2 min)</a:t>
            </a:r>
          </a:p>
          <a:p>
            <a:r>
              <a:t>- Il punto debole di molti portali della PA: sono nati con grandi proclami, poi dopo 6 mesi nessuno ha più caricato i file e sono diventati 'cimiteri di dati'.</a:t>
            </a:r>
          </a:p>
          <a:p>
            <a:r>
              <a:t>- L'automazione tramite collector è l'unica via sostenibile: una volta scritto e testato il modulo Python, il sistema continua ad acquisire e pubblicare i dati giorno e notte in totale autonomia.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 Anatomia di una sorgente (Tempo: 1-2 min)</a:t>
            </a:r>
          </a:p>
          <a:p>
            <a:r>
              <a:t>- Mostrare quanto sia semplice per un programmatore o uno studente contribuire: non serve essere esperti di CKAN o di database relazionali.</a:t>
            </a:r>
          </a:p>
          <a:p>
            <a:r>
              <a:t>- Basta implementare due metodi in Python:</a:t>
            </a:r>
          </a:p>
          <a:p>
            <a:r>
              <a:t>  1. fetch(): come scaricare il dato (requests, curl, parsing HTML).</a:t>
            </a:r>
          </a:p>
          <a:p>
            <a:r>
              <a:t>  2. transform(): come strutturare le colonne in un CSV e definire i metadati.</a:t>
            </a:r>
          </a:p>
          <a:p>
            <a:r>
              <a:t>- L'opzione --dry-run garantisce la massima tranquillità durante lo sviluppo.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 Il client CKAN (Tempo: 1 min)</a:t>
            </a:r>
          </a:p>
          <a:p>
            <a:r>
              <a:t>- Spiegare il concetto di 'idempotenza': in un sistema distribuito con task schedulati (cron), l'idempotenza è vitale. Se il server si riavvia a metà operazione e il task riparte, non vogliamo 10 copie dello stesso dataset, ma un unico dataset sempre aggiornato.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 Fonti già implementate (Tempo: 1-2 min)</a:t>
            </a:r>
          </a:p>
          <a:p>
            <a:r>
              <a:t>- Mostrare che il progetto non è un guscio vuoto: ci sono già due sorgenti complete e funzionanti nel repository git.</a:t>
            </a:r>
          </a:p>
          <a:p>
            <a:r>
              <a:t>- ARPAL per il meteo e Rivieracqua per l'acqua potabile rappresentano due settori fondamentali (ambiente e risorse primarie).</a:t>
            </a:r>
          </a:p>
          <a:p>
            <a:r>
              <a:t>- Entrambi estraggono dati che prima erano difficili da scaricare in blocco e li trasformano in dataset tabellari pronti per data science e applicazioni.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 Roadmap fonti dati (Tempo: 1-2 min)</a:t>
            </a:r>
          </a:p>
          <a:p>
            <a:r>
              <a:t>- Questa slide è un invito aperto alla sala: 'Quale di queste fonti vorreste vedere per prima? Se sei uno studente o uno sviluppatore, puoi adottare una di queste 4 sorgenti e implementarla con noi!'</a:t>
            </a:r>
          </a:p>
          <a:p>
            <a:r>
              <a:t>- MIMIT carburanti è un esercizio perfetto: c'è un CSV ministeriale enorme; il collector deve solo scaricarlo ogni mattina alle 8, filtrare la colonna provincia = 'IM' e caricare il dataset su CKAN.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 Licenza e riuso (Tempo: 1 min)</a:t>
            </a:r>
          </a:p>
          <a:p>
            <a:r>
              <a:t>- Fine Sezione 3. Minuto stimato: ~30.</a:t>
            </a:r>
          </a:p>
          <a:p>
            <a:r>
              <a:t>- Il valore etico del Linux Day: non siamo qui solo per mostrare cosa abbiamo fatto noi a Imperia, ma per consegnarvi uno strumento che potete portare nelle vostre città e nelle vostre scuole.</a:t>
            </a:r>
          </a:p>
          <a:p>
            <a:r>
              <a:t>- La licenza AGPLv3 garantisce che questo progetto rimarrà libero per sempre.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 Demo Live (Tempo: 3-4 min)</a:t>
            </a:r>
          </a:p>
          <a:p>
            <a:r>
              <a:t>- Consiglio pratico: avere i container Docker già avviati prima di iniziare il talk, per evitare attese di rete o compilazioni.</a:t>
            </a:r>
          </a:p>
          <a:p>
            <a:r>
              <a:t>- Mostrare la finestra del browser su localhost:5000 e poi lanciare da terminale il comando del collector con --dry-run per far vedere i dati meteo in arrivo in tempo reale.</a:t>
            </a:r>
          </a:p>
          <a:p>
            <a:r>
              <a:t>- Se la rete della conferenza ha problemi, passare immediatamente al Piano B (mostrare gli screenshot e i log già pronti).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 Cosa abbiamo visto (Tempo: 1-2 min)</a:t>
            </a:r>
          </a:p>
          <a:p>
            <a:r>
              <a:t>- Riassumere con chiarezza ed enfasi i tre pilastri:</a:t>
            </a:r>
          </a:p>
          <a:p>
            <a:r>
              <a:t>  1. I dati pubblici sono un diritto sancito dalla legge.</a:t>
            </a:r>
          </a:p>
          <a:p>
            <a:r>
              <a:t>  2. Il software libero (CKAN, Python, Linux) è lo strumento ideale e conforme al CAD.</a:t>
            </a:r>
          </a:p>
          <a:p>
            <a:r>
              <a:t>  3. L'iniziativa dal basso dimostra che non servono milioni di euro per fare open data sul territorio.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 Come contribuire (Tempo: 1-2 min)</a:t>
            </a:r>
          </a:p>
          <a:p>
            <a:r>
              <a:t>- Call to action diretta al pubblico.</a:t>
            </a:r>
          </a:p>
          <a:p>
            <a:r>
              <a:t>- Dare le indicazioni su dove trovarsi fisicamente (Fablab Imperia) e virtualmente (canali Telegram, GitHub issues).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 Spazio Domande &amp; Risposte (Tempo: 8-10 min)</a:t>
            </a:r>
          </a:p>
          <a:p>
            <a:r>
              <a:t>- Ringraziare calorosamente il pubblico e gli organizzatori del Linux Day 2026.</a:t>
            </a:r>
          </a:p>
          <a:p>
            <a:r>
              <a:t>- Risposte pronte alle domande frequenti del pubblico:</a:t>
            </a:r>
          </a:p>
          <a:p>
            <a:r>
              <a:t>  1. È obbligatorio per legge? Sì, dal D.Lgs. 36/2006 al D.Lgs. 200/2021 e Linee Guida AgID 2023.</a:t>
            </a:r>
          </a:p>
          <a:p>
            <a:r>
              <a:t>  2. Open data e Privacy (GDPR)? I dati personali sono rigorosamente esclusi o preventivamente anonimizzati. Si aprono dati aggregati, ambientali, trasporti, bilanci.</a:t>
            </a:r>
          </a:p>
          <a:p>
            <a:r>
              <a:t>  3. Quanto costa l'infrastruttura? Il software è 100% open source gratuito. Serve solo un VPS Linux da ~10-15 € al mese.</a:t>
            </a:r>
          </a:p>
          <a:p>
            <a:r>
              <a:t>  4. Chi aggiorna i dati? I collector Python schedulati via cron.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084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822960"/>
            <a:ext cx="10362895" cy="457200"/>
          </a:xfrm>
          <a:prstGeom prst="rect">
            <a:avLst/>
          </a:prstGeom>
          <a:noFill/>
        </p:spPr>
        <p:txBody>
          <a:bodyPr wrap="none">
            <a:spAutoFit/>
          </a:bodyPr>
          <a:lstStyle/>
          <a:p>
            <a:pPr>
              <a:defRPr sz="1400" b="1">
                <a:solidFill>
                  <a:srgbClr val="E67E22"/>
                </a:solidFill>
                <a:latin typeface="Liberation Sans"/>
              </a:defRPr>
            </a:pPr>
            <a:r>
              <a:t>LINUX DAY 2026 • IMPERIA</a:t>
            </a:r>
          </a:p>
        </p:txBody>
      </p:sp>
      <p:sp>
        <p:nvSpPr>
          <p:cNvPr id="5" name="TextBox 4"/>
          <p:cNvSpPr txBox="1"/>
          <p:nvPr/>
        </p:nvSpPr>
        <p:spPr>
          <a:xfrm>
            <a:off x="914400" y="1371600"/>
            <a:ext cx="10362895" cy="2011680"/>
          </a:xfrm>
          <a:prstGeom prst="rect">
            <a:avLst/>
          </a:prstGeom>
          <a:noFill/>
        </p:spPr>
        <p:txBody>
          <a:bodyPr wrap="square">
            <a:spAutoFit/>
          </a:bodyPr>
          <a:lstStyle/>
          <a:p>
            <a:pPr>
              <a:spcAft>
                <a:spcPts val="600"/>
              </a:spcAft>
              <a:defRPr sz="3800" b="1">
                <a:solidFill>
                  <a:srgbClr val="FFFFFF"/>
                </a:solidFill>
                <a:latin typeface="Liberation Sans"/>
              </a:defRPr>
            </a:pPr>
            <a:r>
              <a:t>Dai dati pubblici ai dati aperti</a:t>
            </a:r>
          </a:p>
          <a:p>
            <a:pPr>
              <a:defRPr sz="2200">
                <a:solidFill>
                  <a:srgbClr val="0084D1"/>
                </a:solidFill>
                <a:latin typeface="Liberation Sans"/>
              </a:defRPr>
            </a:pPr>
            <a:r>
              <a:t>Il progetto Open Data Imperia con CKAN e Python</a:t>
            </a:r>
          </a:p>
        </p:txBody>
      </p:sp>
      <p:sp>
        <p:nvSpPr>
          <p:cNvPr id="6" name="Rectangle 5"/>
          <p:cNvSpPr/>
          <p:nvPr/>
        </p:nvSpPr>
        <p:spPr>
          <a:xfrm>
            <a:off x="914400" y="3657600"/>
            <a:ext cx="6858000" cy="2011680"/>
          </a:xfrm>
          <a:prstGeom prst="rect">
            <a:avLst/>
          </a:prstGeom>
          <a:solidFill>
            <a:srgbClr val="132940"/>
          </a:solidFill>
          <a:ln>
            <a:solidFill>
              <a:srgbClr val="1E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3840480"/>
            <a:ext cx="6400800" cy="1645920"/>
          </a:xfrm>
          <a:prstGeom prst="rect">
            <a:avLst/>
          </a:prstGeom>
          <a:noFill/>
        </p:spPr>
        <p:txBody>
          <a:bodyPr wrap="none">
            <a:spAutoFit/>
          </a:bodyPr>
          <a:lstStyle/>
          <a:p>
            <a:pPr>
              <a:spcAft>
                <a:spcPts val="400"/>
              </a:spcAft>
              <a:defRPr sz="1600" b="1">
                <a:solidFill>
                  <a:srgbClr val="FFFFFF"/>
                </a:solidFill>
                <a:latin typeface="Liberation Sans"/>
              </a:defRPr>
            </a:pPr>
            <a:r>
              <a:t>Relatore: Stefano Semeria</a:t>
            </a:r>
          </a:p>
          <a:p>
            <a:pPr>
              <a:spcAft>
                <a:spcPts val="400"/>
              </a:spcAft>
              <a:defRPr sz="1300">
                <a:solidFill>
                  <a:srgbClr val="CBD5E1"/>
                </a:solidFill>
                <a:latin typeface="Liberation Sans"/>
              </a:defRPr>
            </a:pPr>
            <a:r>
              <a:t>Fablab Imperia APS — Laboratorio di Fabbricazione Digitale</a:t>
            </a:r>
          </a:p>
          <a:p>
            <a:pPr>
              <a:defRPr sz="1200">
                <a:solidFill>
                  <a:srgbClr val="0D9488"/>
                </a:solidFill>
                <a:latin typeface="Liberation Sans"/>
              </a:defRPr>
            </a:pPr>
            <a:r>
              <a:t>Tecnologie Libere ed Ecosistema Dati per il Territorio</a:t>
            </a:r>
          </a:p>
        </p:txBody>
      </p:sp>
      <p:pic>
        <p:nvPicPr>
          <p:cNvPr id="8" name="Picture 7" descr="openimperia-logo-white.png"/>
          <p:cNvPicPr>
            <a:picLocks noChangeAspect="1"/>
          </p:cNvPicPr>
          <p:nvPr/>
        </p:nvPicPr>
        <p:blipFill>
          <a:blip r:embed="rId2"/>
          <a:stretch>
            <a:fillRect/>
          </a:stretch>
        </p:blipFill>
        <p:spPr>
          <a:xfrm>
            <a:off x="8412480" y="3474720"/>
            <a:ext cx="3108960" cy="668426"/>
          </a:xfrm>
          <a:prstGeom prst="rect">
            <a:avLst/>
          </a:prstGeom>
        </p:spPr>
      </p:pic>
      <p:pic>
        <p:nvPicPr>
          <p:cNvPr id="9" name="Picture 8" descr="fablab-logo.png"/>
          <p:cNvPicPr>
            <a:picLocks noChangeAspect="1"/>
          </p:cNvPicPr>
          <p:nvPr/>
        </p:nvPicPr>
        <p:blipFill>
          <a:blip r:embed="rId3"/>
          <a:stretch>
            <a:fillRect/>
          </a:stretch>
        </p:blipFill>
        <p:spPr>
          <a:xfrm>
            <a:off x="8595360" y="4663440"/>
            <a:ext cx="2743200" cy="1827657"/>
          </a:xfrm>
          <a:prstGeom prst="rect">
            <a:avLst/>
          </a:prstGeom>
        </p:spPr>
      </p:pic>
      <p:sp>
        <p:nvSpPr>
          <p:cNvPr id="10" name="TextBox 9"/>
          <p:cNvSpPr txBox="1"/>
          <p:nvPr/>
        </p:nvSpPr>
        <p:spPr>
          <a:xfrm>
            <a:off x="731520" y="6400800"/>
            <a:ext cx="10728655" cy="365760"/>
          </a:xfrm>
          <a:prstGeom prst="rect">
            <a:avLst/>
          </a:prstGeom>
          <a:noFill/>
        </p:spPr>
        <p:txBody>
          <a:bodyPr wrap="none" tIns="0" bIns="0" lIns="0" rIns="0">
            <a:spAutoFit/>
          </a:bodyPr>
          <a:lstStyle/>
          <a:p>
            <a:pPr>
              <a:defRPr sz="1000">
                <a:solidFill>
                  <a:srgbClr val="94A3B8"/>
                </a:solidFill>
                <a:latin typeface="Liberation Sans"/>
              </a:defRPr>
            </a:pPr>
            <a:r>
              <a:t>Open Data Imperia • Fablab Imperia APS — Linux Day 2026</a:t>
            </a:r>
          </a:p>
        </p:txBody>
      </p:sp>
      <p:sp>
        <p:nvSpPr>
          <p:cNvPr id="11" name="TextBox 10"/>
          <p:cNvSpPr txBox="1"/>
          <p:nvPr/>
        </p:nvSpPr>
        <p:spPr>
          <a:xfrm>
            <a:off x="9601200" y="6400800"/>
            <a:ext cx="1828800" cy="365760"/>
          </a:xfrm>
          <a:prstGeom prst="rect">
            <a:avLst/>
          </a:prstGeom>
          <a:noFill/>
        </p:spPr>
        <p:txBody>
          <a:bodyPr wrap="none" tIns="0" bIns="0" lIns="0" rIns="0">
            <a:spAutoFit/>
          </a:bodyPr>
          <a:lstStyle/>
          <a:p>
            <a:pPr algn="r">
              <a:defRPr sz="1000" b="1">
                <a:solidFill>
                  <a:srgbClr val="0084D1"/>
                </a:solidFill>
                <a:latin typeface="Liberation Sans"/>
              </a:defRPr>
            </a:pPr>
            <a:r>
              <a:t>1 / 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tIns="0" bIns="0" lIns="0" rIns="0">
            <a:spAutoFit/>
          </a:bodyPr>
          <a:lstStyle/>
          <a:p>
            <a:pPr>
              <a:spcAft>
                <a:spcPts val="200"/>
              </a:spcAft>
              <a:defRPr sz="1100" b="1">
                <a:solidFill>
                  <a:srgbClr val="0D9488"/>
                </a:solidFill>
                <a:latin typeface="Liberation Sans"/>
              </a:defRPr>
            </a:pPr>
            <a:r>
              <a:t>SEZIONE 0 • APERTURA</a:t>
            </a:r>
          </a:p>
          <a:p>
            <a:pPr>
              <a:spcAft>
                <a:spcPts val="200"/>
              </a:spcAft>
              <a:defRPr sz="2400" b="1">
                <a:solidFill>
                  <a:srgbClr val="0F172A"/>
                </a:solidFill>
                <a:latin typeface="Liberation Sans"/>
              </a:defRPr>
            </a:pPr>
            <a:r>
              <a:t>Chi siamo e perché questo progetto</a:t>
            </a:r>
          </a:p>
          <a:p>
            <a:pPr>
              <a:defRPr sz="1200">
                <a:solidFill>
                  <a:srgbClr val="64748B"/>
                </a:solidFill>
                <a:latin typeface="Liberation Sans"/>
              </a:defRPr>
            </a:pPr>
            <a:r>
              <a:t>Dalla cultura del software libero all'impegno civico per i beni comuni digitali</a:t>
            </a:r>
          </a:p>
        </p:txBody>
      </p:sp>
      <p:sp>
        <p:nvSpPr>
          <p:cNvPr id="4" name="Rectangle 3"/>
          <p:cNvSpPr/>
          <p:nvPr/>
        </p:nvSpPr>
        <p:spPr>
          <a:xfrm>
            <a:off x="731520" y="1737360"/>
            <a:ext cx="512064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01952"/>
            <a:ext cx="475488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L'ASSOCIAZIONE</a:t>
            </a:r>
          </a:p>
          <a:p>
            <a:pPr>
              <a:spcAft>
                <a:spcPts val="600"/>
              </a:spcAft>
              <a:defRPr sz="1500" b="1">
                <a:solidFill>
                  <a:srgbClr val="0F172A"/>
                </a:solidFill>
                <a:latin typeface="Liberation Sans"/>
              </a:defRPr>
            </a:pPr>
            <a:r>
              <a:t>Fablab Imperia APS</a:t>
            </a:r>
          </a:p>
          <a:p>
            <a:pPr>
              <a:spcAft>
                <a:spcPts val="400"/>
              </a:spcAft>
            </a:pPr>
            <a:r>
              <a:rPr b="1" sz="1200">
                <a:solidFill>
                  <a:srgbClr val="0F172A"/>
                </a:solidFill>
                <a:latin typeface="Liberation Sans"/>
              </a:rPr>
              <a:t>• Comunità Civica: </a:t>
            </a:r>
            <a:r>
              <a:rPr sz="1200">
                <a:solidFill>
                  <a:srgbClr val="334155"/>
                </a:solidFill>
                <a:latin typeface="Liberation Sans"/>
              </a:rPr>
              <a:t>Associazione di promozione sociale impegnata nella divulgazione tecnologica, programmazione e software libero.</a:t>
            </a:r>
          </a:p>
          <a:p>
            <a:pPr>
              <a:spcAft>
                <a:spcPts val="400"/>
              </a:spcAft>
            </a:pPr>
            <a:r>
              <a:rPr b="1" sz="1200">
                <a:solidFill>
                  <a:srgbClr val="0F172A"/>
                </a:solidFill>
                <a:latin typeface="Liberation Sans"/>
              </a:rPr>
              <a:t>• Laboratorio Aperto: </a:t>
            </a:r>
            <a:r>
              <a:rPr sz="1200">
                <a:solidFill>
                  <a:srgbClr val="334155"/>
                </a:solidFill>
                <a:latin typeface="Liberation Sans"/>
              </a:rPr>
              <a:t>Punto d'incontro per studenti, professionisti, maker e appassionati di ogni età nel Ponente Ligure.</a:t>
            </a:r>
          </a:p>
          <a:p>
            <a:pPr>
              <a:spcAft>
                <a:spcPts val="400"/>
              </a:spcAft>
            </a:pPr>
            <a:r>
              <a:rPr b="1" sz="1200">
                <a:solidFill>
                  <a:srgbClr val="0F172A"/>
                </a:solidFill>
                <a:latin typeface="Liberation Sans"/>
              </a:rPr>
              <a:t>• Beni Comuni Digitali: </a:t>
            </a:r>
            <a:r>
              <a:rPr sz="1200">
                <a:solidFill>
                  <a:srgbClr val="334155"/>
                </a:solidFill>
                <a:latin typeface="Liberation Sans"/>
              </a:rPr>
              <a:t>Promuoviamo la sovranità tecnologica e la trasparenza della Pubblica Amministrazione attraverso strumenti open source.</a:t>
            </a:r>
          </a:p>
        </p:txBody>
      </p:sp>
      <p:sp>
        <p:nvSpPr>
          <p:cNvPr id="6" name="Rectangle 5"/>
          <p:cNvSpPr/>
          <p:nvPr/>
        </p:nvSpPr>
        <p:spPr>
          <a:xfrm>
            <a:off x="6217920" y="1737360"/>
            <a:ext cx="5212080" cy="4389120"/>
          </a:xfrm>
          <a:prstGeom prst="rect">
            <a:avLst/>
          </a:prstGeom>
          <a:solidFill>
            <a:srgbClr val="FFFFFF"/>
          </a:solidFill>
          <a:ln w="19050">
            <a:solidFill>
              <a:srgbClr val="0084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901952"/>
            <a:ext cx="484632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LA VISIONE</a:t>
            </a:r>
          </a:p>
          <a:p>
            <a:pPr>
              <a:spcAft>
                <a:spcPts val="600"/>
              </a:spcAft>
              <a:defRPr sz="1500" b="1">
                <a:solidFill>
                  <a:srgbClr val="0F172A"/>
                </a:solidFill>
                <a:latin typeface="Liberation Sans"/>
              </a:defRPr>
            </a:pPr>
            <a:r>
              <a:t>Obiettivo del Progetto</a:t>
            </a:r>
          </a:p>
          <a:p>
            <a:pPr>
              <a:spcAft>
                <a:spcPts val="400"/>
              </a:spcAft>
            </a:pPr>
            <a:r>
              <a:rPr b="1" sz="1200">
                <a:solidFill>
                  <a:srgbClr val="0F172A"/>
                </a:solidFill>
                <a:latin typeface="Liberation Sans"/>
              </a:rPr>
              <a:t>• La Nostra Missione: </a:t>
            </a:r>
            <a:r>
              <a:rPr sz="1200">
                <a:solidFill>
                  <a:srgbClr val="334155"/>
                </a:solidFill>
                <a:latin typeface="Liberation Sans"/>
              </a:rPr>
              <a:t>Capire cosa sono gli open data, come la legge italiana ed europea ne impone il rilascio, e come costruire un portale open data locale con strumenti 100% liberi.</a:t>
            </a:r>
          </a:p>
          <a:p>
            <a:pPr>
              <a:spcAft>
                <a:spcPts val="400"/>
              </a:spcAft>
            </a:pPr>
            <a:r>
              <a:rPr b="1" sz="1200">
                <a:solidFill>
                  <a:srgbClr val="0F172A"/>
                </a:solidFill>
                <a:latin typeface="Liberation Sans"/>
              </a:rPr>
              <a:t>• Progetto Sperimentale: </a:t>
            </a:r>
            <a:r>
              <a:rPr sz="1200">
                <a:solidFill>
                  <a:srgbClr val="334155"/>
                </a:solidFill>
                <a:latin typeface="Liberation Sans"/>
              </a:rPr>
              <a:t>Un'infrastruttura civica indipendente, modulare e in costante evoluzione: non siamo la PA, ma abilitiamo la cittadinanza attiva.</a:t>
            </a:r>
          </a:p>
          <a:p>
            <a:pPr>
              <a:spcAft>
                <a:spcPts val="400"/>
              </a:spcAft>
            </a:pPr>
            <a:r>
              <a:rPr b="1" sz="1200">
                <a:solidFill>
                  <a:srgbClr val="0F172A"/>
                </a:solidFill>
                <a:latin typeface="Liberation Sans"/>
              </a:rPr>
              <a:t>• Invito alla Collaborazione: </a:t>
            </a:r>
            <a:r>
              <a:rPr sz="1200">
                <a:solidFill>
                  <a:srgbClr val="334155"/>
                </a:solidFill>
                <a:latin typeface="Liberation Sans"/>
              </a:rPr>
              <a:t>Il repository è pubblico: invitiamo programmatori, scuole, enti locali e cittadini a contribuire e replicare lo stack.</a:t>
            </a:r>
          </a:p>
        </p:txBody>
      </p:sp>
      <p:sp>
        <p:nvSpPr>
          <p:cNvPr id="8" name="TextBox 7"/>
          <p:cNvSpPr txBox="1"/>
          <p:nvPr/>
        </p:nvSpPr>
        <p:spPr>
          <a:xfrm>
            <a:off x="731520" y="6400800"/>
            <a:ext cx="10728655" cy="365760"/>
          </a:xfrm>
          <a:prstGeom prst="rect">
            <a:avLst/>
          </a:prstGeom>
          <a:noFill/>
        </p:spPr>
        <p:txBody>
          <a:bodyPr wrap="none" tIns="0" bIns="0" lIns="0" rIns="0">
            <a:spAutoFit/>
          </a:bodyPr>
          <a:lstStyle/>
          <a:p>
            <a:pPr>
              <a:defRPr sz="1000">
                <a:solidFill>
                  <a:srgbClr val="64748B"/>
                </a:solidFill>
                <a:latin typeface="Liberation Sans"/>
              </a:defRPr>
            </a:pPr>
            <a:r>
              <a:t>Open Data Imperia • Fablab Imperia APS — Linux Day 2026</a:t>
            </a:r>
          </a:p>
        </p:txBody>
      </p:sp>
      <p:sp>
        <p:nvSpPr>
          <p:cNvPr id="9" name="TextBox 8"/>
          <p:cNvSpPr txBox="1"/>
          <p:nvPr/>
        </p:nvSpPr>
        <p:spPr>
          <a:xfrm>
            <a:off x="9601200" y="6400800"/>
            <a:ext cx="1828800" cy="365760"/>
          </a:xfrm>
          <a:prstGeom prst="rect">
            <a:avLst/>
          </a:prstGeom>
          <a:noFill/>
        </p:spPr>
        <p:txBody>
          <a:bodyPr wrap="none" tIns="0" bIns="0" lIns="0" rIns="0">
            <a:spAutoFit/>
          </a:bodyPr>
          <a:lstStyle/>
          <a:p>
            <a:pPr algn="r">
              <a:defRPr sz="1000" b="1">
                <a:solidFill>
                  <a:srgbClr val="0D9488"/>
                </a:solidFill>
                <a:latin typeface="Liberation Sans"/>
              </a:defRPr>
            </a:pPr>
            <a:r>
              <a:t>2 /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tIns="0" bIns="0" lIns="0" rIns="0">
            <a:spAutoFit/>
          </a:bodyPr>
          <a:lstStyle/>
          <a:p>
            <a:pPr>
              <a:spcAft>
                <a:spcPts val="200"/>
              </a:spcAft>
              <a:defRPr sz="1100" b="1">
                <a:solidFill>
                  <a:srgbClr val="0D9488"/>
                </a:solidFill>
                <a:latin typeface="Liberation Sans"/>
              </a:defRPr>
            </a:pPr>
            <a:r>
              <a:t>SEZIONE 1 • CHE COSA SONO GLI OPEN DATA</a:t>
            </a:r>
          </a:p>
          <a:p>
            <a:pPr>
              <a:spcAft>
                <a:spcPts val="200"/>
              </a:spcAft>
              <a:defRPr sz="2400" b="1">
                <a:solidFill>
                  <a:srgbClr val="0F172A"/>
                </a:solidFill>
                <a:latin typeface="Liberation Sans"/>
              </a:defRPr>
            </a:pPr>
            <a:r>
              <a:t>Che cosa sono gli Open Data?</a:t>
            </a:r>
          </a:p>
          <a:p>
            <a:pPr>
              <a:defRPr sz="1200">
                <a:solidFill>
                  <a:srgbClr val="64748B"/>
                </a:solidFill>
                <a:latin typeface="Liberation Sans"/>
              </a:defRPr>
            </a:pPr>
            <a:r>
              <a:t>La definizione formale e i principi cardine della conoscenza aperta</a:t>
            </a:r>
          </a:p>
        </p:txBody>
      </p:sp>
      <p:sp>
        <p:nvSpPr>
          <p:cNvPr id="4" name="Rectangle 3"/>
          <p:cNvSpPr/>
          <p:nvPr/>
        </p:nvSpPr>
        <p:spPr>
          <a:xfrm>
            <a:off x="731520" y="1645920"/>
            <a:ext cx="10728655" cy="1280160"/>
          </a:xfrm>
          <a:prstGeom prst="rect">
            <a:avLst/>
          </a:prstGeom>
          <a:solidFill>
            <a:srgbClr val="F0F9FF"/>
          </a:solidFill>
          <a:ln w="19050">
            <a:solidFill>
              <a:srgbClr val="0084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737360"/>
            <a:ext cx="10149840" cy="1097280"/>
          </a:xfrm>
          <a:prstGeom prst="rect">
            <a:avLst/>
          </a:prstGeom>
          <a:noFill/>
        </p:spPr>
        <p:txBody>
          <a:bodyPr wrap="square">
            <a:spAutoFit/>
          </a:bodyPr>
          <a:lstStyle/>
          <a:p>
            <a:pPr>
              <a:spcAft>
                <a:spcPts val="200"/>
              </a:spcAft>
              <a:defRPr sz="1400" b="1" i="1">
                <a:solidFill>
                  <a:srgbClr val="0F172A"/>
                </a:solidFill>
                <a:latin typeface="Liberation Sans"/>
              </a:defRPr>
            </a:pPr>
            <a:r>
              <a:t>«Dati che possono essere liberamente usati, riutilizzati e ridistribuiti da chiunque, al più con il vincolo di citarne la fonte e condividerli allo stesso modo»</a:t>
            </a:r>
          </a:p>
          <a:p>
            <a:pPr>
              <a:defRPr sz="1200">
                <a:solidFill>
                  <a:srgbClr val="0D9488"/>
                </a:solidFill>
                <a:latin typeface="Liberation Sans"/>
              </a:defRPr>
            </a:pPr>
            <a:r>
              <a:t>— The Open Definition (opendefinition.org)</a:t>
            </a:r>
          </a:p>
        </p:txBody>
      </p:sp>
      <p:sp>
        <p:nvSpPr>
          <p:cNvPr id="6" name="Rectangle 5"/>
          <p:cNvSpPr/>
          <p:nvPr/>
        </p:nvSpPr>
        <p:spPr>
          <a:xfrm>
            <a:off x="731520" y="3108960"/>
            <a:ext cx="3429000" cy="31089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273552"/>
            <a:ext cx="3063240" cy="277977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PILASTRO 1</a:t>
            </a:r>
          </a:p>
          <a:p>
            <a:pPr>
              <a:spcAft>
                <a:spcPts val="600"/>
              </a:spcAft>
              <a:defRPr sz="1500" b="1">
                <a:solidFill>
                  <a:srgbClr val="0F172A"/>
                </a:solidFill>
                <a:latin typeface="Liberation Sans"/>
              </a:defRPr>
            </a:pPr>
            <a:r>
              <a:t>1. Accesso &amp; Disponibilità</a:t>
            </a:r>
          </a:p>
          <a:p>
            <a:pPr>
              <a:spcAft>
                <a:spcPts val="400"/>
              </a:spcAft>
            </a:pPr>
            <a:r>
              <a:rPr b="1" sz="1200">
                <a:solidFill>
                  <a:srgbClr val="0F172A"/>
                </a:solidFill>
                <a:latin typeface="Liberation Sans"/>
              </a:rPr>
              <a:t>• Nel loro insieme: </a:t>
            </a:r>
            <a:r>
              <a:rPr sz="1200">
                <a:solidFill>
                  <a:srgbClr val="334155"/>
                </a:solidFill>
                <a:latin typeface="Liberation Sans"/>
              </a:rPr>
              <a:t>I dati devono essere disponibili nella loro interezza, scaricabili via web senza costi o restrizioni tecniche.</a:t>
            </a:r>
          </a:p>
          <a:p>
            <a:pPr>
              <a:spcAft>
                <a:spcPts val="400"/>
              </a:spcAft>
            </a:pPr>
            <a:r>
              <a:rPr b="1" sz="1200">
                <a:solidFill>
                  <a:srgbClr val="0F172A"/>
                </a:solidFill>
                <a:latin typeface="Liberation Sans"/>
              </a:rPr>
              <a:t>• Formati Standard: </a:t>
            </a:r>
            <a:r>
              <a:rPr sz="1200">
                <a:solidFill>
                  <a:srgbClr val="334155"/>
                </a:solidFill>
                <a:latin typeface="Liberation Sans"/>
              </a:rPr>
              <a:t>Nessuna barriera o registrazione obbligatoria per effettuare il download.</a:t>
            </a:r>
          </a:p>
        </p:txBody>
      </p:sp>
      <p:sp>
        <p:nvSpPr>
          <p:cNvPr id="8" name="Rectangle 7"/>
          <p:cNvSpPr/>
          <p:nvPr/>
        </p:nvSpPr>
        <p:spPr>
          <a:xfrm>
            <a:off x="4389120" y="3108960"/>
            <a:ext cx="3429000" cy="31089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3273552"/>
            <a:ext cx="3063240" cy="277977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PILASTRO 2</a:t>
            </a:r>
          </a:p>
          <a:p>
            <a:pPr>
              <a:spcAft>
                <a:spcPts val="600"/>
              </a:spcAft>
              <a:defRPr sz="1500" b="1">
                <a:solidFill>
                  <a:srgbClr val="0F172A"/>
                </a:solidFill>
                <a:latin typeface="Liberation Sans"/>
              </a:defRPr>
            </a:pPr>
            <a:r>
              <a:t>2. Riuso &amp; Redistribuzione</a:t>
            </a:r>
          </a:p>
          <a:p>
            <a:pPr>
              <a:spcAft>
                <a:spcPts val="400"/>
              </a:spcAft>
            </a:pPr>
            <a:r>
              <a:rPr b="1" sz="1200">
                <a:solidFill>
                  <a:srgbClr val="0F172A"/>
                </a:solidFill>
                <a:latin typeface="Liberation Sans"/>
              </a:rPr>
              <a:t>• Libertà di Elaborazione: </a:t>
            </a:r>
            <a:r>
              <a:rPr sz="1200">
                <a:solidFill>
                  <a:srgbClr val="334155"/>
                </a:solidFill>
                <a:latin typeface="Liberation Sans"/>
              </a:rPr>
              <a:t>Il dato deve poter essere combinato, analizzato e rielaborato con altri dataset.</a:t>
            </a:r>
          </a:p>
          <a:p>
            <a:pPr>
              <a:spcAft>
                <a:spcPts val="400"/>
              </a:spcAft>
            </a:pPr>
            <a:r>
              <a:rPr b="1" sz="1200">
                <a:solidFill>
                  <a:srgbClr val="0F172A"/>
                </a:solidFill>
                <a:latin typeface="Liberation Sans"/>
              </a:rPr>
              <a:t>• Licenza Esplicita: </a:t>
            </a:r>
            <a:r>
              <a:rPr sz="1200">
                <a:solidFill>
                  <a:srgbClr val="334155"/>
                </a:solidFill>
                <a:latin typeface="Liberation Sans"/>
              </a:rPr>
              <a:t>I termini d'uso devono autorizzare in modo irrevocabile la ripubblicazione anche in prodotti commerciali.</a:t>
            </a:r>
          </a:p>
        </p:txBody>
      </p:sp>
      <p:sp>
        <p:nvSpPr>
          <p:cNvPr id="10" name="Rectangle 9"/>
          <p:cNvSpPr/>
          <p:nvPr/>
        </p:nvSpPr>
        <p:spPr>
          <a:xfrm>
            <a:off x="8046720" y="3108960"/>
            <a:ext cx="3429000" cy="31089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3273552"/>
            <a:ext cx="3063240" cy="277977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PILASTRO 3</a:t>
            </a:r>
          </a:p>
          <a:p>
            <a:pPr>
              <a:spcAft>
                <a:spcPts val="600"/>
              </a:spcAft>
              <a:defRPr sz="1500" b="1">
                <a:solidFill>
                  <a:srgbClr val="0F172A"/>
                </a:solidFill>
                <a:latin typeface="Liberation Sans"/>
              </a:defRPr>
            </a:pPr>
            <a:r>
              <a:t>3. Partecipazione Universale</a:t>
            </a:r>
          </a:p>
          <a:p>
            <a:pPr>
              <a:spcAft>
                <a:spcPts val="400"/>
              </a:spcAft>
            </a:pPr>
            <a:r>
              <a:rPr b="1" sz="1200">
                <a:solidFill>
                  <a:srgbClr val="0F172A"/>
                </a:solidFill>
                <a:latin typeface="Liberation Sans"/>
              </a:rPr>
              <a:t>• Nessuna Discriminazione: </a:t>
            </a:r>
            <a:r>
              <a:rPr sz="1200">
                <a:solidFill>
                  <a:srgbClr val="334155"/>
                </a:solidFill>
                <a:latin typeface="Liberation Sans"/>
              </a:rPr>
              <a:t>Chiunque ha diritto di usare i dati: cittadini, ricercatori, giornalisti, aziende e studenti.</a:t>
            </a:r>
          </a:p>
          <a:p>
            <a:pPr>
              <a:spcAft>
                <a:spcPts val="400"/>
              </a:spcAft>
            </a:pPr>
            <a:r>
              <a:rPr b="1" sz="1200">
                <a:solidFill>
                  <a:srgbClr val="0F172A"/>
                </a:solidFill>
                <a:latin typeface="Liberation Sans"/>
              </a:rPr>
              <a:t>• Nessun Limite di Scopo: </a:t>
            </a:r>
            <a:r>
              <a:rPr sz="1200">
                <a:solidFill>
                  <a:srgbClr val="334155"/>
                </a:solidFill>
                <a:latin typeface="Liberation Sans"/>
              </a:rPr>
              <a:t>Vietate restrizioni come 'solo per fini educativi' o clausole restrittive 'non commerciali'.</a:t>
            </a:r>
          </a:p>
        </p:txBody>
      </p:sp>
      <p:sp>
        <p:nvSpPr>
          <p:cNvPr id="12" name="TextBox 11"/>
          <p:cNvSpPr txBox="1"/>
          <p:nvPr/>
        </p:nvSpPr>
        <p:spPr>
          <a:xfrm>
            <a:off x="731520" y="6400800"/>
            <a:ext cx="10728655" cy="365760"/>
          </a:xfrm>
          <a:prstGeom prst="rect">
            <a:avLst/>
          </a:prstGeom>
          <a:noFill/>
        </p:spPr>
        <p:txBody>
          <a:bodyPr wrap="none" tIns="0" bIns="0" lIns="0" rIns="0">
            <a:spAutoFit/>
          </a:bodyPr>
          <a:lstStyle/>
          <a:p>
            <a:pPr>
              <a:defRPr sz="1000">
                <a:solidFill>
                  <a:srgbClr val="64748B"/>
                </a:solidFill>
                <a:latin typeface="Liberation Sans"/>
              </a:defRPr>
            </a:pPr>
            <a:r>
              <a:t>Open Data Imperia • Fablab Imperia APS — Linux Day 2026</a:t>
            </a:r>
          </a:p>
        </p:txBody>
      </p:sp>
      <p:sp>
        <p:nvSpPr>
          <p:cNvPr id="13" name="TextBox 12"/>
          <p:cNvSpPr txBox="1"/>
          <p:nvPr/>
        </p:nvSpPr>
        <p:spPr>
          <a:xfrm>
            <a:off x="9601200" y="6400800"/>
            <a:ext cx="1828800" cy="365760"/>
          </a:xfrm>
          <a:prstGeom prst="rect">
            <a:avLst/>
          </a:prstGeom>
          <a:noFill/>
        </p:spPr>
        <p:txBody>
          <a:bodyPr wrap="none" tIns="0" bIns="0" lIns="0" rIns="0">
            <a:spAutoFit/>
          </a:bodyPr>
          <a:lstStyle/>
          <a:p>
            <a:pPr algn="r">
              <a:defRPr sz="1000" b="1">
                <a:solidFill>
                  <a:srgbClr val="0D9488"/>
                </a:solidFill>
                <a:latin typeface="Liberation Sans"/>
              </a:defRPr>
            </a:pPr>
            <a: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tIns="0" bIns="0" lIns="0" rIns="0">
            <a:spAutoFit/>
          </a:bodyPr>
          <a:lstStyle/>
          <a:p>
            <a:pPr>
              <a:spcAft>
                <a:spcPts val="200"/>
              </a:spcAft>
              <a:defRPr sz="1100" b="1">
                <a:solidFill>
                  <a:srgbClr val="0D9488"/>
                </a:solidFill>
                <a:latin typeface="Liberation Sans"/>
              </a:defRPr>
            </a:pPr>
            <a:r>
              <a:t>SEZIONE 1 • CHE COSA SONO GLI OPEN DATA</a:t>
            </a:r>
          </a:p>
          <a:p>
            <a:pPr>
              <a:spcAft>
                <a:spcPts val="200"/>
              </a:spcAft>
              <a:defRPr sz="2400" b="1">
                <a:solidFill>
                  <a:srgbClr val="0F172A"/>
                </a:solidFill>
                <a:latin typeface="Liberation Sans"/>
              </a:defRPr>
            </a:pPr>
            <a:r>
              <a:t>Cosa NON è un Open Data: I Falsi Miti</a:t>
            </a:r>
          </a:p>
          <a:p>
            <a:pPr>
              <a:defRPr sz="1200">
                <a:solidFill>
                  <a:srgbClr val="64748B"/>
                </a:solidFill>
                <a:latin typeface="Liberation Sans"/>
              </a:defRPr>
            </a:pPr>
            <a:r>
              <a:t>Pratiche diffuse della Pubblica Amministrazione che non soddisfano i criteri di apertura</a:t>
            </a:r>
          </a:p>
        </p:txBody>
      </p:sp>
      <p:sp>
        <p:nvSpPr>
          <p:cNvPr id="4" name="Rectangle 3"/>
          <p:cNvSpPr/>
          <p:nvPr/>
        </p:nvSpPr>
        <p:spPr>
          <a:xfrm>
            <a:off x="731520" y="1737360"/>
            <a:ext cx="5120640" cy="2011680"/>
          </a:xfrm>
          <a:prstGeom prst="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01952"/>
            <a:ext cx="4754880" cy="168249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FALSO MITO #1</a:t>
            </a:r>
          </a:p>
          <a:p>
            <a:pPr>
              <a:spcAft>
                <a:spcPts val="600"/>
              </a:spcAft>
              <a:defRPr sz="1500" b="1">
                <a:solidFill>
                  <a:srgbClr val="0F172A"/>
                </a:solidFill>
                <a:latin typeface="Liberation Sans"/>
              </a:defRPr>
            </a:pPr>
            <a:r>
              <a:t>Scansioni PDF e Immagini</a:t>
            </a:r>
          </a:p>
          <a:p>
            <a:pPr>
              <a:spcAft>
                <a:spcPts val="400"/>
              </a:spcAft>
            </a:pPr>
            <a:r>
              <a:rPr b="1" sz="1200">
                <a:solidFill>
                  <a:srgbClr val="0F172A"/>
                </a:solidFill>
                <a:latin typeface="Liberation Sans"/>
              </a:rPr>
              <a:t>• Dati Intrappolati: </a:t>
            </a:r>
            <a:r>
              <a:rPr sz="1200">
                <a:solidFill>
                  <a:srgbClr val="334155"/>
                </a:solidFill>
                <a:latin typeface="Liberation Sans"/>
              </a:rPr>
              <a:t>Un foglio scansionato a 150 DPI in un PDF è una semplice immagine.</a:t>
            </a:r>
          </a:p>
          <a:p>
            <a:pPr>
              <a:spcAft>
                <a:spcPts val="400"/>
              </a:spcAft>
            </a:pPr>
            <a:r>
              <a:rPr b="1" sz="1200">
                <a:solidFill>
                  <a:srgbClr val="0F172A"/>
                </a:solidFill>
                <a:latin typeface="Liberation Sans"/>
              </a:rPr>
              <a:t>• Nessuna Elaborazione: </a:t>
            </a:r>
            <a:r>
              <a:rPr sz="1200">
                <a:solidFill>
                  <a:srgbClr val="334155"/>
                </a:solidFill>
                <a:latin typeface="Liberation Sans"/>
              </a:rPr>
              <a:t>Impossibile fare somme, grafici o interrogazioni automatiche senza faticosi processi manuali di OCR.</a:t>
            </a:r>
          </a:p>
        </p:txBody>
      </p:sp>
      <p:sp>
        <p:nvSpPr>
          <p:cNvPr id="6" name="Rectangle 5"/>
          <p:cNvSpPr/>
          <p:nvPr/>
        </p:nvSpPr>
        <p:spPr>
          <a:xfrm>
            <a:off x="6217920" y="1737360"/>
            <a:ext cx="5120640" cy="2011680"/>
          </a:xfrm>
          <a:prstGeom prst="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901952"/>
            <a:ext cx="4754880" cy="168249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FALSO MITO #2</a:t>
            </a:r>
          </a:p>
          <a:p>
            <a:pPr>
              <a:spcAft>
                <a:spcPts val="600"/>
              </a:spcAft>
              <a:defRPr sz="1500" b="1">
                <a:solidFill>
                  <a:srgbClr val="0F172A"/>
                </a:solidFill>
                <a:latin typeface="Liberation Sans"/>
              </a:defRPr>
            </a:pPr>
            <a:r>
              <a:t>Pagine Web senza Export</a:t>
            </a:r>
          </a:p>
          <a:p>
            <a:pPr>
              <a:spcAft>
                <a:spcPts val="400"/>
              </a:spcAft>
            </a:pPr>
            <a:r>
              <a:rPr b="1" sz="1200">
                <a:solidFill>
                  <a:srgbClr val="0F172A"/>
                </a:solidFill>
                <a:latin typeface="Liberation Sans"/>
              </a:rPr>
              <a:t>• Soli nel Browser: </a:t>
            </a:r>
            <a:r>
              <a:rPr sz="1200">
                <a:solidFill>
                  <a:srgbClr val="334155"/>
                </a:solidFill>
                <a:latin typeface="Liberation Sans"/>
              </a:rPr>
              <a:t>Tabelle HTML consultabili a video ma prive di link per scaricare il dataset grezzo.</a:t>
            </a:r>
          </a:p>
          <a:p>
            <a:pPr>
              <a:spcAft>
                <a:spcPts val="400"/>
              </a:spcAft>
            </a:pPr>
            <a:r>
              <a:rPr b="1" sz="1200">
                <a:solidFill>
                  <a:srgbClr val="0F172A"/>
                </a:solidFill>
                <a:latin typeface="Liberation Sans"/>
              </a:rPr>
              <a:t>• Mancanza di API: </a:t>
            </a:r>
            <a:r>
              <a:rPr sz="1200">
                <a:solidFill>
                  <a:srgbClr val="334155"/>
                </a:solidFill>
                <a:latin typeface="Liberation Sans"/>
              </a:rPr>
              <a:t>Gli sviluppatori sono costretti a fare scraping fragile che si rompe a ogni cambio di layout grafico.</a:t>
            </a:r>
          </a:p>
        </p:txBody>
      </p:sp>
      <p:sp>
        <p:nvSpPr>
          <p:cNvPr id="8" name="Rectangle 7"/>
          <p:cNvSpPr/>
          <p:nvPr/>
        </p:nvSpPr>
        <p:spPr>
          <a:xfrm>
            <a:off x="731520" y="4023360"/>
            <a:ext cx="5120640" cy="2011680"/>
          </a:xfrm>
          <a:prstGeom prst="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187952"/>
            <a:ext cx="4754880" cy="168249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FALSO MITO #3</a:t>
            </a:r>
          </a:p>
          <a:p>
            <a:pPr>
              <a:spcAft>
                <a:spcPts val="600"/>
              </a:spcAft>
              <a:defRPr sz="1500" b="1">
                <a:solidFill>
                  <a:srgbClr val="0F172A"/>
                </a:solidFill>
                <a:latin typeface="Liberation Sans"/>
              </a:defRPr>
            </a:pPr>
            <a:r>
              <a:t>Formati Proprietari Chiusi</a:t>
            </a:r>
          </a:p>
          <a:p>
            <a:pPr>
              <a:spcAft>
                <a:spcPts val="400"/>
              </a:spcAft>
            </a:pPr>
            <a:r>
              <a:rPr b="1" sz="1200">
                <a:solidFill>
                  <a:srgbClr val="0F172A"/>
                </a:solidFill>
                <a:latin typeface="Liberation Sans"/>
              </a:rPr>
              <a:t>• Lock-in Tecnologico: </a:t>
            </a:r>
            <a:r>
              <a:rPr sz="1200">
                <a:solidFill>
                  <a:srgbClr val="334155"/>
                </a:solidFill>
                <a:latin typeface="Liberation Sans"/>
              </a:rPr>
              <a:t>File binari che richiedono software a pagamento o brevettati per essere interpretati.</a:t>
            </a:r>
          </a:p>
          <a:p>
            <a:pPr>
              <a:spcAft>
                <a:spcPts val="400"/>
              </a:spcAft>
            </a:pPr>
            <a:r>
              <a:rPr b="1" sz="1200">
                <a:solidFill>
                  <a:srgbClr val="0F172A"/>
                </a:solidFill>
                <a:latin typeface="Liberation Sans"/>
              </a:rPr>
              <a:t>• Obsolescenza: </a:t>
            </a:r>
            <a:r>
              <a:rPr sz="1200">
                <a:solidFill>
                  <a:srgbClr val="334155"/>
                </a:solidFill>
                <a:latin typeface="Liberation Sans"/>
              </a:rPr>
              <a:t>Rischio concreto di non poter rileggere le informazioni nel lungo periodo senza costose licenze.</a:t>
            </a:r>
          </a:p>
        </p:txBody>
      </p:sp>
      <p:sp>
        <p:nvSpPr>
          <p:cNvPr id="10" name="Rectangle 9"/>
          <p:cNvSpPr/>
          <p:nvPr/>
        </p:nvSpPr>
        <p:spPr>
          <a:xfrm>
            <a:off x="6217920" y="4023360"/>
            <a:ext cx="5120640" cy="2011680"/>
          </a:xfrm>
          <a:prstGeom prst="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4187952"/>
            <a:ext cx="4754880" cy="168249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FALSO MITO #4</a:t>
            </a:r>
          </a:p>
          <a:p>
            <a:pPr>
              <a:spcAft>
                <a:spcPts val="600"/>
              </a:spcAft>
              <a:defRPr sz="1500" b="1">
                <a:solidFill>
                  <a:srgbClr val="0F172A"/>
                </a:solidFill>
                <a:latin typeface="Liberation Sans"/>
              </a:defRPr>
            </a:pPr>
            <a:r>
              <a:t>Licenze Vaghe o Assenti</a:t>
            </a:r>
          </a:p>
          <a:p>
            <a:pPr>
              <a:spcAft>
                <a:spcPts val="400"/>
              </a:spcAft>
            </a:pPr>
            <a:r>
              <a:rPr b="1" sz="1200">
                <a:solidFill>
                  <a:srgbClr val="0F172A"/>
                </a:solidFill>
                <a:latin typeface="Liberation Sans"/>
              </a:rPr>
              <a:t>• Copyright di Default: </a:t>
            </a:r>
            <a:r>
              <a:rPr sz="1200">
                <a:solidFill>
                  <a:srgbClr val="334155"/>
                </a:solidFill>
                <a:latin typeface="Liberation Sans"/>
              </a:rPr>
              <a:t>Senza licenza esplicita la legge protegge il diritto d'autore: ogni riutilizzo è teoricamente illecito!</a:t>
            </a:r>
          </a:p>
          <a:p>
            <a:pPr>
              <a:spcAft>
                <a:spcPts val="400"/>
              </a:spcAft>
            </a:pPr>
            <a:r>
              <a:rPr b="1" sz="1200">
                <a:solidFill>
                  <a:srgbClr val="0F172A"/>
                </a:solidFill>
                <a:latin typeface="Liberation Sans"/>
              </a:rPr>
              <a:t>• Clausole Restrittive: </a:t>
            </a:r>
            <a:r>
              <a:rPr sz="1200">
                <a:solidFill>
                  <a:srgbClr val="334155"/>
                </a:solidFill>
                <a:latin typeface="Liberation Sans"/>
              </a:rPr>
              <a:t>Divieti arbitrari ('solo studio personale') che distruggono il valore civico ed economico del dato.</a:t>
            </a:r>
          </a:p>
        </p:txBody>
      </p:sp>
      <p:sp>
        <p:nvSpPr>
          <p:cNvPr id="12" name="TextBox 11"/>
          <p:cNvSpPr txBox="1"/>
          <p:nvPr/>
        </p:nvSpPr>
        <p:spPr>
          <a:xfrm>
            <a:off x="731520" y="6400800"/>
            <a:ext cx="10728655" cy="365760"/>
          </a:xfrm>
          <a:prstGeom prst="rect">
            <a:avLst/>
          </a:prstGeom>
          <a:noFill/>
        </p:spPr>
        <p:txBody>
          <a:bodyPr wrap="none" tIns="0" bIns="0" lIns="0" rIns="0">
            <a:spAutoFit/>
          </a:bodyPr>
          <a:lstStyle/>
          <a:p>
            <a:pPr>
              <a:defRPr sz="1000">
                <a:solidFill>
                  <a:srgbClr val="64748B"/>
                </a:solidFill>
                <a:latin typeface="Liberation Sans"/>
              </a:defRPr>
            </a:pPr>
            <a:r>
              <a:t>Open Data Imperia • Fablab Imperia APS — Linux Day 2026</a:t>
            </a:r>
          </a:p>
        </p:txBody>
      </p:sp>
      <p:sp>
        <p:nvSpPr>
          <p:cNvPr id="13" name="TextBox 12"/>
          <p:cNvSpPr txBox="1"/>
          <p:nvPr/>
        </p:nvSpPr>
        <p:spPr>
          <a:xfrm>
            <a:off x="9601200" y="6400800"/>
            <a:ext cx="1828800" cy="365760"/>
          </a:xfrm>
          <a:prstGeom prst="rect">
            <a:avLst/>
          </a:prstGeom>
          <a:noFill/>
        </p:spPr>
        <p:txBody>
          <a:bodyPr wrap="none" tIns="0" bIns="0" lIns="0" rIns="0">
            <a:spAutoFit/>
          </a:bodyPr>
          <a:lstStyle/>
          <a:p>
            <a:pPr algn="r">
              <a:defRPr sz="1000" b="1">
                <a:solidFill>
                  <a:srgbClr val="0D9488"/>
                </a:solidFill>
                <a:latin typeface="Liberation Sans"/>
              </a:defRPr>
            </a:pPr>
            <a: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tIns="0" bIns="0" lIns="0" rIns="0">
            <a:spAutoFit/>
          </a:bodyPr>
          <a:lstStyle/>
          <a:p>
            <a:pPr>
              <a:spcAft>
                <a:spcPts val="200"/>
              </a:spcAft>
              <a:defRPr sz="1100" b="1">
                <a:solidFill>
                  <a:srgbClr val="0D9488"/>
                </a:solidFill>
                <a:latin typeface="Liberation Sans"/>
              </a:defRPr>
            </a:pPr>
            <a:r>
              <a:t>SEZIONE 1 • CHE COSA SONO GLI OPEN DATA</a:t>
            </a:r>
          </a:p>
          <a:p>
            <a:pPr>
              <a:spcAft>
                <a:spcPts val="200"/>
              </a:spcAft>
              <a:defRPr sz="2400" b="1">
                <a:solidFill>
                  <a:srgbClr val="0F172A"/>
                </a:solidFill>
                <a:latin typeface="Liberation Sans"/>
              </a:defRPr>
            </a:pPr>
            <a:r>
              <a:t>La Scala delle 5 Stelle (Tim Berners-Lee)</a:t>
            </a:r>
          </a:p>
          <a:p>
            <a:pPr>
              <a:defRPr sz="1200">
                <a:solidFill>
                  <a:srgbClr val="64748B"/>
                </a:solidFill>
                <a:latin typeface="Liberation Sans"/>
              </a:defRPr>
            </a:pPr>
            <a:r>
              <a:t>Il percorso progressivo di maturità e fruibilità dei dati sul Web</a:t>
            </a:r>
          </a:p>
        </p:txBody>
      </p:sp>
      <p:sp>
        <p:nvSpPr>
          <p:cNvPr id="4" name="Rectangle 3"/>
          <p:cNvSpPr/>
          <p:nvPr/>
        </p:nvSpPr>
        <p:spPr>
          <a:xfrm>
            <a:off x="731520" y="1645920"/>
            <a:ext cx="10728655" cy="7772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19072"/>
            <a:ext cx="10332720" cy="640080"/>
          </a:xfrm>
          <a:prstGeom prst="rect">
            <a:avLst/>
          </a:prstGeom>
          <a:noFill/>
        </p:spPr>
        <p:txBody>
          <a:bodyPr wrap="square" tIns="0" bIns="0" lIns="0" rIns="0">
            <a:spAutoFit/>
          </a:bodyPr>
          <a:lstStyle/>
          <a:p>
            <a:r>
              <a:rPr sz="1400" b="1">
                <a:solidFill>
                  <a:srgbClr val="E67E22"/>
                </a:solidFill>
                <a:latin typeface="Liberation Sans"/>
              </a:rPr>
              <a:t>★ </a:t>
            </a:r>
            <a:r>
              <a:rPr sz="1200" b="1">
                <a:solidFill>
                  <a:srgbClr val="0F172A"/>
                </a:solidFill>
                <a:latin typeface="Liberation Sans"/>
              </a:rPr>
              <a:t>1 Stella: Disponibile sul Web con licenza aperta — </a:t>
            </a:r>
            <a:r>
              <a:rPr sz="1100">
                <a:solidFill>
                  <a:srgbClr val="334155"/>
                </a:solidFill>
                <a:latin typeface="Liberation Sans"/>
              </a:rPr>
              <a:t>Dati pubblicati in qualsiasi formato, anche non strutturato (es. scansione, PDF, JPEG). Facile da pubblicare, difficile da riusare.</a:t>
            </a:r>
          </a:p>
        </p:txBody>
      </p:sp>
      <p:sp>
        <p:nvSpPr>
          <p:cNvPr id="6" name="Rectangle 5"/>
          <p:cNvSpPr/>
          <p:nvPr/>
        </p:nvSpPr>
        <p:spPr>
          <a:xfrm>
            <a:off x="731520" y="2487168"/>
            <a:ext cx="10728655" cy="7772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560320"/>
            <a:ext cx="10332720" cy="640080"/>
          </a:xfrm>
          <a:prstGeom prst="rect">
            <a:avLst/>
          </a:prstGeom>
          <a:noFill/>
        </p:spPr>
        <p:txBody>
          <a:bodyPr wrap="square" tIns="0" bIns="0" lIns="0" rIns="0">
            <a:spAutoFit/>
          </a:bodyPr>
          <a:lstStyle/>
          <a:p>
            <a:r>
              <a:rPr sz="1400" b="1">
                <a:solidFill>
                  <a:srgbClr val="E67E22"/>
                </a:solidFill>
                <a:latin typeface="Liberation Sans"/>
              </a:rPr>
              <a:t>★★ </a:t>
            </a:r>
            <a:r>
              <a:rPr sz="1200" b="1">
                <a:solidFill>
                  <a:srgbClr val="0F172A"/>
                </a:solidFill>
                <a:latin typeface="Liberation Sans"/>
              </a:rPr>
              <a:t>2 Stelle: Dati strutturati leggibili da macchina — </a:t>
            </a:r>
            <a:r>
              <a:rPr sz="1100">
                <a:solidFill>
                  <a:srgbClr val="334155"/>
                </a:solidFill>
                <a:latin typeface="Liberation Sans"/>
              </a:rPr>
              <a:t>Dati memorizzati in un formato interpretabile da software, ma proprietario (es. Microsoft Excel .xlsx). Richiede software compatibile.</a:t>
            </a:r>
          </a:p>
        </p:txBody>
      </p:sp>
      <p:sp>
        <p:nvSpPr>
          <p:cNvPr id="8" name="Rectangle 7"/>
          <p:cNvSpPr/>
          <p:nvPr/>
        </p:nvSpPr>
        <p:spPr>
          <a:xfrm>
            <a:off x="731520" y="3328416"/>
            <a:ext cx="10728655" cy="777240"/>
          </a:xfrm>
          <a:prstGeom prst="rect">
            <a:avLst/>
          </a:prstGeom>
          <a:solidFill>
            <a:srgbClr val="F0FDF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401568"/>
            <a:ext cx="10332720" cy="640080"/>
          </a:xfrm>
          <a:prstGeom prst="rect">
            <a:avLst/>
          </a:prstGeom>
          <a:noFill/>
        </p:spPr>
        <p:txBody>
          <a:bodyPr wrap="square" tIns="0" bIns="0" lIns="0" rIns="0">
            <a:spAutoFit/>
          </a:bodyPr>
          <a:lstStyle/>
          <a:p>
            <a:r>
              <a:rPr sz="1400" b="1">
                <a:solidFill>
                  <a:srgbClr val="E67E22"/>
                </a:solidFill>
                <a:latin typeface="Liberation Sans"/>
              </a:rPr>
              <a:t>★★★ </a:t>
            </a:r>
            <a:r>
              <a:rPr sz="1200" b="1">
                <a:solidFill>
                  <a:srgbClr val="0F172A"/>
                </a:solidFill>
                <a:latin typeface="Liberation Sans"/>
              </a:rPr>
              <a:t>3 Stelle: Formati aperti e non proprietari — </a:t>
            </a:r>
            <a:r>
              <a:rPr sz="1100">
                <a:solidFill>
                  <a:srgbClr val="334155"/>
                </a:solidFill>
                <a:latin typeface="Liberation Sans"/>
              </a:rPr>
              <a:t>Dati strutturati in standard aperti liberi da brevetti (CSV, JSON, XML, GeoJSON). Soglia minima richiesta dalle Linee Guida AgID!</a:t>
            </a:r>
          </a:p>
        </p:txBody>
      </p:sp>
      <p:sp>
        <p:nvSpPr>
          <p:cNvPr id="10" name="Rectangle 9"/>
          <p:cNvSpPr/>
          <p:nvPr/>
        </p:nvSpPr>
        <p:spPr>
          <a:xfrm>
            <a:off x="731520" y="4169664"/>
            <a:ext cx="10728655" cy="7772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242816"/>
            <a:ext cx="10332720" cy="640080"/>
          </a:xfrm>
          <a:prstGeom prst="rect">
            <a:avLst/>
          </a:prstGeom>
          <a:noFill/>
        </p:spPr>
        <p:txBody>
          <a:bodyPr wrap="square" tIns="0" bIns="0" lIns="0" rIns="0">
            <a:spAutoFit/>
          </a:bodyPr>
          <a:lstStyle/>
          <a:p>
            <a:r>
              <a:rPr sz="1400" b="1">
                <a:solidFill>
                  <a:srgbClr val="E67E22"/>
                </a:solidFill>
                <a:latin typeface="Liberation Sans"/>
              </a:rPr>
              <a:t>★★★★ </a:t>
            </a:r>
            <a:r>
              <a:rPr sz="1200" b="1">
                <a:solidFill>
                  <a:srgbClr val="0F172A"/>
                </a:solidFill>
                <a:latin typeface="Liberation Sans"/>
              </a:rPr>
              <a:t>4 Stelle: Identificatori URI Permanenti — </a:t>
            </a:r>
            <a:r>
              <a:rPr sz="1100">
                <a:solidFill>
                  <a:srgbClr val="334155"/>
                </a:solidFill>
                <a:latin typeface="Liberation Sans"/>
              </a:rPr>
              <a:t>Uso di URI standard W3C per identificare univocamente le risorse nel Web, rendendole referenziabili e indirizzabili da remoto.</a:t>
            </a:r>
          </a:p>
        </p:txBody>
      </p:sp>
      <p:sp>
        <p:nvSpPr>
          <p:cNvPr id="12" name="Rectangle 11"/>
          <p:cNvSpPr/>
          <p:nvPr/>
        </p:nvSpPr>
        <p:spPr>
          <a:xfrm>
            <a:off x="731520" y="5010912"/>
            <a:ext cx="10728655" cy="7772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084064"/>
            <a:ext cx="10332720" cy="640080"/>
          </a:xfrm>
          <a:prstGeom prst="rect">
            <a:avLst/>
          </a:prstGeom>
          <a:noFill/>
        </p:spPr>
        <p:txBody>
          <a:bodyPr wrap="square" tIns="0" bIns="0" lIns="0" rIns="0">
            <a:spAutoFit/>
          </a:bodyPr>
          <a:lstStyle/>
          <a:p>
            <a:r>
              <a:rPr sz="1400" b="1">
                <a:solidFill>
                  <a:srgbClr val="E67E22"/>
                </a:solidFill>
                <a:latin typeface="Liberation Sans"/>
              </a:rPr>
              <a:t>★★★★★ </a:t>
            </a:r>
            <a:r>
              <a:rPr sz="1200" b="1">
                <a:solidFill>
                  <a:srgbClr val="0F172A"/>
                </a:solidFill>
                <a:latin typeface="Liberation Sans"/>
              </a:rPr>
              <a:t>5 Stelle: Linked Open Data (LOD) — </a:t>
            </a:r>
            <a:r>
              <a:rPr sz="1100">
                <a:solidFill>
                  <a:srgbClr val="334155"/>
                </a:solidFill>
                <a:latin typeface="Liberation Sans"/>
              </a:rPr>
              <a:t>Dati collegati ad altri dataset aperti globali (ontologie, vocabolari controllati, Wikidata), creando una rete di conoscenza semantica.</a:t>
            </a:r>
          </a:p>
        </p:txBody>
      </p:sp>
      <p:sp>
        <p:nvSpPr>
          <p:cNvPr id="14" name="Rectangle 13"/>
          <p:cNvSpPr/>
          <p:nvPr/>
        </p:nvSpPr>
        <p:spPr>
          <a:xfrm>
            <a:off x="731520" y="5897880"/>
            <a:ext cx="10728655" cy="411480"/>
          </a:xfrm>
          <a:prstGeom prst="rect">
            <a:avLst/>
          </a:prstGeom>
          <a:solidFill>
            <a:srgbClr val="EEF2FF"/>
          </a:solidFill>
          <a:ln>
            <a:solidFill>
              <a:srgbClr val="0084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943600"/>
            <a:ext cx="10332720" cy="320040"/>
          </a:xfrm>
          <a:prstGeom prst="rect">
            <a:avLst/>
          </a:prstGeom>
          <a:noFill/>
        </p:spPr>
        <p:txBody>
          <a:bodyPr wrap="none">
            <a:spAutoFit/>
          </a:bodyPr>
          <a:lstStyle/>
          <a:p>
            <a:pPr>
              <a:defRPr sz="1100" b="1">
                <a:solidFill>
                  <a:srgbClr val="0084D1"/>
                </a:solidFill>
                <a:latin typeface="Liberation Sans"/>
              </a:defRPr>
            </a:pPr>
            <a:r>
              <a:t>📌 Requisito AgID: La Pubblica Amministrazione italiana DEVE rilasciare dati con almeno 3 stelle (CSV/JSON/GeoJSON) e puntare a 5 per i dati prioritari.</a:t>
            </a:r>
          </a:p>
        </p:txBody>
      </p:sp>
      <p:sp>
        <p:nvSpPr>
          <p:cNvPr id="16" name="TextBox 15"/>
          <p:cNvSpPr txBox="1"/>
          <p:nvPr/>
        </p:nvSpPr>
        <p:spPr>
          <a:xfrm>
            <a:off x="731520" y="6400800"/>
            <a:ext cx="10728655" cy="365760"/>
          </a:xfrm>
          <a:prstGeom prst="rect">
            <a:avLst/>
          </a:prstGeom>
          <a:noFill/>
        </p:spPr>
        <p:txBody>
          <a:bodyPr wrap="none" tIns="0" bIns="0" lIns="0" rIns="0">
            <a:spAutoFit/>
          </a:bodyPr>
          <a:lstStyle/>
          <a:p>
            <a:pPr>
              <a:defRPr sz="1000">
                <a:solidFill>
                  <a:srgbClr val="64748B"/>
                </a:solidFill>
                <a:latin typeface="Liberation Sans"/>
              </a:defRPr>
            </a:pPr>
            <a:r>
              <a:t>Open Data Imperia • Fablab Imperia APS — Linux Day 2026</a:t>
            </a:r>
          </a:p>
        </p:txBody>
      </p:sp>
      <p:sp>
        <p:nvSpPr>
          <p:cNvPr id="17" name="TextBox 16"/>
          <p:cNvSpPr txBox="1"/>
          <p:nvPr/>
        </p:nvSpPr>
        <p:spPr>
          <a:xfrm>
            <a:off x="9601200" y="6400800"/>
            <a:ext cx="1828800" cy="365760"/>
          </a:xfrm>
          <a:prstGeom prst="rect">
            <a:avLst/>
          </a:prstGeom>
          <a:noFill/>
        </p:spPr>
        <p:txBody>
          <a:bodyPr wrap="none" tIns="0" bIns="0" lIns="0" rIns="0">
            <a:spAutoFit/>
          </a:bodyPr>
          <a:lstStyle/>
          <a:p>
            <a:pPr algn="r">
              <a:defRPr sz="1000" b="1">
                <a:solidFill>
                  <a:srgbClr val="0D9488"/>
                </a:solidFill>
                <a:latin typeface="Liberation Sans"/>
              </a:defRPr>
            </a:pPr>
            <a: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tIns="0" bIns="0" lIns="0" rIns="0">
            <a:spAutoFit/>
          </a:bodyPr>
          <a:lstStyle/>
          <a:p>
            <a:pPr>
              <a:spcAft>
                <a:spcPts val="200"/>
              </a:spcAft>
              <a:defRPr sz="1100" b="1">
                <a:solidFill>
                  <a:srgbClr val="0D9488"/>
                </a:solidFill>
                <a:latin typeface="Liberation Sans"/>
              </a:defRPr>
            </a:pPr>
            <a:r>
              <a:t>SEZIONE 1 • CHE COSA SONO GLI OPEN DATA</a:t>
            </a:r>
          </a:p>
          <a:p>
            <a:pPr>
              <a:spcAft>
                <a:spcPts val="200"/>
              </a:spcAft>
              <a:defRPr sz="2400" b="1">
                <a:solidFill>
                  <a:srgbClr val="0F172A"/>
                </a:solidFill>
                <a:latin typeface="Liberation Sans"/>
              </a:defRPr>
            </a:pPr>
            <a:r>
              <a:t>Formati Aperti e Interoperabilità</a:t>
            </a:r>
          </a:p>
          <a:p>
            <a:pPr>
              <a:defRPr sz="1200">
                <a:solidFill>
                  <a:srgbClr val="64748B"/>
                </a:solidFill>
                <a:latin typeface="Liberation Sans"/>
              </a:defRPr>
            </a:pPr>
            <a:r>
              <a:t>Superare la frammentazione per abilitare l'automazione e nuovi servizi</a:t>
            </a:r>
          </a:p>
        </p:txBody>
      </p:sp>
      <p:sp>
        <p:nvSpPr>
          <p:cNvPr id="4" name="Rectangle 3"/>
          <p:cNvSpPr/>
          <p:nvPr/>
        </p:nvSpPr>
        <p:spPr>
          <a:xfrm>
            <a:off x="731520" y="1737360"/>
            <a:ext cx="512064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01952"/>
            <a:ext cx="475488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STANDARD CONSIGLIATI</a:t>
            </a:r>
          </a:p>
          <a:p>
            <a:pPr>
              <a:spcAft>
                <a:spcPts val="600"/>
              </a:spcAft>
              <a:defRPr sz="1500" b="1">
                <a:solidFill>
                  <a:srgbClr val="0F172A"/>
                </a:solidFill>
                <a:latin typeface="Liberation Sans"/>
              </a:defRPr>
            </a:pPr>
            <a:r>
              <a:t>I Formati Standard Raccomandati</a:t>
            </a:r>
          </a:p>
          <a:p>
            <a:pPr>
              <a:spcAft>
                <a:spcPts val="400"/>
              </a:spcAft>
            </a:pPr>
            <a:r>
              <a:rPr b="1" sz="1200">
                <a:solidFill>
                  <a:srgbClr val="0F172A"/>
                </a:solidFill>
                <a:latin typeface="Liberation Sans"/>
              </a:rPr>
              <a:t>• Dati Tabellari (CSV, TSV): </a:t>
            </a:r>
            <a:r>
              <a:rPr sz="1200">
                <a:solidFill>
                  <a:srgbClr val="334155"/>
                </a:solidFill>
                <a:latin typeface="Liberation Sans"/>
              </a:rPr>
              <a:t>Standard testuale universale, leggero e compatto. Requisito: codifica UTF-8, separatori standard e intestazioni chiare.</a:t>
            </a:r>
          </a:p>
          <a:p>
            <a:pPr>
              <a:spcAft>
                <a:spcPts val="400"/>
              </a:spcAft>
            </a:pPr>
            <a:r>
              <a:rPr b="1" sz="1200">
                <a:solidFill>
                  <a:srgbClr val="0F172A"/>
                </a:solidFill>
                <a:latin typeface="Liberation Sans"/>
              </a:rPr>
              <a:t>• Dati Strutturati (JSON, XML): </a:t>
            </a:r>
            <a:r>
              <a:rPr sz="1200">
                <a:solidFill>
                  <a:srgbClr val="334155"/>
                </a:solidFill>
                <a:latin typeface="Liberation Sans"/>
              </a:rPr>
              <a:t>Ideali per strutture gerarchiche e scambi applicativi; facili da validare tramite JSON Schema e XSD.</a:t>
            </a:r>
          </a:p>
          <a:p>
            <a:pPr>
              <a:spcAft>
                <a:spcPts val="400"/>
              </a:spcAft>
            </a:pPr>
            <a:r>
              <a:rPr b="1" sz="1200">
                <a:solidFill>
                  <a:srgbClr val="0F172A"/>
                </a:solidFill>
                <a:latin typeface="Liberation Sans"/>
              </a:rPr>
              <a:t>• Dati Geospaziali (GeoJSON, Shapefile): </a:t>
            </a:r>
            <a:r>
              <a:rPr sz="1200">
                <a:solidFill>
                  <a:srgbClr val="334155"/>
                </a:solidFill>
                <a:latin typeface="Liberation Sans"/>
              </a:rPr>
              <a:t>Standard aperti per cartografia, punti di interesse, tracciati sentieristici e perimetri amministrativi con coordinate WGS84.</a:t>
            </a:r>
          </a:p>
          <a:p>
            <a:pPr>
              <a:spcAft>
                <a:spcPts val="400"/>
              </a:spcAft>
            </a:pPr>
            <a:r>
              <a:rPr b="1" sz="1200">
                <a:solidFill>
                  <a:srgbClr val="0F172A"/>
                </a:solidFill>
                <a:latin typeface="Liberation Sans"/>
              </a:rPr>
              <a:t>• Dati Semantici (RDF, Turtle, JSON-LD): </a:t>
            </a:r>
            <a:r>
              <a:rPr sz="1200">
                <a:solidFill>
                  <a:srgbClr val="334155"/>
                </a:solidFill>
                <a:latin typeface="Liberation Sans"/>
              </a:rPr>
              <a:t>Rappresentazione a triplette per vocabolari controllati e conformità al profilo DCAT-AP_IT.</a:t>
            </a:r>
          </a:p>
        </p:txBody>
      </p:sp>
      <p:sp>
        <p:nvSpPr>
          <p:cNvPr id="6" name="Rectangle 5"/>
          <p:cNvSpPr/>
          <p:nvPr/>
        </p:nvSpPr>
        <p:spPr>
          <a:xfrm>
            <a:off x="6217920" y="1737360"/>
            <a:ext cx="5212080" cy="4389120"/>
          </a:xfrm>
          <a:prstGeom prst="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901952"/>
            <a:ext cx="484632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ECOSISTEMA API</a:t>
            </a:r>
          </a:p>
          <a:p>
            <a:pPr>
              <a:spcAft>
                <a:spcPts val="600"/>
              </a:spcAft>
              <a:defRPr sz="1500" b="1">
                <a:solidFill>
                  <a:srgbClr val="0F172A"/>
                </a:solidFill>
                <a:latin typeface="Liberation Sans"/>
              </a:defRPr>
            </a:pPr>
            <a:r>
              <a:t>Interoperabilità &amp; Dati Dinamici</a:t>
            </a:r>
          </a:p>
          <a:p>
            <a:pPr>
              <a:spcAft>
                <a:spcPts val="400"/>
              </a:spcAft>
            </a:pPr>
            <a:r>
              <a:rPr b="1" sz="1200">
                <a:solidFill>
                  <a:srgbClr val="0F172A"/>
                </a:solidFill>
                <a:latin typeface="Liberation Sans"/>
              </a:rPr>
              <a:t>• API RESTful Documentate: </a:t>
            </a:r>
            <a:r>
              <a:rPr sz="1200">
                <a:solidFill>
                  <a:srgbClr val="334155"/>
                </a:solidFill>
                <a:latin typeface="Liberation Sans"/>
              </a:rPr>
              <a:t>Indispensabili quando il dato cambia rapidamente (es. flussi orari meteo, posizioni bus, disponibilità parcheggi, allerte).</a:t>
            </a:r>
          </a:p>
          <a:p>
            <a:pPr>
              <a:spcAft>
                <a:spcPts val="400"/>
              </a:spcAft>
            </a:pPr>
            <a:r>
              <a:rPr b="1" sz="1200">
                <a:solidFill>
                  <a:srgbClr val="0F172A"/>
                </a:solidFill>
                <a:latin typeface="Liberation Sans"/>
              </a:rPr>
              <a:t>• La 'Torre di Babele': </a:t>
            </a:r>
            <a:r>
              <a:rPr sz="1200">
                <a:solidFill>
                  <a:srgbClr val="334155"/>
                </a:solidFill>
                <a:latin typeface="Liberation Sans"/>
              </a:rPr>
              <a:t>Senza standard comuni ogni ufficio inventa un proprio formato incompatibile, rendendo impossibile aggregare le informazioni.</a:t>
            </a:r>
          </a:p>
          <a:p>
            <a:pPr>
              <a:spcAft>
                <a:spcPts val="400"/>
              </a:spcAft>
            </a:pPr>
            <a:r>
              <a:rPr b="1" sz="1200">
                <a:solidFill>
                  <a:srgbClr val="0F172A"/>
                </a:solidFill>
                <a:latin typeface="Liberation Sans"/>
              </a:rPr>
              <a:t>• Componibilità: </a:t>
            </a:r>
            <a:r>
              <a:rPr sz="1200">
                <a:solidFill>
                  <a:srgbClr val="334155"/>
                </a:solidFill>
                <a:latin typeface="Liberation Sans"/>
              </a:rPr>
              <a:t>L'interoperabilità permette di incrociare banche dati diverse (es. incrociare orari treni + meteo + affluenza turistica) per creare nuove app.</a:t>
            </a:r>
          </a:p>
          <a:p>
            <a:pPr>
              <a:spcAft>
                <a:spcPts val="400"/>
              </a:spcAft>
            </a:pPr>
            <a:r>
              <a:rPr b="1" sz="1200">
                <a:solidFill>
                  <a:srgbClr val="0F172A"/>
                </a:solidFill>
                <a:latin typeface="Liberation Sans"/>
              </a:rPr>
              <a:t>• Zero Lock-in: </a:t>
            </a:r>
            <a:r>
              <a:rPr sz="1200">
                <a:solidFill>
                  <a:srgbClr val="334155"/>
                </a:solidFill>
                <a:latin typeface="Liberation Sans"/>
              </a:rPr>
              <a:t>Piena indipendenza tecnologica sia per l'ente pubblico che per la cittadinanza.</a:t>
            </a:r>
          </a:p>
        </p:txBody>
      </p:sp>
      <p:sp>
        <p:nvSpPr>
          <p:cNvPr id="8" name="TextBox 7"/>
          <p:cNvSpPr txBox="1"/>
          <p:nvPr/>
        </p:nvSpPr>
        <p:spPr>
          <a:xfrm>
            <a:off x="731520" y="6400800"/>
            <a:ext cx="10728655" cy="365760"/>
          </a:xfrm>
          <a:prstGeom prst="rect">
            <a:avLst/>
          </a:prstGeom>
          <a:noFill/>
        </p:spPr>
        <p:txBody>
          <a:bodyPr wrap="none" tIns="0" bIns="0" lIns="0" rIns="0">
            <a:spAutoFit/>
          </a:bodyPr>
          <a:lstStyle/>
          <a:p>
            <a:pPr>
              <a:defRPr sz="1000">
                <a:solidFill>
                  <a:srgbClr val="64748B"/>
                </a:solidFill>
                <a:latin typeface="Liberation Sans"/>
              </a:defRPr>
            </a:pPr>
            <a:r>
              <a:t>Open Data Imperia • Fablab Imperia APS — Linux Day 2026</a:t>
            </a:r>
          </a:p>
        </p:txBody>
      </p:sp>
      <p:sp>
        <p:nvSpPr>
          <p:cNvPr id="9" name="TextBox 8"/>
          <p:cNvSpPr txBox="1"/>
          <p:nvPr/>
        </p:nvSpPr>
        <p:spPr>
          <a:xfrm>
            <a:off x="9601200" y="6400800"/>
            <a:ext cx="1828800" cy="365760"/>
          </a:xfrm>
          <a:prstGeom prst="rect">
            <a:avLst/>
          </a:prstGeom>
          <a:noFill/>
        </p:spPr>
        <p:txBody>
          <a:bodyPr wrap="none" tIns="0" bIns="0" lIns="0" rIns="0">
            <a:spAutoFit/>
          </a:bodyPr>
          <a:lstStyle/>
          <a:p>
            <a:pPr algn="r">
              <a:defRPr sz="1000" b="1">
                <a:solidFill>
                  <a:srgbClr val="0D9488"/>
                </a:solidFill>
                <a:latin typeface="Liberation Sans"/>
              </a:defRPr>
            </a:pPr>
            <a: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tIns="0" bIns="0" lIns="0" rIns="0">
            <a:spAutoFit/>
          </a:bodyPr>
          <a:lstStyle/>
          <a:p>
            <a:pPr>
              <a:spcAft>
                <a:spcPts val="200"/>
              </a:spcAft>
              <a:defRPr sz="1100" b="1">
                <a:solidFill>
                  <a:srgbClr val="0D9488"/>
                </a:solidFill>
                <a:latin typeface="Liberation Sans"/>
              </a:defRPr>
            </a:pPr>
            <a:r>
              <a:t>SEZIONE 1 • CHE COSA SONO GLI OPEN DATA</a:t>
            </a:r>
          </a:p>
          <a:p>
            <a:pPr>
              <a:spcAft>
                <a:spcPts val="200"/>
              </a:spcAft>
              <a:defRPr sz="2400" b="1">
                <a:solidFill>
                  <a:srgbClr val="0F172A"/>
                </a:solidFill>
                <a:latin typeface="Liberation Sans"/>
              </a:defRPr>
            </a:pPr>
            <a:r>
              <a:t>Esempi d'uso Concreti: Il Valore sul Campo</a:t>
            </a:r>
          </a:p>
          <a:p>
            <a:pPr>
              <a:defRPr sz="1200">
                <a:solidFill>
                  <a:srgbClr val="64748B"/>
                </a:solidFill>
                <a:latin typeface="Liberation Sans"/>
              </a:defRPr>
            </a:pPr>
            <a:r>
              <a:t>Casi reali in cui i dati aperti migliorano la vita quotidiana e l'economia locale</a:t>
            </a:r>
          </a:p>
        </p:txBody>
      </p:sp>
      <p:sp>
        <p:nvSpPr>
          <p:cNvPr id="4" name="Rectangle 3"/>
          <p:cNvSpPr/>
          <p:nvPr/>
        </p:nvSpPr>
        <p:spPr>
          <a:xfrm>
            <a:off x="731520" y="1737360"/>
            <a:ext cx="3429000" cy="2057400"/>
          </a:xfrm>
          <a:prstGeom prst="rect">
            <a:avLst/>
          </a:prstGeom>
          <a:solidFill>
            <a:srgbClr val="FFFFFF"/>
          </a:solidFill>
          <a:ln w="19050">
            <a:solidFill>
              <a:srgbClr val="0084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01952"/>
            <a:ext cx="3063240" cy="172821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SETTORE 1</a:t>
            </a:r>
          </a:p>
          <a:p>
            <a:pPr>
              <a:spcAft>
                <a:spcPts val="600"/>
              </a:spcAft>
              <a:defRPr sz="1500" b="1">
                <a:solidFill>
                  <a:srgbClr val="0F172A"/>
                </a:solidFill>
                <a:latin typeface="Liberation Sans"/>
              </a:defRPr>
            </a:pPr>
            <a:r>
              <a:t>Mobilità &amp; Trasporti</a:t>
            </a:r>
          </a:p>
          <a:p>
            <a:pPr>
              <a:spcAft>
                <a:spcPts val="400"/>
              </a:spcAft>
            </a:pPr>
            <a:r>
              <a:rPr sz="1200">
                <a:solidFill>
                  <a:srgbClr val="334155"/>
                </a:solidFill>
                <a:latin typeface="Liberation Sans"/>
              </a:rPr>
              <a:t>• Orari e fermate bus in tempo reale, percorsi ciclabili, colonnine di ricarica elettrica, varchi ZTL e disponibilità parcheggi (stile Moovit o Transit).</a:t>
            </a:r>
          </a:p>
        </p:txBody>
      </p:sp>
      <p:sp>
        <p:nvSpPr>
          <p:cNvPr id="6" name="Rectangle 5"/>
          <p:cNvSpPr/>
          <p:nvPr/>
        </p:nvSpPr>
        <p:spPr>
          <a:xfrm>
            <a:off x="4389120" y="1737360"/>
            <a:ext cx="3429000" cy="2057400"/>
          </a:xfrm>
          <a:prstGeom prst="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901952"/>
            <a:ext cx="3063240" cy="172821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SETTORE 2</a:t>
            </a:r>
          </a:p>
          <a:p>
            <a:pPr>
              <a:spcAft>
                <a:spcPts val="600"/>
              </a:spcAft>
              <a:defRPr sz="1500" b="1">
                <a:solidFill>
                  <a:srgbClr val="0F172A"/>
                </a:solidFill>
                <a:latin typeface="Liberation Sans"/>
              </a:defRPr>
            </a:pPr>
            <a:r>
              <a:t>Ambiente &amp; Mare</a:t>
            </a:r>
          </a:p>
          <a:p>
            <a:pPr>
              <a:spcAft>
                <a:spcPts val="400"/>
              </a:spcAft>
            </a:pPr>
            <a:r>
              <a:rPr sz="1200">
                <a:solidFill>
                  <a:srgbClr val="334155"/>
                </a:solidFill>
                <a:latin typeface="Liberation Sans"/>
              </a:rPr>
              <a:t>• Monitoraggio qualità dell'aria, parametri di potabilità dell'acqua, balneabilità delle spiagge, rilevazioni meteo e allerte di protezione civile.</a:t>
            </a:r>
          </a:p>
        </p:txBody>
      </p:sp>
      <p:sp>
        <p:nvSpPr>
          <p:cNvPr id="8" name="Rectangle 7"/>
          <p:cNvSpPr/>
          <p:nvPr/>
        </p:nvSpPr>
        <p:spPr>
          <a:xfrm>
            <a:off x="8046720" y="1737360"/>
            <a:ext cx="3429000" cy="2057400"/>
          </a:xfrm>
          <a:prstGeom prst="rect">
            <a:avLst/>
          </a:prstGeom>
          <a:solidFill>
            <a:srgbClr val="FFFFFF"/>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901952"/>
            <a:ext cx="3063240" cy="172821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SETTORE 3</a:t>
            </a:r>
          </a:p>
          <a:p>
            <a:pPr>
              <a:spcAft>
                <a:spcPts val="600"/>
              </a:spcAft>
              <a:defRPr sz="1500" b="1">
                <a:solidFill>
                  <a:srgbClr val="0F172A"/>
                </a:solidFill>
                <a:latin typeface="Liberation Sans"/>
              </a:defRPr>
            </a:pPr>
            <a:r>
              <a:t>Trasparenza Civica</a:t>
            </a:r>
          </a:p>
          <a:p>
            <a:pPr>
              <a:spcAft>
                <a:spcPts val="400"/>
              </a:spcAft>
            </a:pPr>
            <a:r>
              <a:rPr sz="1200">
                <a:solidFill>
                  <a:srgbClr val="334155"/>
                </a:solidFill>
                <a:latin typeface="Liberation Sans"/>
              </a:rPr>
              <a:t>• Bilanci comunali, appalti e contratti pubblici, investimenti PNRR e consulenze per il controllo civico e la prevenzione della corruzione.</a:t>
            </a:r>
          </a:p>
        </p:txBody>
      </p:sp>
      <p:sp>
        <p:nvSpPr>
          <p:cNvPr id="10" name="Rectangle 9"/>
          <p:cNvSpPr/>
          <p:nvPr/>
        </p:nvSpPr>
        <p:spPr>
          <a:xfrm>
            <a:off x="731520" y="4069080"/>
            <a:ext cx="5212080" cy="2057400"/>
          </a:xfrm>
          <a:prstGeom prst="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233672"/>
            <a:ext cx="4846320" cy="172821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SETTORE 4</a:t>
            </a:r>
          </a:p>
          <a:p>
            <a:pPr>
              <a:spcAft>
                <a:spcPts val="600"/>
              </a:spcAft>
              <a:defRPr sz="1500" b="1">
                <a:solidFill>
                  <a:srgbClr val="0F172A"/>
                </a:solidFill>
                <a:latin typeface="Liberation Sans"/>
              </a:defRPr>
            </a:pPr>
            <a:r>
              <a:t>Turismo &amp; Cultura</a:t>
            </a:r>
          </a:p>
          <a:p>
            <a:pPr>
              <a:spcAft>
                <a:spcPts val="400"/>
              </a:spcAft>
            </a:pPr>
            <a:r>
              <a:rPr sz="1200">
                <a:solidFill>
                  <a:srgbClr val="334155"/>
                </a:solidFill>
                <a:latin typeface="Liberation Sans"/>
              </a:rPr>
              <a:t>• Mappa interattiva dei beni culturali, musei, monumenti, sentieri dell'entroterra, calendari eventi e strutture ricettive del territorio.</a:t>
            </a:r>
          </a:p>
        </p:txBody>
      </p:sp>
      <p:sp>
        <p:nvSpPr>
          <p:cNvPr id="12" name="Rectangle 11"/>
          <p:cNvSpPr/>
          <p:nvPr/>
        </p:nvSpPr>
        <p:spPr>
          <a:xfrm>
            <a:off x="6217920" y="4069080"/>
            <a:ext cx="5212080" cy="2057400"/>
          </a:xfrm>
          <a:prstGeom prst="rect">
            <a:avLst/>
          </a:prstGeom>
          <a:solidFill>
            <a:srgbClr val="FFFFFF"/>
          </a:solidFill>
          <a:ln w="19050">
            <a:solidFill>
              <a:srgbClr val="0084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4233672"/>
            <a:ext cx="4846320" cy="172821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SETTORE 5</a:t>
            </a:r>
          </a:p>
          <a:p>
            <a:pPr>
              <a:spcAft>
                <a:spcPts val="600"/>
              </a:spcAft>
              <a:defRPr sz="1500" b="1">
                <a:solidFill>
                  <a:srgbClr val="0F172A"/>
                </a:solidFill>
                <a:latin typeface="Liberation Sans"/>
              </a:defRPr>
            </a:pPr>
            <a:r>
              <a:t>Data Journalism &amp; Ricerca</a:t>
            </a:r>
          </a:p>
          <a:p>
            <a:pPr>
              <a:spcAft>
                <a:spcPts val="400"/>
              </a:spcAft>
            </a:pPr>
            <a:r>
              <a:rPr sz="1200">
                <a:solidFill>
                  <a:srgbClr val="334155"/>
                </a:solidFill>
                <a:latin typeface="Liberation Sans"/>
              </a:rPr>
              <a:t>• Analisi demografiche, studi urbanistici basati sulle evidenze, reportistica civica e inchieste giornalistiche indipendenti.</a:t>
            </a:r>
          </a:p>
        </p:txBody>
      </p:sp>
      <p:sp>
        <p:nvSpPr>
          <p:cNvPr id="14" name="TextBox 13"/>
          <p:cNvSpPr txBox="1"/>
          <p:nvPr/>
        </p:nvSpPr>
        <p:spPr>
          <a:xfrm>
            <a:off x="731520" y="6400800"/>
            <a:ext cx="10728655" cy="365760"/>
          </a:xfrm>
          <a:prstGeom prst="rect">
            <a:avLst/>
          </a:prstGeom>
          <a:noFill/>
        </p:spPr>
        <p:txBody>
          <a:bodyPr wrap="none" tIns="0" bIns="0" lIns="0" rIns="0">
            <a:spAutoFit/>
          </a:bodyPr>
          <a:lstStyle/>
          <a:p>
            <a:pPr>
              <a:defRPr sz="1000">
                <a:solidFill>
                  <a:srgbClr val="64748B"/>
                </a:solidFill>
                <a:latin typeface="Liberation Sans"/>
              </a:defRPr>
            </a:pPr>
            <a:r>
              <a:t>Open Data Imperia • Fablab Imperia APS — Linux Day 2026</a:t>
            </a:r>
          </a:p>
        </p:txBody>
      </p:sp>
      <p:sp>
        <p:nvSpPr>
          <p:cNvPr id="15" name="TextBox 14"/>
          <p:cNvSpPr txBox="1"/>
          <p:nvPr/>
        </p:nvSpPr>
        <p:spPr>
          <a:xfrm>
            <a:off x="9601200" y="6400800"/>
            <a:ext cx="1828800" cy="365760"/>
          </a:xfrm>
          <a:prstGeom prst="rect">
            <a:avLst/>
          </a:prstGeom>
          <a:noFill/>
        </p:spPr>
        <p:txBody>
          <a:bodyPr wrap="none" tIns="0" bIns="0" lIns="0" rIns="0">
            <a:spAutoFit/>
          </a:bodyPr>
          <a:lstStyle/>
          <a:p>
            <a:pPr algn="r">
              <a:defRPr sz="1000" b="1">
                <a:solidFill>
                  <a:srgbClr val="0D9488"/>
                </a:solidFill>
                <a:latin typeface="Liberation Sans"/>
              </a:defRPr>
            </a:pPr>
            <a: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tIns="0" bIns="0" lIns="0" rIns="0">
            <a:spAutoFit/>
          </a:bodyPr>
          <a:lstStyle/>
          <a:p>
            <a:pPr>
              <a:spcAft>
                <a:spcPts val="200"/>
              </a:spcAft>
              <a:defRPr sz="1100" b="1">
                <a:solidFill>
                  <a:srgbClr val="0D9488"/>
                </a:solidFill>
                <a:latin typeface="Liberation Sans"/>
              </a:defRPr>
            </a:pPr>
            <a:r>
              <a:t>SEZIONE 1 • CHE COSA SONO GLI OPEN DATA</a:t>
            </a:r>
          </a:p>
          <a:p>
            <a:pPr>
              <a:spcAft>
                <a:spcPts val="200"/>
              </a:spcAft>
              <a:defRPr sz="2400" b="1">
                <a:solidFill>
                  <a:srgbClr val="0F172A"/>
                </a:solidFill>
                <a:latin typeface="Liberation Sans"/>
              </a:defRPr>
            </a:pPr>
            <a:r>
              <a:t>Chi ci guadagna? Un Ecosistema a Somma Positiva</a:t>
            </a:r>
          </a:p>
          <a:p>
            <a:pPr>
              <a:defRPr sz="1200">
                <a:solidFill>
                  <a:srgbClr val="64748B"/>
                </a:solidFill>
                <a:latin typeface="Liberation Sans"/>
              </a:defRPr>
            </a:pPr>
            <a:r>
              <a:t>L'apertura dei dati produce benefici tangibili per tutti i membri della comunità</a:t>
            </a:r>
          </a:p>
        </p:txBody>
      </p:sp>
      <p:sp>
        <p:nvSpPr>
          <p:cNvPr id="4" name="Rectangle 3"/>
          <p:cNvSpPr/>
          <p:nvPr/>
        </p:nvSpPr>
        <p:spPr>
          <a:xfrm>
            <a:off x="731520" y="1737360"/>
            <a:ext cx="5120640" cy="2057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01952"/>
            <a:ext cx="4754880" cy="172821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COMUNITÀ</a:t>
            </a:r>
          </a:p>
          <a:p>
            <a:pPr>
              <a:spcAft>
                <a:spcPts val="600"/>
              </a:spcAft>
              <a:defRPr sz="1500" b="1">
                <a:solidFill>
                  <a:srgbClr val="0F172A"/>
                </a:solidFill>
                <a:latin typeface="Liberation Sans"/>
              </a:defRPr>
            </a:pPr>
            <a:r>
              <a:t>I Cittadini</a:t>
            </a:r>
          </a:p>
          <a:p>
            <a:pPr>
              <a:spcAft>
                <a:spcPts val="400"/>
              </a:spcAft>
            </a:pPr>
            <a:r>
              <a:rPr b="1" sz="1200">
                <a:solidFill>
                  <a:srgbClr val="0F172A"/>
                </a:solidFill>
                <a:latin typeface="Liberation Sans"/>
              </a:rPr>
              <a:t>• Trasparenza Effettiva: </a:t>
            </a:r>
            <a:r>
              <a:rPr sz="1200">
                <a:solidFill>
                  <a:srgbClr val="334155"/>
                </a:solidFill>
                <a:latin typeface="Liberation Sans"/>
              </a:rPr>
              <a:t>Accesso diretto a come vengono spese le imposte e gestiti i servizi pubblici.</a:t>
            </a:r>
          </a:p>
          <a:p>
            <a:pPr>
              <a:spcAft>
                <a:spcPts val="400"/>
              </a:spcAft>
            </a:pPr>
            <a:r>
              <a:rPr b="1" sz="1200">
                <a:solidFill>
                  <a:srgbClr val="0F172A"/>
                </a:solidFill>
                <a:latin typeface="Liberation Sans"/>
              </a:rPr>
              <a:t>• Partecipazione Civica: </a:t>
            </a:r>
            <a:r>
              <a:rPr sz="1200">
                <a:solidFill>
                  <a:srgbClr val="334155"/>
                </a:solidFill>
                <a:latin typeface="Liberation Sans"/>
              </a:rPr>
              <a:t>Possibilità di monitorare l'operato amministrativo con dati oggettivi e non con slogan.</a:t>
            </a:r>
          </a:p>
        </p:txBody>
      </p:sp>
      <p:sp>
        <p:nvSpPr>
          <p:cNvPr id="6" name="Rectangle 5"/>
          <p:cNvSpPr/>
          <p:nvPr/>
        </p:nvSpPr>
        <p:spPr>
          <a:xfrm>
            <a:off x="6217920" y="1737360"/>
            <a:ext cx="5120640" cy="2057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901952"/>
            <a:ext cx="4754880" cy="172821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ECONOMIA</a:t>
            </a:r>
          </a:p>
          <a:p>
            <a:pPr>
              <a:spcAft>
                <a:spcPts val="600"/>
              </a:spcAft>
              <a:defRPr sz="1500" b="1">
                <a:solidFill>
                  <a:srgbClr val="0F172A"/>
                </a:solidFill>
                <a:latin typeface="Liberation Sans"/>
              </a:defRPr>
            </a:pPr>
            <a:r>
              <a:t>Imprese e Startup</a:t>
            </a:r>
          </a:p>
          <a:p>
            <a:pPr>
              <a:spcAft>
                <a:spcPts val="400"/>
              </a:spcAft>
            </a:pPr>
            <a:r>
              <a:rPr b="1" sz="1200">
                <a:solidFill>
                  <a:srgbClr val="0F172A"/>
                </a:solidFill>
                <a:latin typeface="Liberation Sans"/>
              </a:rPr>
              <a:t>• Materia Prima Gratuita: </a:t>
            </a:r>
            <a:r>
              <a:rPr sz="1200">
                <a:solidFill>
                  <a:srgbClr val="334155"/>
                </a:solidFill>
                <a:latin typeface="Liberation Sans"/>
              </a:rPr>
              <a:t>Possibilità di costruire app innovative, mappe turistiche e modelli previsionali.</a:t>
            </a:r>
          </a:p>
          <a:p>
            <a:pPr>
              <a:spcAft>
                <a:spcPts val="400"/>
              </a:spcAft>
            </a:pPr>
            <a:r>
              <a:rPr b="1" sz="1200">
                <a:solidFill>
                  <a:srgbClr val="0F172A"/>
                </a:solidFill>
                <a:latin typeface="Liberation Sans"/>
              </a:rPr>
              <a:t>• Riduzione dei Costi: </a:t>
            </a:r>
            <a:r>
              <a:rPr sz="1200">
                <a:solidFill>
                  <a:srgbClr val="334155"/>
                </a:solidFill>
                <a:latin typeface="Liberation Sans"/>
              </a:rPr>
              <a:t>Minori spese di scouting e acquisizione dati, stimolando la nascita di imprese locali ad alto valore.</a:t>
            </a:r>
          </a:p>
        </p:txBody>
      </p:sp>
      <p:sp>
        <p:nvSpPr>
          <p:cNvPr id="8" name="Rectangle 7"/>
          <p:cNvSpPr/>
          <p:nvPr/>
        </p:nvSpPr>
        <p:spPr>
          <a:xfrm>
            <a:off x="731520" y="4069080"/>
            <a:ext cx="5120640" cy="2057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233672"/>
            <a:ext cx="4754880" cy="172821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ISTITUZIONI</a:t>
            </a:r>
          </a:p>
          <a:p>
            <a:pPr>
              <a:spcAft>
                <a:spcPts val="600"/>
              </a:spcAft>
              <a:defRPr sz="1500" b="1">
                <a:solidFill>
                  <a:srgbClr val="0F172A"/>
                </a:solidFill>
                <a:latin typeface="Liberation Sans"/>
              </a:defRPr>
            </a:pPr>
            <a:r>
              <a:t>La Pubblica Amministrazione</a:t>
            </a:r>
          </a:p>
          <a:p>
            <a:pPr>
              <a:spcAft>
                <a:spcPts val="400"/>
              </a:spcAft>
            </a:pPr>
            <a:r>
              <a:rPr b="1" sz="1200">
                <a:solidFill>
                  <a:srgbClr val="0F172A"/>
                </a:solidFill>
                <a:latin typeface="Liberation Sans"/>
              </a:rPr>
              <a:t>• Efficienza Interna: </a:t>
            </a:r>
            <a:r>
              <a:rPr sz="1200">
                <a:solidFill>
                  <a:srgbClr val="334155"/>
                </a:solidFill>
                <a:latin typeface="Liberation Sans"/>
              </a:rPr>
              <a:t>I vari uffici comunali possono accedere agli stessi dati senza passaggi burocratici via email.</a:t>
            </a:r>
          </a:p>
          <a:p>
            <a:pPr>
              <a:spcAft>
                <a:spcPts val="400"/>
              </a:spcAft>
            </a:pPr>
            <a:r>
              <a:rPr b="1" sz="1200">
                <a:solidFill>
                  <a:srgbClr val="0F172A"/>
                </a:solidFill>
                <a:latin typeface="Liberation Sans"/>
              </a:rPr>
              <a:t>• Meno Richieste FOIA: </a:t>
            </a:r>
            <a:r>
              <a:rPr sz="1200">
                <a:solidFill>
                  <a:srgbClr val="334155"/>
                </a:solidFill>
                <a:latin typeface="Liberation Sans"/>
              </a:rPr>
              <a:t>Se i dati sono già online e aggiornati, il personale risparmia ore di lavoro formale.</a:t>
            </a:r>
          </a:p>
        </p:txBody>
      </p:sp>
      <p:sp>
        <p:nvSpPr>
          <p:cNvPr id="10" name="Rectangle 9"/>
          <p:cNvSpPr/>
          <p:nvPr/>
        </p:nvSpPr>
        <p:spPr>
          <a:xfrm>
            <a:off x="6217920" y="4069080"/>
            <a:ext cx="5120640" cy="2057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4233672"/>
            <a:ext cx="4754880" cy="172821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SVILUPPO LOCALE</a:t>
            </a:r>
          </a:p>
          <a:p>
            <a:pPr>
              <a:spcAft>
                <a:spcPts val="600"/>
              </a:spcAft>
              <a:defRPr sz="1500" b="1">
                <a:solidFill>
                  <a:srgbClr val="0F172A"/>
                </a:solidFill>
                <a:latin typeface="Liberation Sans"/>
              </a:defRPr>
            </a:pPr>
            <a:r>
              <a:t>Il Territorio e la Ricerca</a:t>
            </a:r>
          </a:p>
          <a:p>
            <a:pPr>
              <a:spcAft>
                <a:spcPts val="400"/>
              </a:spcAft>
            </a:pPr>
            <a:r>
              <a:rPr b="1" sz="1200">
                <a:solidFill>
                  <a:srgbClr val="0F172A"/>
                </a:solidFill>
                <a:latin typeface="Liberation Sans"/>
              </a:rPr>
              <a:t>• Pianificazione Territoriale: </a:t>
            </a:r>
            <a:r>
              <a:rPr sz="1200">
                <a:solidFill>
                  <a:srgbClr val="334155"/>
                </a:solidFill>
                <a:latin typeface="Liberation Sans"/>
              </a:rPr>
              <a:t>Urbanisti, geologi e ricercatori universitari possono studiare i fenomeni su serie storiche solide.</a:t>
            </a:r>
          </a:p>
          <a:p>
            <a:pPr>
              <a:spcAft>
                <a:spcPts val="400"/>
              </a:spcAft>
            </a:pPr>
            <a:r>
              <a:rPr b="1" sz="1200">
                <a:solidFill>
                  <a:srgbClr val="0F172A"/>
                </a:solidFill>
                <a:latin typeface="Liberation Sans"/>
              </a:rPr>
              <a:t>• Racconto del Territorio: </a:t>
            </a:r>
            <a:r>
              <a:rPr sz="1200">
                <a:solidFill>
                  <a:srgbClr val="334155"/>
                </a:solidFill>
                <a:latin typeface="Liberation Sans"/>
              </a:rPr>
              <a:t>Valorizzazione delle eccellenze agroalimentari, paesaggistiche e storiche.</a:t>
            </a:r>
          </a:p>
        </p:txBody>
      </p:sp>
      <p:sp>
        <p:nvSpPr>
          <p:cNvPr id="12" name="TextBox 11"/>
          <p:cNvSpPr txBox="1"/>
          <p:nvPr/>
        </p:nvSpPr>
        <p:spPr>
          <a:xfrm>
            <a:off x="731520" y="6400800"/>
            <a:ext cx="10728655" cy="365760"/>
          </a:xfrm>
          <a:prstGeom prst="rect">
            <a:avLst/>
          </a:prstGeom>
          <a:noFill/>
        </p:spPr>
        <p:txBody>
          <a:bodyPr wrap="none" tIns="0" bIns="0" lIns="0" rIns="0">
            <a:spAutoFit/>
          </a:bodyPr>
          <a:lstStyle/>
          <a:p>
            <a:pPr>
              <a:defRPr sz="1000">
                <a:solidFill>
                  <a:srgbClr val="64748B"/>
                </a:solidFill>
                <a:latin typeface="Liberation Sans"/>
              </a:defRPr>
            </a:pPr>
            <a:r>
              <a:t>Open Data Imperia • Fablab Imperia APS — Linux Day 2026</a:t>
            </a:r>
          </a:p>
        </p:txBody>
      </p:sp>
      <p:sp>
        <p:nvSpPr>
          <p:cNvPr id="13" name="TextBox 12"/>
          <p:cNvSpPr txBox="1"/>
          <p:nvPr/>
        </p:nvSpPr>
        <p:spPr>
          <a:xfrm>
            <a:off x="9601200" y="6400800"/>
            <a:ext cx="1828800" cy="365760"/>
          </a:xfrm>
          <a:prstGeom prst="rect">
            <a:avLst/>
          </a:prstGeom>
          <a:noFill/>
        </p:spPr>
        <p:txBody>
          <a:bodyPr wrap="none" tIns="0" bIns="0" lIns="0" rIns="0">
            <a:spAutoFit/>
          </a:bodyPr>
          <a:lstStyle/>
          <a:p>
            <a:pPr algn="r">
              <a:defRPr sz="1000" b="1">
                <a:solidFill>
                  <a:srgbClr val="0D9488"/>
                </a:solidFill>
                <a:latin typeface="Liberation Sans"/>
              </a:defRPr>
            </a:pPr>
            <a: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tIns="0" bIns="0" lIns="0" rIns="0">
            <a:spAutoFit/>
          </a:bodyPr>
          <a:lstStyle/>
          <a:p>
            <a:pPr>
              <a:spcAft>
                <a:spcPts val="200"/>
              </a:spcAft>
              <a:defRPr sz="1100" b="1">
                <a:solidFill>
                  <a:srgbClr val="0D9488"/>
                </a:solidFill>
                <a:latin typeface="Liberation Sans"/>
              </a:defRPr>
            </a:pPr>
            <a:r>
              <a:t>SEZIONE 1 • CHE COSA SONO GLI OPEN DATA</a:t>
            </a:r>
          </a:p>
          <a:p>
            <a:pPr>
              <a:spcAft>
                <a:spcPts val="200"/>
              </a:spcAft>
              <a:defRPr sz="2400" b="1">
                <a:solidFill>
                  <a:srgbClr val="0F172A"/>
                </a:solidFill>
                <a:latin typeface="Liberation Sans"/>
              </a:defRPr>
            </a:pPr>
            <a:r>
              <a:t>Il Contesto Locale: Liguria e Provincia di Imperia</a:t>
            </a:r>
          </a:p>
          <a:p>
            <a:pPr>
              <a:defRPr sz="1200">
                <a:solidFill>
                  <a:srgbClr val="64748B"/>
                </a:solidFill>
                <a:latin typeface="Liberation Sans"/>
              </a:defRPr>
            </a:pPr>
            <a:r>
              <a:t>La situazione odierna e l'opportunità di federare le informazioni del Ponente</a:t>
            </a:r>
          </a:p>
        </p:txBody>
      </p:sp>
      <p:sp>
        <p:nvSpPr>
          <p:cNvPr id="4" name="Rectangle 3"/>
          <p:cNvSpPr/>
          <p:nvPr/>
        </p:nvSpPr>
        <p:spPr>
          <a:xfrm>
            <a:off x="731520" y="1737360"/>
            <a:ext cx="512064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01952"/>
            <a:ext cx="475488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IL PANORAMA OGGI</a:t>
            </a:r>
          </a:p>
          <a:p>
            <a:pPr>
              <a:spcAft>
                <a:spcPts val="600"/>
              </a:spcAft>
              <a:defRPr sz="1500" b="1">
                <a:solidFill>
                  <a:srgbClr val="0F172A"/>
                </a:solidFill>
                <a:latin typeface="Liberation Sans"/>
              </a:defRPr>
            </a:pPr>
            <a:r>
              <a:t>La Situazione Attuale</a:t>
            </a:r>
          </a:p>
          <a:p>
            <a:pPr>
              <a:spcAft>
                <a:spcPts val="400"/>
              </a:spcAft>
            </a:pPr>
            <a:r>
              <a:rPr b="1" sz="1200">
                <a:solidFill>
                  <a:srgbClr val="0F172A"/>
                </a:solidFill>
                <a:latin typeface="Liberation Sans"/>
              </a:rPr>
              <a:t>• Il Portale Regionale: </a:t>
            </a:r>
            <a:r>
              <a:rPr sz="1200">
                <a:solidFill>
                  <a:srgbClr val="334155"/>
                </a:solidFill>
                <a:latin typeface="Liberation Sans"/>
              </a:rPr>
              <a:t>Regione Liguria dispone di un catalogo regionale basato su CKAN (dati.regione.liguria.it), ricco di geodati e tematiche regionali.</a:t>
            </a:r>
          </a:p>
          <a:p>
            <a:pPr>
              <a:spcAft>
                <a:spcPts val="400"/>
              </a:spcAft>
            </a:pPr>
            <a:r>
              <a:rPr b="1" sz="1200">
                <a:solidFill>
                  <a:srgbClr val="0F172A"/>
                </a:solidFill>
                <a:latin typeface="Liberation Sans"/>
              </a:rPr>
              <a:t>• Frammentazione Locale: </a:t>
            </a:r>
            <a:r>
              <a:rPr sz="1200">
                <a:solidFill>
                  <a:srgbClr val="334155"/>
                </a:solidFill>
                <a:latin typeface="Liberation Sans"/>
              </a:rPr>
              <a:t>I dati specifici della provincia di Imperia e dei comuni sono sparsi su decine di portali istituzionali, siti di consorzi o tabelle PDF.</a:t>
            </a:r>
          </a:p>
          <a:p>
            <a:pPr>
              <a:spcAft>
                <a:spcPts val="400"/>
              </a:spcAft>
            </a:pPr>
            <a:r>
              <a:rPr b="1" sz="1200">
                <a:solidFill>
                  <a:srgbClr val="0F172A"/>
                </a:solidFill>
                <a:latin typeface="Liberation Sans"/>
              </a:rPr>
              <a:t>• Basso Riutilizzo: </a:t>
            </a:r>
            <a:r>
              <a:rPr sz="1200">
                <a:solidFill>
                  <a:srgbClr val="334155"/>
                </a:solidFill>
                <a:latin typeface="Liberation Sans"/>
              </a:rPr>
              <a:t>Mancando un punto di riferimento provinciale chiaro, cittadini e studenti faticano a trovare i dataset di prossimità.</a:t>
            </a:r>
          </a:p>
          <a:p>
            <a:pPr>
              <a:spcAft>
                <a:spcPts val="400"/>
              </a:spcAft>
            </a:pPr>
            <a:r>
              <a:rPr b="1" sz="1200">
                <a:solidFill>
                  <a:srgbClr val="0F172A"/>
                </a:solidFill>
                <a:latin typeface="Liberation Sans"/>
              </a:rPr>
              <a:t>• Poche Risorse Informatiche: </a:t>
            </a:r>
            <a:r>
              <a:rPr sz="1200">
                <a:solidFill>
                  <a:srgbClr val="334155"/>
                </a:solidFill>
                <a:latin typeface="Liberation Sans"/>
              </a:rPr>
              <a:t>I piccoli comuni non hanno personale dedicato per gestire complesse pipeline di caricamento dati.</a:t>
            </a:r>
          </a:p>
        </p:txBody>
      </p:sp>
      <p:sp>
        <p:nvSpPr>
          <p:cNvPr id="6" name="Rectangle 5"/>
          <p:cNvSpPr/>
          <p:nvPr/>
        </p:nvSpPr>
        <p:spPr>
          <a:xfrm>
            <a:off x="6217920" y="1737360"/>
            <a:ext cx="5212080" cy="4389120"/>
          </a:xfrm>
          <a:prstGeom prst="rect">
            <a:avLst/>
          </a:prstGeom>
          <a:solidFill>
            <a:srgbClr val="FFFFFF"/>
          </a:solidFill>
          <a:ln w="19050">
            <a:solidFill>
              <a:srgbClr val="0084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901952"/>
            <a:ext cx="484632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LA NOSTRA RISPOSTA</a:t>
            </a:r>
          </a:p>
          <a:p>
            <a:pPr>
              <a:spcAft>
                <a:spcPts val="600"/>
              </a:spcAft>
              <a:defRPr sz="1500" b="1">
                <a:solidFill>
                  <a:srgbClr val="0F172A"/>
                </a:solidFill>
                <a:latin typeface="Liberation Sans"/>
              </a:defRPr>
            </a:pPr>
            <a:r>
              <a:t>La Proposta di Open Data Imperia</a:t>
            </a:r>
          </a:p>
          <a:p>
            <a:pPr>
              <a:spcAft>
                <a:spcPts val="400"/>
              </a:spcAft>
            </a:pPr>
            <a:r>
              <a:rPr b="1" sz="1200">
                <a:solidFill>
                  <a:srgbClr val="0F172A"/>
                </a:solidFill>
                <a:latin typeface="Liberation Sans"/>
              </a:rPr>
              <a:t>• Un Hub Territoriale: </a:t>
            </a:r>
            <a:r>
              <a:rPr sz="1200">
                <a:solidFill>
                  <a:srgbClr val="334155"/>
                </a:solidFill>
                <a:latin typeface="Liberation Sans"/>
              </a:rPr>
              <a:t>Un portale aperto e focalizzato su Imperia e comprensorio, facile da esplorare per la cittadinanza.</a:t>
            </a:r>
          </a:p>
          <a:p>
            <a:pPr>
              <a:spcAft>
                <a:spcPts val="400"/>
              </a:spcAft>
            </a:pPr>
            <a:r>
              <a:rPr b="1" sz="1200">
                <a:solidFill>
                  <a:srgbClr val="0F172A"/>
                </a:solidFill>
                <a:latin typeface="Liberation Sans"/>
              </a:rPr>
              <a:t>• Raccolta Automatizzata: </a:t>
            </a:r>
            <a:r>
              <a:rPr sz="1200">
                <a:solidFill>
                  <a:srgbClr val="334155"/>
                </a:solidFill>
                <a:latin typeface="Liberation Sans"/>
              </a:rPr>
              <a:t>Utilizzare codice Python (collector) che raccoglie, ripulisce e indicizza i dati da fonti pubbliche esistenti senza gravare sugli uffici comunali.</a:t>
            </a:r>
          </a:p>
          <a:p>
            <a:pPr>
              <a:spcAft>
                <a:spcPts val="400"/>
              </a:spcAft>
            </a:pPr>
            <a:r>
              <a:rPr b="1" sz="1200">
                <a:solidFill>
                  <a:srgbClr val="0F172A"/>
                </a:solidFill>
                <a:latin typeface="Liberation Sans"/>
              </a:rPr>
              <a:t>• Compatibilità per la Federazione: </a:t>
            </a:r>
            <a:r>
              <a:rPr sz="1200">
                <a:solidFill>
                  <a:srgbClr val="334155"/>
                </a:solidFill>
                <a:latin typeface="Liberation Sans"/>
              </a:rPr>
              <a:t>Standardizzare i dati secondo i profili nazionali AgID in modo che possano confluire nel catalogo regionale e nazionale.</a:t>
            </a:r>
          </a:p>
          <a:p>
            <a:pPr>
              <a:spcAft>
                <a:spcPts val="400"/>
              </a:spcAft>
            </a:pPr>
            <a:r>
              <a:rPr b="1" sz="1200">
                <a:solidFill>
                  <a:srgbClr val="0F172A"/>
                </a:solidFill>
                <a:latin typeface="Liberation Sans"/>
              </a:rPr>
              <a:t>• Iniziativa Civica: </a:t>
            </a:r>
            <a:r>
              <a:rPr sz="1200">
                <a:solidFill>
                  <a:srgbClr val="334155"/>
                </a:solidFill>
                <a:latin typeface="Liberation Sans"/>
              </a:rPr>
              <a:t>Dimostrare che una comunità dal basso (Fablab) può offrire un servizio utile e pronto all'uso con strumenti liberi.</a:t>
            </a:r>
          </a:p>
        </p:txBody>
      </p:sp>
      <p:sp>
        <p:nvSpPr>
          <p:cNvPr id="8" name="TextBox 7"/>
          <p:cNvSpPr txBox="1"/>
          <p:nvPr/>
        </p:nvSpPr>
        <p:spPr>
          <a:xfrm>
            <a:off x="731520" y="6400800"/>
            <a:ext cx="10728655" cy="365760"/>
          </a:xfrm>
          <a:prstGeom prst="rect">
            <a:avLst/>
          </a:prstGeom>
          <a:noFill/>
        </p:spPr>
        <p:txBody>
          <a:bodyPr wrap="none" tIns="0" bIns="0" lIns="0" rIns="0">
            <a:spAutoFit/>
          </a:bodyPr>
          <a:lstStyle/>
          <a:p>
            <a:pPr>
              <a:defRPr sz="1000">
                <a:solidFill>
                  <a:srgbClr val="64748B"/>
                </a:solidFill>
                <a:latin typeface="Liberation Sans"/>
              </a:defRPr>
            </a:pPr>
            <a:r>
              <a:t>Open Data Imperia • Fablab Imperia APS — Linux Day 2026</a:t>
            </a:r>
          </a:p>
        </p:txBody>
      </p:sp>
      <p:sp>
        <p:nvSpPr>
          <p:cNvPr id="9" name="TextBox 8"/>
          <p:cNvSpPr txBox="1"/>
          <p:nvPr/>
        </p:nvSpPr>
        <p:spPr>
          <a:xfrm>
            <a:off x="9601200" y="6400800"/>
            <a:ext cx="1828800" cy="365760"/>
          </a:xfrm>
          <a:prstGeom prst="rect">
            <a:avLst/>
          </a:prstGeom>
          <a:noFill/>
        </p:spPr>
        <p:txBody>
          <a:bodyPr wrap="none" tIns="0" bIns="0" lIns="0" rIns="0">
            <a:spAutoFit/>
          </a:bodyPr>
          <a:lstStyle/>
          <a:p>
            <a:pPr algn="r">
              <a:defRPr sz="1000" b="1">
                <a:solidFill>
                  <a:srgbClr val="0D9488"/>
                </a:solidFill>
                <a:latin typeface="Liberation Sans"/>
              </a:defRPr>
            </a:pPr>
            <a: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tIns="0" bIns="0" lIns="0" rIns="0">
            <a:spAutoFit/>
          </a:bodyPr>
          <a:lstStyle/>
          <a:p>
            <a:pPr>
              <a:spcAft>
                <a:spcPts val="200"/>
              </a:spcAft>
              <a:defRPr sz="1100" b="1">
                <a:solidFill>
                  <a:srgbClr val="0D9488"/>
                </a:solidFill>
                <a:latin typeface="Liberation Sans"/>
              </a:defRPr>
            </a:pPr>
            <a:r>
              <a:t>SEZIONE 2 • LA NORMATIVA ITALIANA ED EUROPEA</a:t>
            </a:r>
          </a:p>
          <a:p>
            <a:pPr>
              <a:spcAft>
                <a:spcPts val="200"/>
              </a:spcAft>
              <a:defRPr sz="2400" b="1">
                <a:solidFill>
                  <a:srgbClr val="0F172A"/>
                </a:solidFill>
                <a:latin typeface="Liberation Sans"/>
              </a:defRPr>
            </a:pPr>
            <a:r>
              <a:t>Il Quadro Normativo Europeo: Dalla PSI agli HVD</a:t>
            </a:r>
          </a:p>
          <a:p>
            <a:pPr>
              <a:defRPr sz="1200">
                <a:solidFill>
                  <a:srgbClr val="64748B"/>
                </a:solidFill>
                <a:latin typeface="Liberation Sans"/>
              </a:defRPr>
            </a:pPr>
            <a:r>
              <a:t>Un percorso legislativo ventennale per creare un mercato unico dei dati pubblici</a:t>
            </a:r>
          </a:p>
        </p:txBody>
      </p:sp>
      <p:sp>
        <p:nvSpPr>
          <p:cNvPr id="4" name="Rectangle 3"/>
          <p:cNvSpPr/>
          <p:nvPr/>
        </p:nvSpPr>
        <p:spPr>
          <a:xfrm>
            <a:off x="731520" y="1737360"/>
            <a:ext cx="342900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01952"/>
            <a:ext cx="306324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FASE 1</a:t>
            </a:r>
          </a:p>
          <a:p>
            <a:pPr>
              <a:spcAft>
                <a:spcPts val="600"/>
              </a:spcAft>
              <a:defRPr sz="1500" b="1">
                <a:solidFill>
                  <a:srgbClr val="0F172A"/>
                </a:solidFill>
                <a:latin typeface="Liberation Sans"/>
              </a:defRPr>
            </a:pPr>
            <a:r>
              <a:t>2003 / 2013 • Le Direttive PSI</a:t>
            </a:r>
          </a:p>
          <a:p>
            <a:pPr>
              <a:spcAft>
                <a:spcPts val="400"/>
              </a:spcAft>
            </a:pPr>
            <a:r>
              <a:rPr b="1" sz="1200">
                <a:solidFill>
                  <a:srgbClr val="0F172A"/>
                </a:solidFill>
                <a:latin typeface="Liberation Sans"/>
              </a:rPr>
              <a:t>• Direttiva 2003/98/CE: </a:t>
            </a:r>
            <a:r>
              <a:rPr sz="1200">
                <a:solidFill>
                  <a:srgbClr val="334155"/>
                </a:solidFill>
                <a:latin typeface="Liberation Sans"/>
              </a:rPr>
              <a:t>Prima direttiva sul riutilizzo dell'informazione del settore pubblico (Public Sector Information).</a:t>
            </a:r>
          </a:p>
          <a:p>
            <a:pPr>
              <a:spcAft>
                <a:spcPts val="400"/>
              </a:spcAft>
            </a:pPr>
            <a:r>
              <a:rPr b="1" sz="1200">
                <a:solidFill>
                  <a:srgbClr val="0F172A"/>
                </a:solidFill>
                <a:latin typeface="Liberation Sans"/>
              </a:rPr>
              <a:t>• Revisione 2013/37/UE: </a:t>
            </a:r>
            <a:r>
              <a:rPr sz="1200">
                <a:solidFill>
                  <a:srgbClr val="334155"/>
                </a:solidFill>
                <a:latin typeface="Liberation Sans"/>
              </a:rPr>
              <a:t>Introduce il principio generale che i dati pubblici devono essere riutilizzabili e fissa i massimali tariffari al costo marginale.</a:t>
            </a:r>
          </a:p>
        </p:txBody>
      </p:sp>
      <p:sp>
        <p:nvSpPr>
          <p:cNvPr id="6" name="Rectangle 5"/>
          <p:cNvSpPr/>
          <p:nvPr/>
        </p:nvSpPr>
        <p:spPr>
          <a:xfrm>
            <a:off x="4389120" y="1737360"/>
            <a:ext cx="3429000" cy="4389120"/>
          </a:xfrm>
          <a:prstGeom prst="rect">
            <a:avLst/>
          </a:prstGeom>
          <a:solidFill>
            <a:srgbClr val="FFFFFF"/>
          </a:solidFill>
          <a:ln w="19050">
            <a:solidFill>
              <a:srgbClr val="0084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901952"/>
            <a:ext cx="306324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FASE 2 (SVOLTA)</a:t>
            </a:r>
          </a:p>
          <a:p>
            <a:pPr>
              <a:spcAft>
                <a:spcPts val="600"/>
              </a:spcAft>
              <a:defRPr sz="1500" b="1">
                <a:solidFill>
                  <a:srgbClr val="0F172A"/>
                </a:solidFill>
                <a:latin typeface="Liberation Sans"/>
              </a:defRPr>
            </a:pPr>
            <a:r>
              <a:t>2019 • Open Data Directive (UE 2019/1024)</a:t>
            </a:r>
          </a:p>
          <a:p>
            <a:pPr>
              <a:spcAft>
                <a:spcPts val="400"/>
              </a:spcAft>
            </a:pPr>
            <a:r>
              <a:rPr b="1" sz="1200">
                <a:solidFill>
                  <a:srgbClr val="0F172A"/>
                </a:solidFill>
                <a:latin typeface="Liberation Sans"/>
              </a:rPr>
              <a:t>• Nuova Direttiva Dati Aperti: </a:t>
            </a:r>
            <a:r>
              <a:rPr sz="1200">
                <a:solidFill>
                  <a:srgbClr val="334155"/>
                </a:solidFill>
                <a:latin typeface="Liberation Sans"/>
              </a:rPr>
              <a:t>Sostituisce e abroga la direttiva PSI.</a:t>
            </a:r>
          </a:p>
          <a:p>
            <a:pPr>
              <a:spcAft>
                <a:spcPts val="400"/>
              </a:spcAft>
            </a:pPr>
            <a:r>
              <a:rPr b="1" sz="1200">
                <a:solidFill>
                  <a:srgbClr val="0F172A"/>
                </a:solidFill>
                <a:latin typeface="Liberation Sans"/>
              </a:rPr>
              <a:t>• Principi Chiave: </a:t>
            </a:r>
            <a:r>
              <a:rPr sz="1200">
                <a:solidFill>
                  <a:srgbClr val="334155"/>
                </a:solidFill>
                <a:latin typeface="Liberation Sans"/>
              </a:rPr>
              <a:t>Sancisce l'approccio 'Open by Design and by Default'. Introduce l'obbligo di fornire dati dinamici in tempo reale tramite API.</a:t>
            </a:r>
          </a:p>
          <a:p>
            <a:pPr>
              <a:spcAft>
                <a:spcPts val="400"/>
              </a:spcAft>
            </a:pPr>
            <a:r>
              <a:rPr b="1" sz="1200">
                <a:solidFill>
                  <a:srgbClr val="0F172A"/>
                </a:solidFill>
                <a:latin typeface="Liberation Sans"/>
              </a:rPr>
              <a:t>• Dati di Elevato Valore (HVD): </a:t>
            </a:r>
            <a:r>
              <a:rPr sz="1200">
                <a:solidFill>
                  <a:srgbClr val="334155"/>
                </a:solidFill>
                <a:latin typeface="Liberation Sans"/>
              </a:rPr>
              <a:t>Prevede un elenco vincolante di dataset strategici da rilasciare obbligatoriamente gratis.</a:t>
            </a:r>
          </a:p>
        </p:txBody>
      </p:sp>
      <p:sp>
        <p:nvSpPr>
          <p:cNvPr id="8" name="Rectangle 7"/>
          <p:cNvSpPr/>
          <p:nvPr/>
        </p:nvSpPr>
        <p:spPr>
          <a:xfrm>
            <a:off x="8046720" y="1737360"/>
            <a:ext cx="3429000" cy="4389120"/>
          </a:xfrm>
          <a:prstGeom prst="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901952"/>
            <a:ext cx="306324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FASE 3 (ATTUAZIONE)</a:t>
            </a:r>
          </a:p>
          <a:p>
            <a:pPr>
              <a:spcAft>
                <a:spcPts val="600"/>
              </a:spcAft>
              <a:defRPr sz="1500" b="1">
                <a:solidFill>
                  <a:srgbClr val="0F172A"/>
                </a:solidFill>
                <a:latin typeface="Liberation Sans"/>
              </a:defRPr>
            </a:pPr>
            <a:r>
              <a:t>2023 • Regolamento HVD (UE 2023/138)</a:t>
            </a:r>
          </a:p>
          <a:p>
            <a:pPr>
              <a:spcAft>
                <a:spcPts val="400"/>
              </a:spcAft>
            </a:pPr>
            <a:r>
              <a:rPr b="1" sz="1200">
                <a:solidFill>
                  <a:srgbClr val="0F172A"/>
                </a:solidFill>
                <a:latin typeface="Liberation Sans"/>
              </a:rPr>
              <a:t>• Regolamento di Esecuzione: </a:t>
            </a:r>
            <a:r>
              <a:rPr sz="1200">
                <a:solidFill>
                  <a:srgbClr val="334155"/>
                </a:solidFill>
                <a:latin typeface="Liberation Sans"/>
              </a:rPr>
              <a:t>Individua le specifiche serie di High Value Datasets da aprire in tutta l'Unione Europea.</a:t>
            </a:r>
          </a:p>
          <a:p>
            <a:pPr>
              <a:spcAft>
                <a:spcPts val="400"/>
              </a:spcAft>
            </a:pPr>
            <a:r>
              <a:rPr b="1" sz="1200">
                <a:solidFill>
                  <a:srgbClr val="0F172A"/>
                </a:solidFill>
                <a:latin typeface="Liberation Sans"/>
              </a:rPr>
              <a:t>• 6 Categorie Strategiche: </a:t>
            </a:r>
            <a:r>
              <a:rPr sz="1200">
                <a:solidFill>
                  <a:srgbClr val="334155"/>
                </a:solidFill>
                <a:latin typeface="Liberation Sans"/>
              </a:rPr>
              <a:t>Geospaziali, Osservazione della Terra e ambiente, Meteorologici, Statistiche, Imprese e Mobilità.</a:t>
            </a:r>
          </a:p>
          <a:p>
            <a:pPr>
              <a:spcAft>
                <a:spcPts val="400"/>
              </a:spcAft>
            </a:pPr>
            <a:r>
              <a:rPr b="1" sz="1200">
                <a:solidFill>
                  <a:srgbClr val="0F172A"/>
                </a:solidFill>
                <a:latin typeface="Liberation Sans"/>
              </a:rPr>
              <a:t>• Disponibilità Gratuita: </a:t>
            </a:r>
            <a:r>
              <a:rPr sz="1200">
                <a:solidFill>
                  <a:srgbClr val="334155"/>
                </a:solidFill>
                <a:latin typeface="Liberation Sans"/>
              </a:rPr>
              <a:t>Obbligo vincolante di accesso completo via API senza alcuna spesa per l'utente.</a:t>
            </a:r>
          </a:p>
        </p:txBody>
      </p:sp>
      <p:sp>
        <p:nvSpPr>
          <p:cNvPr id="10" name="TextBox 9"/>
          <p:cNvSpPr txBox="1"/>
          <p:nvPr/>
        </p:nvSpPr>
        <p:spPr>
          <a:xfrm>
            <a:off x="731520" y="6400800"/>
            <a:ext cx="10728655" cy="365760"/>
          </a:xfrm>
          <a:prstGeom prst="rect">
            <a:avLst/>
          </a:prstGeom>
          <a:noFill/>
        </p:spPr>
        <p:txBody>
          <a:bodyPr wrap="none" tIns="0" bIns="0" lIns="0" rIns="0">
            <a:spAutoFit/>
          </a:bodyPr>
          <a:lstStyle/>
          <a:p>
            <a:pPr>
              <a:defRPr sz="1000">
                <a:solidFill>
                  <a:srgbClr val="64748B"/>
                </a:solidFill>
                <a:latin typeface="Liberation Sans"/>
              </a:defRPr>
            </a:pPr>
            <a:r>
              <a:t>Open Data Imperia • Fablab Imperia APS — Linux Day 2026</a:t>
            </a:r>
          </a:p>
        </p:txBody>
      </p:sp>
      <p:sp>
        <p:nvSpPr>
          <p:cNvPr id="11" name="TextBox 10"/>
          <p:cNvSpPr txBox="1"/>
          <p:nvPr/>
        </p:nvSpPr>
        <p:spPr>
          <a:xfrm>
            <a:off x="9601200" y="6400800"/>
            <a:ext cx="1828800" cy="365760"/>
          </a:xfrm>
          <a:prstGeom prst="rect">
            <a:avLst/>
          </a:prstGeom>
          <a:noFill/>
        </p:spPr>
        <p:txBody>
          <a:bodyPr wrap="none" tIns="0" bIns="0" lIns="0" rIns="0">
            <a:spAutoFit/>
          </a:bodyPr>
          <a:lstStyle/>
          <a:p>
            <a:pPr algn="r">
              <a:defRPr sz="1000" b="1">
                <a:solidFill>
                  <a:srgbClr val="0D9488"/>
                </a:solidFill>
                <a:latin typeface="Liberation Sans"/>
              </a:defRPr>
            </a:pPr>
            <a: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tIns="0" bIns="0" lIns="0" rIns="0">
            <a:spAutoFit/>
          </a:bodyPr>
          <a:lstStyle/>
          <a:p>
            <a:pPr>
              <a:spcAft>
                <a:spcPts val="200"/>
              </a:spcAft>
              <a:defRPr sz="1100" b="1">
                <a:solidFill>
                  <a:srgbClr val="0D9488"/>
                </a:solidFill>
                <a:latin typeface="Liberation Sans"/>
              </a:defRPr>
            </a:pPr>
            <a:r>
              <a:t>SEZIONE 2 • LA NORMATIVA ITALIANA ED EUROPEA</a:t>
            </a:r>
          </a:p>
          <a:p>
            <a:pPr>
              <a:spcAft>
                <a:spcPts val="200"/>
              </a:spcAft>
              <a:defRPr sz="2400" b="1">
                <a:solidFill>
                  <a:srgbClr val="0F172A"/>
                </a:solidFill>
                <a:latin typeface="Liberation Sans"/>
              </a:defRPr>
            </a:pPr>
            <a:r>
              <a:t>Il Recepimento in Italia: D.Lgs. 200/2021</a:t>
            </a:r>
          </a:p>
          <a:p>
            <a:pPr>
              <a:defRPr sz="1200">
                <a:solidFill>
                  <a:srgbClr val="64748B"/>
                </a:solidFill>
                <a:latin typeface="Liberation Sans"/>
              </a:defRPr>
            </a:pPr>
            <a:r>
              <a:t>La legge nazionale che obbliga le PA all'apertura dei dati e fissa tempi certi</a:t>
            </a:r>
          </a:p>
        </p:txBody>
      </p:sp>
      <p:sp>
        <p:nvSpPr>
          <p:cNvPr id="4" name="Rectangle 3"/>
          <p:cNvSpPr/>
          <p:nvPr/>
        </p:nvSpPr>
        <p:spPr>
          <a:xfrm>
            <a:off x="731520" y="1737360"/>
            <a:ext cx="342900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01952"/>
            <a:ext cx="306324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DECRETO DI RIFERIMENTO</a:t>
            </a:r>
          </a:p>
          <a:p>
            <a:pPr>
              <a:spcAft>
                <a:spcPts val="600"/>
              </a:spcAft>
              <a:defRPr sz="1500" b="1">
                <a:solidFill>
                  <a:srgbClr val="0F172A"/>
                </a:solidFill>
                <a:latin typeface="Liberation Sans"/>
              </a:defRPr>
            </a:pPr>
            <a:r>
              <a:t>La Base Legislativa</a:t>
            </a:r>
          </a:p>
          <a:p>
            <a:pPr>
              <a:spcAft>
                <a:spcPts val="400"/>
              </a:spcAft>
            </a:pPr>
            <a:r>
              <a:rPr b="1" sz="1200">
                <a:solidFill>
                  <a:srgbClr val="0F172A"/>
                </a:solidFill>
                <a:latin typeface="Liberation Sans"/>
              </a:rPr>
              <a:t>• D.Lgs. 24 gennaio 2006, n. 36: </a:t>
            </a:r>
            <a:r>
              <a:rPr sz="1200">
                <a:solidFill>
                  <a:srgbClr val="334155"/>
                </a:solidFill>
                <a:latin typeface="Liberation Sans"/>
              </a:rPr>
              <a:t>Il decreto storico di attuazione della direttiva PSI sul riutilizzo delle informazioni pubbliche.</a:t>
            </a:r>
          </a:p>
          <a:p>
            <a:pPr>
              <a:spcAft>
                <a:spcPts val="400"/>
              </a:spcAft>
            </a:pPr>
            <a:r>
              <a:rPr b="1" sz="1200">
                <a:solidFill>
                  <a:srgbClr val="0F172A"/>
                </a:solidFill>
                <a:latin typeface="Liberation Sans"/>
              </a:rPr>
              <a:t>• D.Lgs. 8 novembre 2021, n. 200: </a:t>
            </a:r>
            <a:r>
              <a:rPr sz="1200">
                <a:solidFill>
                  <a:srgbClr val="334155"/>
                </a:solidFill>
                <a:latin typeface="Liberation Sans"/>
              </a:rPr>
              <a:t>Recepisce la Direttiva (UE) 2019/1024 modificando profondamente il D.Lgs. 36/2006.</a:t>
            </a:r>
          </a:p>
          <a:p>
            <a:pPr>
              <a:spcAft>
                <a:spcPts val="400"/>
              </a:spcAft>
            </a:pPr>
            <a:r>
              <a:rPr b="1" sz="1200">
                <a:solidFill>
                  <a:srgbClr val="0F172A"/>
                </a:solidFill>
                <a:latin typeface="Liberation Sans"/>
              </a:rPr>
              <a:t>• In Vigore: </a:t>
            </a:r>
            <a:r>
              <a:rPr sz="1200">
                <a:solidFill>
                  <a:srgbClr val="334155"/>
                </a:solidFill>
                <a:latin typeface="Liberation Sans"/>
              </a:rPr>
              <a:t>Norma pienamente cogente in Italia a partire dal 15 dicembre 2021.</a:t>
            </a:r>
          </a:p>
        </p:txBody>
      </p:sp>
      <p:sp>
        <p:nvSpPr>
          <p:cNvPr id="6" name="Rectangle 5"/>
          <p:cNvSpPr/>
          <p:nvPr/>
        </p:nvSpPr>
        <p:spPr>
          <a:xfrm>
            <a:off x="4389120" y="1737360"/>
            <a:ext cx="3429000" cy="4389120"/>
          </a:xfrm>
          <a:prstGeom prst="rect">
            <a:avLst/>
          </a:prstGeom>
          <a:solidFill>
            <a:srgbClr val="FFFFFF"/>
          </a:solidFill>
          <a:ln w="19050">
            <a:solidFill>
              <a:srgbClr val="0084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901952"/>
            <a:ext cx="306324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PRINCIPI CHIAVE</a:t>
            </a:r>
          </a:p>
          <a:p>
            <a:pPr>
              <a:spcAft>
                <a:spcPts val="600"/>
              </a:spcAft>
              <a:defRPr sz="1500" b="1">
                <a:solidFill>
                  <a:srgbClr val="0F172A"/>
                </a:solidFill>
                <a:latin typeface="Liberation Sans"/>
              </a:defRPr>
            </a:pPr>
            <a:r>
              <a:t>I Principi Fondamentali</a:t>
            </a:r>
          </a:p>
          <a:p>
            <a:pPr>
              <a:spcAft>
                <a:spcPts val="400"/>
              </a:spcAft>
            </a:pPr>
            <a:r>
              <a:rPr b="1" sz="1200">
                <a:solidFill>
                  <a:srgbClr val="0F172A"/>
                </a:solidFill>
                <a:latin typeface="Liberation Sans"/>
              </a:rPr>
              <a:t>• Open by Default: </a:t>
            </a:r>
            <a:r>
              <a:rPr sz="1200">
                <a:solidFill>
                  <a:srgbClr val="334155"/>
                </a:solidFill>
                <a:latin typeface="Liberation Sans"/>
              </a:rPr>
              <a:t>Tutti i dati e documenti della PA sono aperti e riutilizzabili, salvo espresso divieto di legge motivato (es. segreto di stato o privacy).</a:t>
            </a:r>
          </a:p>
          <a:p>
            <a:pPr>
              <a:spcAft>
                <a:spcPts val="400"/>
              </a:spcAft>
            </a:pPr>
            <a:r>
              <a:rPr b="1" sz="1200">
                <a:solidFill>
                  <a:srgbClr val="0F172A"/>
                </a:solidFill>
                <a:latin typeface="Liberation Sans"/>
              </a:rPr>
              <a:t>• Gratuità del Riuso: </a:t>
            </a:r>
            <a:r>
              <a:rPr sz="1200">
                <a:solidFill>
                  <a:srgbClr val="334155"/>
                </a:solidFill>
                <a:latin typeface="Liberation Sans"/>
              </a:rPr>
              <a:t>Regola generale della totale gratuità; nessun costo di concessione per cittadini o imprese.</a:t>
            </a:r>
          </a:p>
          <a:p>
            <a:pPr>
              <a:spcAft>
                <a:spcPts val="400"/>
              </a:spcAft>
            </a:pPr>
            <a:r>
              <a:rPr b="1" sz="1200">
                <a:solidFill>
                  <a:srgbClr val="0F172A"/>
                </a:solidFill>
                <a:latin typeface="Liberation Sans"/>
              </a:rPr>
              <a:t>• Dati Dinamici via API: </a:t>
            </a:r>
            <a:r>
              <a:rPr sz="1200">
                <a:solidFill>
                  <a:srgbClr val="334155"/>
                </a:solidFill>
                <a:latin typeface="Liberation Sans"/>
              </a:rPr>
              <a:t>Rilascio immediato per i dati generati da sensori o flussi continui.</a:t>
            </a:r>
          </a:p>
        </p:txBody>
      </p:sp>
      <p:sp>
        <p:nvSpPr>
          <p:cNvPr id="8" name="Rectangle 7"/>
          <p:cNvSpPr/>
          <p:nvPr/>
        </p:nvSpPr>
        <p:spPr>
          <a:xfrm>
            <a:off x="8046720" y="1737360"/>
            <a:ext cx="342900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901952"/>
            <a:ext cx="306324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VINCOLI PER LA PA</a:t>
            </a:r>
          </a:p>
          <a:p>
            <a:pPr>
              <a:spcAft>
                <a:spcPts val="600"/>
              </a:spcAft>
              <a:defRPr sz="1500" b="1">
                <a:solidFill>
                  <a:srgbClr val="0F172A"/>
                </a:solidFill>
                <a:latin typeface="Liberation Sans"/>
              </a:defRPr>
            </a:pPr>
            <a:r>
              <a:t>Obblighi e Tempistiche</a:t>
            </a:r>
          </a:p>
          <a:p>
            <a:pPr>
              <a:spcAft>
                <a:spcPts val="400"/>
              </a:spcAft>
            </a:pPr>
            <a:r>
              <a:rPr b="1" sz="1200">
                <a:solidFill>
                  <a:srgbClr val="0F172A"/>
                </a:solidFill>
                <a:latin typeface="Liberation Sans"/>
              </a:rPr>
              <a:t>• 30 Giorni Lavorativi: </a:t>
            </a:r>
            <a:r>
              <a:rPr sz="1200">
                <a:solidFill>
                  <a:srgbClr val="334155"/>
                </a:solidFill>
                <a:latin typeface="Liberation Sans"/>
              </a:rPr>
              <a:t>Tempo massimo imposto alla PA per rispondere alle richieste di riutilizzo dei dati da parte di cittadini o imprese.</a:t>
            </a:r>
          </a:p>
          <a:p>
            <a:pPr>
              <a:spcAft>
                <a:spcPts val="400"/>
              </a:spcAft>
            </a:pPr>
            <a:r>
              <a:rPr b="1" sz="1200">
                <a:solidFill>
                  <a:srgbClr val="0F172A"/>
                </a:solidFill>
                <a:latin typeface="Liberation Sans"/>
              </a:rPr>
              <a:t>• Formati Aperti: </a:t>
            </a:r>
            <a:r>
              <a:rPr sz="1200">
                <a:solidFill>
                  <a:srgbClr val="334155"/>
                </a:solidFill>
                <a:latin typeface="Liberation Sans"/>
              </a:rPr>
              <a:t>Obbligo inderogabile di rilascio in formati leggibili meccanicamente e non proprietari.</a:t>
            </a:r>
          </a:p>
          <a:p>
            <a:pPr>
              <a:spcAft>
                <a:spcPts val="400"/>
              </a:spcAft>
            </a:pPr>
            <a:r>
              <a:rPr b="1" sz="1200">
                <a:solidFill>
                  <a:srgbClr val="0F172A"/>
                </a:solidFill>
                <a:latin typeface="Liberation Sans"/>
              </a:rPr>
              <a:t>• Dati di Elevato Valore: </a:t>
            </a:r>
            <a:r>
              <a:rPr sz="1200">
                <a:solidFill>
                  <a:srgbClr val="334155"/>
                </a:solidFill>
                <a:latin typeface="Liberation Sans"/>
              </a:rPr>
              <a:t>Applicazione immediata degli elenchi di dati strategici comunitari.</a:t>
            </a:r>
          </a:p>
        </p:txBody>
      </p:sp>
      <p:sp>
        <p:nvSpPr>
          <p:cNvPr id="10" name="TextBox 9"/>
          <p:cNvSpPr txBox="1"/>
          <p:nvPr/>
        </p:nvSpPr>
        <p:spPr>
          <a:xfrm>
            <a:off x="731520" y="6400800"/>
            <a:ext cx="10728655" cy="365760"/>
          </a:xfrm>
          <a:prstGeom prst="rect">
            <a:avLst/>
          </a:prstGeom>
          <a:noFill/>
        </p:spPr>
        <p:txBody>
          <a:bodyPr wrap="none" tIns="0" bIns="0" lIns="0" rIns="0">
            <a:spAutoFit/>
          </a:bodyPr>
          <a:lstStyle/>
          <a:p>
            <a:pPr>
              <a:defRPr sz="1000">
                <a:solidFill>
                  <a:srgbClr val="64748B"/>
                </a:solidFill>
                <a:latin typeface="Liberation Sans"/>
              </a:defRPr>
            </a:pPr>
            <a:r>
              <a:t>Open Data Imperia • Fablab Imperia APS — Linux Day 2026</a:t>
            </a:r>
          </a:p>
        </p:txBody>
      </p:sp>
      <p:sp>
        <p:nvSpPr>
          <p:cNvPr id="11" name="TextBox 10"/>
          <p:cNvSpPr txBox="1"/>
          <p:nvPr/>
        </p:nvSpPr>
        <p:spPr>
          <a:xfrm>
            <a:off x="9601200" y="6400800"/>
            <a:ext cx="1828800" cy="365760"/>
          </a:xfrm>
          <a:prstGeom prst="rect">
            <a:avLst/>
          </a:prstGeom>
          <a:noFill/>
        </p:spPr>
        <p:txBody>
          <a:bodyPr wrap="none" tIns="0" bIns="0" lIns="0" rIns="0">
            <a:spAutoFit/>
          </a:bodyPr>
          <a:lstStyle/>
          <a:p>
            <a:pPr algn="r">
              <a:defRPr sz="1000" b="1">
                <a:solidFill>
                  <a:srgbClr val="0D9488"/>
                </a:solidFill>
                <a:latin typeface="Liberation Sans"/>
              </a:defRPr>
            </a:pPr>
            <a: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tIns="0" bIns="0" lIns="0" rIns="0">
            <a:spAutoFit/>
          </a:bodyPr>
          <a:lstStyle/>
          <a:p>
            <a:pPr>
              <a:spcAft>
                <a:spcPts val="200"/>
              </a:spcAft>
              <a:defRPr sz="1100" b="1">
                <a:solidFill>
                  <a:srgbClr val="0D9488"/>
                </a:solidFill>
                <a:latin typeface="Liberation Sans"/>
              </a:defRPr>
            </a:pPr>
            <a:r>
              <a:t>SEZIONE 2 • LA NORMATIVA ITALIANA ED EUROPEA</a:t>
            </a:r>
          </a:p>
          <a:p>
            <a:pPr>
              <a:spcAft>
                <a:spcPts val="200"/>
              </a:spcAft>
              <a:defRPr sz="2400" b="1">
                <a:solidFill>
                  <a:srgbClr val="0F172A"/>
                </a:solidFill>
                <a:latin typeface="Liberation Sans"/>
              </a:defRPr>
            </a:pPr>
            <a:r>
              <a:t>Trasparenza Amministrativa e il CAD</a:t>
            </a:r>
          </a:p>
          <a:p>
            <a:pPr>
              <a:defRPr sz="1200">
                <a:solidFill>
                  <a:srgbClr val="64748B"/>
                </a:solidFill>
                <a:latin typeface="Liberation Sans"/>
              </a:defRPr>
            </a:pPr>
            <a:r>
              <a:t>Il legame tra contrasto alla corruzione, Codice dell'Amministrazione Digitale e riuso software</a:t>
            </a:r>
          </a:p>
        </p:txBody>
      </p:sp>
      <p:sp>
        <p:nvSpPr>
          <p:cNvPr id="4" name="Rectangle 3"/>
          <p:cNvSpPr/>
          <p:nvPr/>
        </p:nvSpPr>
        <p:spPr>
          <a:xfrm>
            <a:off x="731520" y="1737360"/>
            <a:ext cx="512064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01952"/>
            <a:ext cx="475488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D.LGS. 33/2013</a:t>
            </a:r>
          </a:p>
          <a:p>
            <a:pPr>
              <a:spcAft>
                <a:spcPts val="600"/>
              </a:spcAft>
              <a:defRPr sz="1500" b="1">
                <a:solidFill>
                  <a:srgbClr val="0F172A"/>
                </a:solidFill>
                <a:latin typeface="Liberation Sans"/>
              </a:defRPr>
            </a:pPr>
            <a:r>
              <a:t>D.Lgs. 33/2013 (Trasparenza)</a:t>
            </a:r>
          </a:p>
          <a:p>
            <a:pPr>
              <a:spcAft>
                <a:spcPts val="400"/>
              </a:spcAft>
            </a:pPr>
            <a:r>
              <a:rPr b="1" sz="1200">
                <a:solidFill>
                  <a:srgbClr val="0F172A"/>
                </a:solidFill>
                <a:latin typeface="Liberation Sans"/>
              </a:rPr>
              <a:t>• Riordino della Disciplina: </a:t>
            </a:r>
            <a:r>
              <a:rPr sz="1200">
                <a:solidFill>
                  <a:srgbClr val="334155"/>
                </a:solidFill>
                <a:latin typeface="Liberation Sans"/>
              </a:rPr>
              <a:t>Decreto sulla trasparenza e prevenzione della corruzione nella Pubblica Amministrazione.</a:t>
            </a:r>
          </a:p>
          <a:p>
            <a:pPr>
              <a:spcAft>
                <a:spcPts val="400"/>
              </a:spcAft>
            </a:pPr>
            <a:r>
              <a:rPr b="1" sz="1200">
                <a:solidFill>
                  <a:srgbClr val="0F172A"/>
                </a:solidFill>
                <a:latin typeface="Liberation Sans"/>
              </a:rPr>
              <a:t>• Sezione 'Amministrazione Trasparente': </a:t>
            </a:r>
            <a:r>
              <a:rPr sz="1200">
                <a:solidFill>
                  <a:srgbClr val="334155"/>
                </a:solidFill>
                <a:latin typeface="Liberation Sans"/>
              </a:rPr>
              <a:t>Obbligo di pubblicazione di tutti i provvedimenti, incarichi e spese degli enti locali.</a:t>
            </a:r>
          </a:p>
          <a:p>
            <a:pPr>
              <a:spcAft>
                <a:spcPts val="400"/>
              </a:spcAft>
            </a:pPr>
            <a:r>
              <a:rPr b="1" sz="1200">
                <a:solidFill>
                  <a:srgbClr val="0F172A"/>
                </a:solidFill>
                <a:latin typeface="Liberation Sans"/>
              </a:rPr>
              <a:t>• Articolo 9 (Catalogo Dati e Banche Dati): </a:t>
            </a:r>
            <a:r>
              <a:rPr sz="1200">
                <a:solidFill>
                  <a:srgbClr val="334155"/>
                </a:solidFill>
                <a:latin typeface="Liberation Sans"/>
              </a:rPr>
              <a:t>Obbligo esplicito per le PA di pubblicare e mantenere aggiornato il catalogo dei dati, dei metadati e delle banche dati detenute.</a:t>
            </a:r>
          </a:p>
          <a:p>
            <a:pPr>
              <a:spcAft>
                <a:spcPts val="400"/>
              </a:spcAft>
            </a:pPr>
            <a:r>
              <a:rPr b="1" sz="1200">
                <a:solidFill>
                  <a:srgbClr val="0F172A"/>
                </a:solidFill>
                <a:latin typeface="Liberation Sans"/>
              </a:rPr>
              <a:t>• Presidio di Legalità: </a:t>
            </a:r>
            <a:r>
              <a:rPr sz="1200">
                <a:solidFill>
                  <a:srgbClr val="334155"/>
                </a:solidFill>
                <a:latin typeface="Liberation Sans"/>
              </a:rPr>
              <a:t>I dati aperti sono lo strumento cardine per consentire il controllo civico diffuso sul buon andamento della spesa pubblica.</a:t>
            </a:r>
          </a:p>
        </p:txBody>
      </p:sp>
      <p:sp>
        <p:nvSpPr>
          <p:cNvPr id="6" name="Rectangle 5"/>
          <p:cNvSpPr/>
          <p:nvPr/>
        </p:nvSpPr>
        <p:spPr>
          <a:xfrm>
            <a:off x="6217920" y="1737360"/>
            <a:ext cx="5212080" cy="4389120"/>
          </a:xfrm>
          <a:prstGeom prst="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901952"/>
            <a:ext cx="484632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D.LGS. 82/2005 (CAD)</a:t>
            </a:r>
          </a:p>
          <a:p>
            <a:pPr>
              <a:spcAft>
                <a:spcPts val="600"/>
              </a:spcAft>
              <a:defRPr sz="1500" b="1">
                <a:solidFill>
                  <a:srgbClr val="0F172A"/>
                </a:solidFill>
                <a:latin typeface="Liberation Sans"/>
              </a:defRPr>
            </a:pPr>
            <a:r>
              <a:t>Codice Amministrazione Digitale (CAD)</a:t>
            </a:r>
          </a:p>
          <a:p>
            <a:pPr>
              <a:spcAft>
                <a:spcPts val="400"/>
              </a:spcAft>
            </a:pPr>
            <a:r>
              <a:rPr b="1" sz="1200">
                <a:solidFill>
                  <a:srgbClr val="0F172A"/>
                </a:solidFill>
                <a:latin typeface="Liberation Sans"/>
              </a:rPr>
              <a:t>• D.Lgs. 82/2005 (CAD): </a:t>
            </a:r>
            <a:r>
              <a:rPr sz="1200">
                <a:solidFill>
                  <a:srgbClr val="334155"/>
                </a:solidFill>
                <a:latin typeface="Liberation Sans"/>
              </a:rPr>
              <a:t>Il testo unico fondamentale della digitalizzazione della PA italiana.</a:t>
            </a:r>
          </a:p>
          <a:p>
            <a:pPr>
              <a:spcAft>
                <a:spcPts val="400"/>
              </a:spcAft>
            </a:pPr>
            <a:r>
              <a:rPr b="1" sz="1200">
                <a:solidFill>
                  <a:srgbClr val="0F172A"/>
                </a:solidFill>
                <a:latin typeface="Liberation Sans"/>
              </a:rPr>
              <a:t>• Art. 52 (Dati Aperti e Riuso): </a:t>
            </a:r>
            <a:r>
              <a:rPr sz="1200">
                <a:solidFill>
                  <a:srgbClr val="334155"/>
                </a:solidFill>
                <a:latin typeface="Liberation Sans"/>
              </a:rPr>
              <a:t>Stabilisce che i dati pubblicati dalla PA senza specifica licenza si intendono rilasciati come dati aperti di default.</a:t>
            </a:r>
          </a:p>
          <a:p>
            <a:pPr>
              <a:spcAft>
                <a:spcPts val="400"/>
              </a:spcAft>
            </a:pPr>
            <a:r>
              <a:rPr b="1" sz="1200">
                <a:solidFill>
                  <a:srgbClr val="0F172A"/>
                </a:solidFill>
                <a:latin typeface="Liberation Sans"/>
              </a:rPr>
              <a:t>• Art. 68 (Sviluppo Sistemi e Riuso): </a:t>
            </a:r>
            <a:r>
              <a:rPr sz="1200">
                <a:solidFill>
                  <a:srgbClr val="334155"/>
                </a:solidFill>
                <a:latin typeface="Liberation Sans"/>
              </a:rPr>
              <a:t>Obbligo per la PA di effettuare una valutazione comparativa e PRIVILEGIARE soluzioni software a sorgente aperto (open source) e il riuso.</a:t>
            </a:r>
          </a:p>
          <a:p>
            <a:pPr>
              <a:spcAft>
                <a:spcPts val="400"/>
              </a:spcAft>
            </a:pPr>
            <a:r>
              <a:rPr b="1" sz="1200">
                <a:solidFill>
                  <a:srgbClr val="0F172A"/>
                </a:solidFill>
                <a:latin typeface="Liberation Sans"/>
              </a:rPr>
              <a:t>• Art. 71 (Linee Guida AgID): </a:t>
            </a:r>
            <a:r>
              <a:rPr sz="1200">
                <a:solidFill>
                  <a:srgbClr val="334155"/>
                </a:solidFill>
                <a:latin typeface="Liberation Sans"/>
              </a:rPr>
              <a:t>Attruibuisce valore regolamentare vincolante alle regole tecniche emanate da AgID.</a:t>
            </a:r>
          </a:p>
        </p:txBody>
      </p:sp>
      <p:sp>
        <p:nvSpPr>
          <p:cNvPr id="8" name="TextBox 7"/>
          <p:cNvSpPr txBox="1"/>
          <p:nvPr/>
        </p:nvSpPr>
        <p:spPr>
          <a:xfrm>
            <a:off x="731520" y="6400800"/>
            <a:ext cx="10728655" cy="365760"/>
          </a:xfrm>
          <a:prstGeom prst="rect">
            <a:avLst/>
          </a:prstGeom>
          <a:noFill/>
        </p:spPr>
        <p:txBody>
          <a:bodyPr wrap="none" tIns="0" bIns="0" lIns="0" rIns="0">
            <a:spAutoFit/>
          </a:bodyPr>
          <a:lstStyle/>
          <a:p>
            <a:pPr>
              <a:defRPr sz="1000">
                <a:solidFill>
                  <a:srgbClr val="64748B"/>
                </a:solidFill>
                <a:latin typeface="Liberation Sans"/>
              </a:defRPr>
            </a:pPr>
            <a:r>
              <a:t>Open Data Imperia • Fablab Imperia APS — Linux Day 2026</a:t>
            </a:r>
          </a:p>
        </p:txBody>
      </p:sp>
      <p:sp>
        <p:nvSpPr>
          <p:cNvPr id="9" name="TextBox 8"/>
          <p:cNvSpPr txBox="1"/>
          <p:nvPr/>
        </p:nvSpPr>
        <p:spPr>
          <a:xfrm>
            <a:off x="9601200" y="6400800"/>
            <a:ext cx="1828800" cy="365760"/>
          </a:xfrm>
          <a:prstGeom prst="rect">
            <a:avLst/>
          </a:prstGeom>
          <a:noFill/>
        </p:spPr>
        <p:txBody>
          <a:bodyPr wrap="none" tIns="0" bIns="0" lIns="0" rIns="0">
            <a:spAutoFit/>
          </a:bodyPr>
          <a:lstStyle/>
          <a:p>
            <a:pPr algn="r">
              <a:defRPr sz="1000" b="1">
                <a:solidFill>
                  <a:srgbClr val="0D9488"/>
                </a:solidFill>
                <a:latin typeface="Liberation Sans"/>
              </a:defRPr>
            </a:pPr>
            <a: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tIns="0" bIns="0" lIns="0" rIns="0">
            <a:spAutoFit/>
          </a:bodyPr>
          <a:lstStyle/>
          <a:p>
            <a:pPr>
              <a:spcAft>
                <a:spcPts val="200"/>
              </a:spcAft>
              <a:defRPr sz="1100" b="1">
                <a:solidFill>
                  <a:srgbClr val="0D9488"/>
                </a:solidFill>
                <a:latin typeface="Liberation Sans"/>
              </a:defRPr>
            </a:pPr>
            <a:r>
              <a:t>SEZIONE 2 • LA NORMATIVA ITALIANA ED EUROPEA</a:t>
            </a:r>
          </a:p>
          <a:p>
            <a:pPr>
              <a:spcAft>
                <a:spcPts val="200"/>
              </a:spcAft>
              <a:defRPr sz="2400" b="1">
                <a:solidFill>
                  <a:srgbClr val="0F172A"/>
                </a:solidFill>
                <a:latin typeface="Liberation Sans"/>
              </a:defRPr>
            </a:pPr>
            <a:r>
              <a:t>Le Linee Guida Tecniche AgID (Det. 183/2023)</a:t>
            </a:r>
          </a:p>
          <a:p>
            <a:pPr>
              <a:defRPr sz="1200">
                <a:solidFill>
                  <a:srgbClr val="64748B"/>
                </a:solidFill>
                <a:latin typeface="Liberation Sans"/>
              </a:defRPr>
            </a:pPr>
            <a:r>
              <a:t>Regole tecniche operative emanate dall'Agenzia per l'Italia Digitale ex art. 12 D.Lgs. 36/2006</a:t>
            </a:r>
          </a:p>
        </p:txBody>
      </p:sp>
      <p:sp>
        <p:nvSpPr>
          <p:cNvPr id="4" name="Rectangle 3"/>
          <p:cNvSpPr/>
          <p:nvPr/>
        </p:nvSpPr>
        <p:spPr>
          <a:xfrm>
            <a:off x="731520" y="1737360"/>
            <a:ext cx="5120640" cy="2057400"/>
          </a:xfrm>
          <a:prstGeom prst="rect">
            <a:avLst/>
          </a:prstGeom>
          <a:solidFill>
            <a:srgbClr val="FFFFFF"/>
          </a:solidFill>
          <a:ln w="19050">
            <a:solidFill>
              <a:srgbClr val="0084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01952"/>
            <a:ext cx="4754880" cy="172821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REGOLA TECNICA 1</a:t>
            </a:r>
          </a:p>
          <a:p>
            <a:pPr>
              <a:spcAft>
                <a:spcPts val="600"/>
              </a:spcAft>
              <a:defRPr sz="1500" b="1">
                <a:solidFill>
                  <a:srgbClr val="0F172A"/>
                </a:solidFill>
                <a:latin typeface="Liberation Sans"/>
              </a:defRPr>
            </a:pPr>
            <a:r>
              <a:t>Requisito di Qualità: ≥ 3 Stelle</a:t>
            </a:r>
          </a:p>
          <a:p>
            <a:pPr>
              <a:spcAft>
                <a:spcPts val="400"/>
              </a:spcAft>
            </a:pPr>
            <a:r>
              <a:rPr b="1" sz="1200">
                <a:solidFill>
                  <a:srgbClr val="0F172A"/>
                </a:solidFill>
                <a:latin typeface="Liberation Sans"/>
              </a:rPr>
              <a:t>• Standard Minimo Obbligatorio: </a:t>
            </a:r>
            <a:r>
              <a:rPr sz="1200">
                <a:solidFill>
                  <a:srgbClr val="334155"/>
                </a:solidFill>
                <a:latin typeface="Liberation Sans"/>
              </a:rPr>
              <a:t>I dataset tabellari devono essere rilasciati in formati aperti non proprietari (CSV, JSON, GeoJSON).</a:t>
            </a:r>
          </a:p>
          <a:p>
            <a:pPr>
              <a:spcAft>
                <a:spcPts val="400"/>
              </a:spcAft>
            </a:pPr>
            <a:r>
              <a:rPr b="1" sz="1200">
                <a:solidFill>
                  <a:srgbClr val="0F172A"/>
                </a:solidFill>
                <a:latin typeface="Liberation Sans"/>
              </a:rPr>
              <a:t>• Divieto Formati Chiusi: </a:t>
            </a:r>
            <a:r>
              <a:rPr sz="1200">
                <a:solidFill>
                  <a:srgbClr val="334155"/>
                </a:solidFill>
                <a:latin typeface="Liberation Sans"/>
              </a:rPr>
              <a:t>Non è più ammesso considerare 'open data' una tabella salvata in solo formato proprietario o PDF.</a:t>
            </a:r>
          </a:p>
        </p:txBody>
      </p:sp>
      <p:sp>
        <p:nvSpPr>
          <p:cNvPr id="6" name="Rectangle 5"/>
          <p:cNvSpPr/>
          <p:nvPr/>
        </p:nvSpPr>
        <p:spPr>
          <a:xfrm>
            <a:off x="6217920" y="1737360"/>
            <a:ext cx="5120640" cy="2057400"/>
          </a:xfrm>
          <a:prstGeom prst="rect">
            <a:avLst/>
          </a:prstGeom>
          <a:solidFill>
            <a:srgbClr val="FFFFFF"/>
          </a:solidFill>
          <a:ln w="19050">
            <a:solidFill>
              <a:srgbClr val="0084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901952"/>
            <a:ext cx="4754880" cy="172821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REGOLA TECNICA 2</a:t>
            </a:r>
          </a:p>
          <a:p>
            <a:pPr>
              <a:spcAft>
                <a:spcPts val="600"/>
              </a:spcAft>
              <a:defRPr sz="1500" b="1">
                <a:solidFill>
                  <a:srgbClr val="0F172A"/>
                </a:solidFill>
                <a:latin typeface="Liberation Sans"/>
              </a:defRPr>
            </a:pPr>
            <a:r>
              <a:t>Licenze Esplicite e Standard</a:t>
            </a:r>
          </a:p>
          <a:p>
            <a:pPr>
              <a:spcAft>
                <a:spcPts val="400"/>
              </a:spcAft>
            </a:pPr>
            <a:r>
              <a:rPr b="1" sz="1200">
                <a:solidFill>
                  <a:srgbClr val="0F172A"/>
                </a:solidFill>
                <a:latin typeface="Liberation Sans"/>
              </a:rPr>
              <a:t>• Attribuzione Chiara: </a:t>
            </a:r>
            <a:r>
              <a:rPr sz="1200">
                <a:solidFill>
                  <a:srgbClr val="334155"/>
                </a:solidFill>
                <a:latin typeface="Liberation Sans"/>
              </a:rPr>
              <a:t>Ogni risorsa deve essere corredata da una licenza aperta compatibile con la Open Definition.</a:t>
            </a:r>
          </a:p>
          <a:p>
            <a:pPr>
              <a:spcAft>
                <a:spcPts val="400"/>
              </a:spcAft>
            </a:pPr>
            <a:r>
              <a:rPr b="1" sz="1200">
                <a:solidFill>
                  <a:srgbClr val="0F172A"/>
                </a:solidFill>
                <a:latin typeface="Liberation Sans"/>
              </a:rPr>
              <a:t>• Preferenza Standard: </a:t>
            </a:r>
            <a:r>
              <a:rPr sz="1200">
                <a:solidFill>
                  <a:srgbClr val="334155"/>
                </a:solidFill>
                <a:latin typeface="Liberation Sans"/>
              </a:rPr>
              <a:t>Indicazione di adottare la licenza Creative Commons Attribuzione (CC BY 4.0) come standard predefinito.</a:t>
            </a:r>
          </a:p>
        </p:txBody>
      </p:sp>
      <p:sp>
        <p:nvSpPr>
          <p:cNvPr id="8" name="Rectangle 7"/>
          <p:cNvSpPr/>
          <p:nvPr/>
        </p:nvSpPr>
        <p:spPr>
          <a:xfrm>
            <a:off x="731520" y="4069080"/>
            <a:ext cx="5120640" cy="2057400"/>
          </a:xfrm>
          <a:prstGeom prst="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233672"/>
            <a:ext cx="4754880" cy="172821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REGOLA TECNICA 3</a:t>
            </a:r>
          </a:p>
          <a:p>
            <a:pPr>
              <a:spcAft>
                <a:spcPts val="600"/>
              </a:spcAft>
              <a:defRPr sz="1500" b="1">
                <a:solidFill>
                  <a:srgbClr val="0F172A"/>
                </a:solidFill>
                <a:latin typeface="Liberation Sans"/>
              </a:defRPr>
            </a:pPr>
            <a:r>
              <a:t>API per Dati Dinamici</a:t>
            </a:r>
          </a:p>
          <a:p>
            <a:pPr>
              <a:spcAft>
                <a:spcPts val="400"/>
              </a:spcAft>
            </a:pPr>
            <a:r>
              <a:rPr b="1" sz="1200">
                <a:solidFill>
                  <a:srgbClr val="0F172A"/>
                </a:solidFill>
                <a:latin typeface="Liberation Sans"/>
              </a:rPr>
              <a:t>• Modello di Interoperabilità (ModI): </a:t>
            </a:r>
            <a:r>
              <a:rPr sz="1200">
                <a:solidFill>
                  <a:srgbClr val="334155"/>
                </a:solidFill>
                <a:latin typeface="Liberation Sans"/>
              </a:rPr>
              <a:t>Obbligo di predisporre interfacce applicative REST per i flussi informativi ad aggiornamento frequente.</a:t>
            </a:r>
          </a:p>
          <a:p>
            <a:pPr>
              <a:spcAft>
                <a:spcPts val="400"/>
              </a:spcAft>
            </a:pPr>
            <a:r>
              <a:rPr b="1" sz="1200">
                <a:solidFill>
                  <a:srgbClr val="0F172A"/>
                </a:solidFill>
                <a:latin typeface="Liberation Sans"/>
              </a:rPr>
              <a:t>• Documentazione OpenAPI: </a:t>
            </a:r>
            <a:r>
              <a:rPr sz="1200">
                <a:solidFill>
                  <a:srgbClr val="334155"/>
                </a:solidFill>
                <a:latin typeface="Liberation Sans"/>
              </a:rPr>
              <a:t>Le API devono essere descritte secondo le specifiche OpenAPI 3.0 per consentire l'integrazione immediata.</a:t>
            </a:r>
          </a:p>
        </p:txBody>
      </p:sp>
      <p:sp>
        <p:nvSpPr>
          <p:cNvPr id="10" name="Rectangle 9"/>
          <p:cNvSpPr/>
          <p:nvPr/>
        </p:nvSpPr>
        <p:spPr>
          <a:xfrm>
            <a:off x="6217920" y="4069080"/>
            <a:ext cx="5120640" cy="2057400"/>
          </a:xfrm>
          <a:prstGeom prst="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4233672"/>
            <a:ext cx="4754880" cy="172821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REGOLA TECNICA 4</a:t>
            </a:r>
          </a:p>
          <a:p>
            <a:pPr>
              <a:spcAft>
                <a:spcPts val="600"/>
              </a:spcAft>
              <a:defRPr sz="1500" b="1">
                <a:solidFill>
                  <a:srgbClr val="0F172A"/>
                </a:solidFill>
                <a:latin typeface="Liberation Sans"/>
              </a:defRPr>
            </a:pPr>
            <a:r>
              <a:t>Metadati Conformi a DCAT-AP_IT</a:t>
            </a:r>
          </a:p>
          <a:p>
            <a:pPr>
              <a:spcAft>
                <a:spcPts val="400"/>
              </a:spcAft>
            </a:pPr>
            <a:r>
              <a:rPr b="1" sz="1200">
                <a:solidFill>
                  <a:srgbClr val="0F172A"/>
                </a:solidFill>
                <a:latin typeface="Liberation Sans"/>
              </a:rPr>
              <a:t>• Catalogazione Unificata: </a:t>
            </a:r>
            <a:r>
              <a:rPr sz="1200">
                <a:solidFill>
                  <a:srgbClr val="334155"/>
                </a:solidFill>
                <a:latin typeface="Liberation Sans"/>
              </a:rPr>
              <a:t>Ogni dataset deve essere descritto con i metadati obbligatori del profilo nazionale italiano.</a:t>
            </a:r>
          </a:p>
          <a:p>
            <a:pPr>
              <a:spcAft>
                <a:spcPts val="400"/>
              </a:spcAft>
            </a:pPr>
            <a:r>
              <a:rPr b="1" sz="1200">
                <a:solidFill>
                  <a:srgbClr val="0F172A"/>
                </a:solidFill>
                <a:latin typeface="Liberation Sans"/>
              </a:rPr>
              <a:t>• Federazione Automatica: </a:t>
            </a:r>
            <a:r>
              <a:rPr sz="1200">
                <a:solidFill>
                  <a:srgbClr val="334155"/>
                </a:solidFill>
                <a:latin typeface="Liberation Sans"/>
              </a:rPr>
              <a:t>Permette l'harvesting periodico dal portale nazionale dati.gov.it e dal portale europeo.</a:t>
            </a:r>
          </a:p>
        </p:txBody>
      </p:sp>
      <p:sp>
        <p:nvSpPr>
          <p:cNvPr id="12" name="TextBox 11"/>
          <p:cNvSpPr txBox="1"/>
          <p:nvPr/>
        </p:nvSpPr>
        <p:spPr>
          <a:xfrm>
            <a:off x="731520" y="6400800"/>
            <a:ext cx="10728655" cy="365760"/>
          </a:xfrm>
          <a:prstGeom prst="rect">
            <a:avLst/>
          </a:prstGeom>
          <a:noFill/>
        </p:spPr>
        <p:txBody>
          <a:bodyPr wrap="none" tIns="0" bIns="0" lIns="0" rIns="0">
            <a:spAutoFit/>
          </a:bodyPr>
          <a:lstStyle/>
          <a:p>
            <a:pPr>
              <a:defRPr sz="1000">
                <a:solidFill>
                  <a:srgbClr val="64748B"/>
                </a:solidFill>
                <a:latin typeface="Liberation Sans"/>
              </a:defRPr>
            </a:pPr>
            <a:r>
              <a:t>Open Data Imperia • Fablab Imperia APS — Linux Day 2026</a:t>
            </a:r>
          </a:p>
        </p:txBody>
      </p:sp>
      <p:sp>
        <p:nvSpPr>
          <p:cNvPr id="13" name="TextBox 12"/>
          <p:cNvSpPr txBox="1"/>
          <p:nvPr/>
        </p:nvSpPr>
        <p:spPr>
          <a:xfrm>
            <a:off x="9601200" y="6400800"/>
            <a:ext cx="1828800" cy="365760"/>
          </a:xfrm>
          <a:prstGeom prst="rect">
            <a:avLst/>
          </a:prstGeom>
          <a:noFill/>
        </p:spPr>
        <p:txBody>
          <a:bodyPr wrap="none" tIns="0" bIns="0" lIns="0" rIns="0">
            <a:spAutoFit/>
          </a:bodyPr>
          <a:lstStyle/>
          <a:p>
            <a:pPr algn="r">
              <a:defRPr sz="1000" b="1">
                <a:solidFill>
                  <a:srgbClr val="0D9488"/>
                </a:solidFill>
                <a:latin typeface="Liberation Sans"/>
              </a:defRPr>
            </a:pPr>
            <a: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tIns="0" bIns="0" lIns="0" rIns="0">
            <a:spAutoFit/>
          </a:bodyPr>
          <a:lstStyle/>
          <a:p>
            <a:pPr>
              <a:spcAft>
                <a:spcPts val="200"/>
              </a:spcAft>
              <a:defRPr sz="1100" b="1">
                <a:solidFill>
                  <a:srgbClr val="0D9488"/>
                </a:solidFill>
                <a:latin typeface="Liberation Sans"/>
              </a:defRPr>
            </a:pPr>
            <a:r>
              <a:t>SEZIONE 2 • LA NORMATIVA ITALIANA ED EUROPEA</a:t>
            </a:r>
          </a:p>
          <a:p>
            <a:pPr>
              <a:spcAft>
                <a:spcPts val="200"/>
              </a:spcAft>
              <a:defRPr sz="2400" b="1">
                <a:solidFill>
                  <a:srgbClr val="0F172A"/>
                </a:solidFill>
                <a:latin typeface="Liberation Sans"/>
              </a:defRPr>
            </a:pPr>
            <a:r>
              <a:t>Metadati e Catalogazione: Lo Standard DCAT-AP_IT</a:t>
            </a:r>
          </a:p>
          <a:p>
            <a:pPr>
              <a:defRPr sz="1200">
                <a:solidFill>
                  <a:srgbClr val="64748B"/>
                </a:solidFill>
                <a:latin typeface="Liberation Sans"/>
              </a:defRPr>
            </a:pPr>
            <a:r>
              <a:t>La lingua comune per descrivere i dataset e consentire la ricerca su scala europea</a:t>
            </a:r>
          </a:p>
        </p:txBody>
      </p:sp>
      <p:sp>
        <p:nvSpPr>
          <p:cNvPr id="4" name="Rectangle 3"/>
          <p:cNvSpPr/>
          <p:nvPr/>
        </p:nvSpPr>
        <p:spPr>
          <a:xfrm>
            <a:off x="731520" y="1645920"/>
            <a:ext cx="10728655" cy="777240"/>
          </a:xfrm>
          <a:prstGeom prst="rect">
            <a:avLst/>
          </a:prstGeom>
          <a:solidFill>
            <a:srgbClr val="F0F9FF"/>
          </a:solidFill>
          <a:ln w="19050">
            <a:solidFill>
              <a:srgbClr val="0084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10332720" cy="685800"/>
          </a:xfrm>
          <a:prstGeom prst="rect">
            <a:avLst/>
          </a:prstGeom>
          <a:noFill/>
        </p:spPr>
        <p:txBody>
          <a:bodyPr wrap="none">
            <a:spAutoFit/>
          </a:bodyPr>
          <a:lstStyle/>
          <a:p>
            <a:pPr algn="ctr">
              <a:defRPr sz="1300" b="1">
                <a:solidFill>
                  <a:srgbClr val="0084D1"/>
                </a:solidFill>
                <a:latin typeface="Liberation Sans"/>
              </a:defRPr>
            </a:pPr>
            <a:r>
              <a:t>W3C DCAT (Standard Globale)  ➔  DCAT-AP (Profilo Europeo)  ➔  DCAT-AP_IT (Standard Nazionale AgID)</a:t>
            </a:r>
          </a:p>
        </p:txBody>
      </p:sp>
      <p:sp>
        <p:nvSpPr>
          <p:cNvPr id="6" name="Rectangle 5"/>
          <p:cNvSpPr/>
          <p:nvPr/>
        </p:nvSpPr>
        <p:spPr>
          <a:xfrm>
            <a:off x="731520" y="2606040"/>
            <a:ext cx="5120640" cy="35661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770632"/>
            <a:ext cx="4754880" cy="323697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CAMPI DESCRITTIVI</a:t>
            </a:r>
          </a:p>
          <a:p>
            <a:pPr>
              <a:spcAft>
                <a:spcPts val="600"/>
              </a:spcAft>
              <a:defRPr sz="1500" b="1">
                <a:solidFill>
                  <a:srgbClr val="0F172A"/>
                </a:solidFill>
                <a:latin typeface="Liberation Sans"/>
              </a:defRPr>
            </a:pPr>
            <a:r>
              <a:t>I Metadati Obbligatori di un Dataset</a:t>
            </a:r>
          </a:p>
          <a:p>
            <a:pPr>
              <a:spcAft>
                <a:spcPts val="400"/>
              </a:spcAft>
            </a:pPr>
            <a:r>
              <a:rPr b="1" sz="1200">
                <a:solidFill>
                  <a:srgbClr val="0F172A"/>
                </a:solidFill>
                <a:latin typeface="Liberation Sans"/>
              </a:rPr>
              <a:t>• Identificatore Persistente (URI): </a:t>
            </a:r>
            <a:r>
              <a:rPr sz="1200">
                <a:solidFill>
                  <a:srgbClr val="334155"/>
                </a:solidFill>
                <a:latin typeface="Liberation Sans"/>
              </a:rPr>
              <a:t>Codice univoco immutabile nel tempo.</a:t>
            </a:r>
          </a:p>
          <a:p>
            <a:pPr>
              <a:spcAft>
                <a:spcPts val="400"/>
              </a:spcAft>
            </a:pPr>
            <a:r>
              <a:rPr b="1" sz="1200">
                <a:solidFill>
                  <a:srgbClr val="0F172A"/>
                </a:solidFill>
                <a:latin typeface="Liberation Sans"/>
              </a:rPr>
              <a:t>• Titolo e Descrizione: </a:t>
            </a:r>
            <a:r>
              <a:rPr sz="1200">
                <a:solidFill>
                  <a:srgbClr val="334155"/>
                </a:solidFill>
                <a:latin typeface="Liberation Sans"/>
              </a:rPr>
              <a:t>Descrizione chiara del contenuto, preferibilmente multilingua.</a:t>
            </a:r>
          </a:p>
          <a:p>
            <a:pPr>
              <a:spcAft>
                <a:spcPts val="400"/>
              </a:spcAft>
            </a:pPr>
            <a:r>
              <a:rPr b="1" sz="1200">
                <a:solidFill>
                  <a:srgbClr val="0F172A"/>
                </a:solidFill>
                <a:latin typeface="Liberation Sans"/>
              </a:rPr>
              <a:t>• Titolare ed Editore: </a:t>
            </a:r>
            <a:r>
              <a:rPr sz="1200">
                <a:solidFill>
                  <a:srgbClr val="334155"/>
                </a:solidFill>
                <a:latin typeface="Liberation Sans"/>
              </a:rPr>
              <a:t>Amministrazione o ente legalmente responsabile del dato.</a:t>
            </a:r>
          </a:p>
          <a:p>
            <a:pPr>
              <a:spcAft>
                <a:spcPts val="400"/>
              </a:spcAft>
            </a:pPr>
            <a:r>
              <a:rPr b="1" sz="1200">
                <a:solidFill>
                  <a:srgbClr val="0F172A"/>
                </a:solidFill>
                <a:latin typeface="Liberation Sans"/>
              </a:rPr>
              <a:t>• Classificazione Tematica: </a:t>
            </a:r>
            <a:r>
              <a:rPr sz="1200">
                <a:solidFill>
                  <a:srgbClr val="334155"/>
                </a:solidFill>
                <a:latin typeface="Liberation Sans"/>
              </a:rPr>
              <a:t>Temi Eurovoc (es. Ambiente, Trasporti, Economia).</a:t>
            </a:r>
          </a:p>
          <a:p>
            <a:pPr>
              <a:spcAft>
                <a:spcPts val="400"/>
              </a:spcAft>
            </a:pPr>
            <a:r>
              <a:rPr b="1" sz="1200">
                <a:solidFill>
                  <a:srgbClr val="0F172A"/>
                </a:solidFill>
                <a:latin typeface="Liberation Sans"/>
              </a:rPr>
              <a:t>• Frequenza di Aggiornamento: </a:t>
            </a:r>
            <a:r>
              <a:rPr sz="1200">
                <a:solidFill>
                  <a:srgbClr val="334155"/>
                </a:solidFill>
                <a:latin typeface="Liberation Sans"/>
              </a:rPr>
              <a:t>Vocabolario controllato (es. orario, giornaliero, annuale).</a:t>
            </a:r>
          </a:p>
          <a:p>
            <a:pPr>
              <a:spcAft>
                <a:spcPts val="400"/>
              </a:spcAft>
            </a:pPr>
            <a:r>
              <a:rPr b="1" sz="1200">
                <a:solidFill>
                  <a:srgbClr val="0F172A"/>
                </a:solidFill>
                <a:latin typeface="Liberation Sans"/>
              </a:rPr>
              <a:t>• Distribuzioni: </a:t>
            </a:r>
            <a:r>
              <a:rPr sz="1200">
                <a:solidFill>
                  <a:srgbClr val="334155"/>
                </a:solidFill>
                <a:latin typeface="Liberation Sans"/>
              </a:rPr>
              <a:t>Formati fisici disponibili (CSV, JSON, GeoJSON) con licenza d'uso.</a:t>
            </a:r>
          </a:p>
        </p:txBody>
      </p:sp>
      <p:sp>
        <p:nvSpPr>
          <p:cNvPr id="8" name="Rectangle 7"/>
          <p:cNvSpPr/>
          <p:nvPr/>
        </p:nvSpPr>
        <p:spPr>
          <a:xfrm>
            <a:off x="6217920" y="2606040"/>
            <a:ext cx="5212080" cy="3566160"/>
          </a:xfrm>
          <a:prstGeom prst="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2770632"/>
            <a:ext cx="4846320" cy="323697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INTEROPERABILITÀ</a:t>
            </a:r>
          </a:p>
          <a:p>
            <a:pPr>
              <a:spcAft>
                <a:spcPts val="600"/>
              </a:spcAft>
              <a:defRPr sz="1500" b="1">
                <a:solidFill>
                  <a:srgbClr val="0F172A"/>
                </a:solidFill>
                <a:latin typeface="Liberation Sans"/>
              </a:defRPr>
            </a:pPr>
            <a:r>
              <a:t>La Potenza dell'Harvesting</a:t>
            </a:r>
          </a:p>
          <a:p>
            <a:pPr>
              <a:spcAft>
                <a:spcPts val="400"/>
              </a:spcAft>
            </a:pPr>
            <a:r>
              <a:rPr b="1" sz="1200">
                <a:solidFill>
                  <a:srgbClr val="0F172A"/>
                </a:solidFill>
                <a:latin typeface="Liberation Sans"/>
              </a:rPr>
              <a:t>• Niente Isole Informative: </a:t>
            </a:r>
            <a:r>
              <a:rPr sz="1200">
                <a:solidFill>
                  <a:srgbClr val="334155"/>
                </a:solidFill>
                <a:latin typeface="Liberation Sans"/>
              </a:rPr>
              <a:t>Un catalogo open data non deve essere un silos chiuso; deve poter essere indicizzato da aggregatori esterni.</a:t>
            </a:r>
          </a:p>
          <a:p>
            <a:pPr>
              <a:spcAft>
                <a:spcPts val="400"/>
              </a:spcAft>
            </a:pPr>
            <a:r>
              <a:rPr b="1" sz="1200">
                <a:solidFill>
                  <a:srgbClr val="0F172A"/>
                </a:solidFill>
                <a:latin typeface="Liberation Sans"/>
              </a:rPr>
              <a:t>• Federazione a Cascata: </a:t>
            </a:r>
            <a:r>
              <a:rPr sz="1200">
                <a:solidFill>
                  <a:srgbClr val="334155"/>
                </a:solidFill>
                <a:latin typeface="Liberation Sans"/>
              </a:rPr>
              <a:t>I portali locali vengono 'mietuti' (harvested) periodicamente dal livello superiore:</a:t>
            </a:r>
          </a:p>
          <a:p>
            <a:pPr>
              <a:spcAft>
                <a:spcPts val="400"/>
              </a:spcAft>
            </a:pPr>
            <a:r>
              <a:rPr b="1" sz="1200">
                <a:solidFill>
                  <a:srgbClr val="0F172A"/>
                </a:solidFill>
                <a:latin typeface="Liberation Sans"/>
              </a:rPr>
              <a:t>• Comune / Fablab: </a:t>
            </a:r>
            <a:r>
              <a:rPr sz="1200">
                <a:solidFill>
                  <a:srgbClr val="334155"/>
                </a:solidFill>
                <a:latin typeface="Liberation Sans"/>
              </a:rPr>
              <a:t>➔ Catalogo Regionale (dati.regione.liguria.it)</a:t>
            </a:r>
          </a:p>
          <a:p>
            <a:pPr>
              <a:spcAft>
                <a:spcPts val="400"/>
              </a:spcAft>
            </a:pPr>
            <a:r>
              <a:rPr b="1" sz="1200">
                <a:solidFill>
                  <a:srgbClr val="0F172A"/>
                </a:solidFill>
                <a:latin typeface="Liberation Sans"/>
              </a:rPr>
              <a:t>• Catalogo Regionale: </a:t>
            </a:r>
            <a:r>
              <a:rPr sz="1200">
                <a:solidFill>
                  <a:srgbClr val="334155"/>
                </a:solidFill>
                <a:latin typeface="Liberation Sans"/>
              </a:rPr>
              <a:t>➔ Portale Nazionale (dati.gov.it)</a:t>
            </a:r>
          </a:p>
          <a:p>
            <a:pPr>
              <a:spcAft>
                <a:spcPts val="400"/>
              </a:spcAft>
            </a:pPr>
            <a:r>
              <a:rPr b="1" sz="1200">
                <a:solidFill>
                  <a:srgbClr val="0F172A"/>
                </a:solidFill>
                <a:latin typeface="Liberation Sans"/>
              </a:rPr>
              <a:t>• Portale Nazionale: </a:t>
            </a:r>
            <a:r>
              <a:rPr sz="1200">
                <a:solidFill>
                  <a:srgbClr val="334155"/>
                </a:solidFill>
                <a:latin typeface="Liberation Sans"/>
              </a:rPr>
              <a:t>➔ Portale Dati Europeo (data.europa.eu)</a:t>
            </a:r>
          </a:p>
          <a:p>
            <a:pPr>
              <a:spcAft>
                <a:spcPts val="400"/>
              </a:spcAft>
            </a:pPr>
            <a:r>
              <a:rPr b="1" sz="1200">
                <a:solidFill>
                  <a:srgbClr val="0F172A"/>
                </a:solidFill>
                <a:latin typeface="Liberation Sans"/>
              </a:rPr>
              <a:t>• Visibilità Globale: </a:t>
            </a:r>
            <a:r>
              <a:rPr sz="1200">
                <a:solidFill>
                  <a:srgbClr val="334155"/>
                </a:solidFill>
                <a:latin typeface="Liberation Sans"/>
              </a:rPr>
              <a:t>Un dataset pubblicato a Imperia diventa trovabile da qualsiasi ricercatore a Berlino o Parigi!</a:t>
            </a:r>
          </a:p>
        </p:txBody>
      </p:sp>
      <p:sp>
        <p:nvSpPr>
          <p:cNvPr id="10" name="TextBox 9"/>
          <p:cNvSpPr txBox="1"/>
          <p:nvPr/>
        </p:nvSpPr>
        <p:spPr>
          <a:xfrm>
            <a:off x="731520" y="6400800"/>
            <a:ext cx="10728655" cy="365760"/>
          </a:xfrm>
          <a:prstGeom prst="rect">
            <a:avLst/>
          </a:prstGeom>
          <a:noFill/>
        </p:spPr>
        <p:txBody>
          <a:bodyPr wrap="none" tIns="0" bIns="0" lIns="0" rIns="0">
            <a:spAutoFit/>
          </a:bodyPr>
          <a:lstStyle/>
          <a:p>
            <a:pPr>
              <a:defRPr sz="1000">
                <a:solidFill>
                  <a:srgbClr val="64748B"/>
                </a:solidFill>
                <a:latin typeface="Liberation Sans"/>
              </a:defRPr>
            </a:pPr>
            <a:r>
              <a:t>Open Data Imperia • Fablab Imperia APS — Linux Day 2026</a:t>
            </a:r>
          </a:p>
        </p:txBody>
      </p:sp>
      <p:sp>
        <p:nvSpPr>
          <p:cNvPr id="11" name="TextBox 10"/>
          <p:cNvSpPr txBox="1"/>
          <p:nvPr/>
        </p:nvSpPr>
        <p:spPr>
          <a:xfrm>
            <a:off x="9601200" y="6400800"/>
            <a:ext cx="1828800" cy="365760"/>
          </a:xfrm>
          <a:prstGeom prst="rect">
            <a:avLst/>
          </a:prstGeom>
          <a:noFill/>
        </p:spPr>
        <p:txBody>
          <a:bodyPr wrap="none" tIns="0" bIns="0" lIns="0" rIns="0">
            <a:spAutoFit/>
          </a:bodyPr>
          <a:lstStyle/>
          <a:p>
            <a:pPr algn="r">
              <a:defRPr sz="1000" b="1">
                <a:solidFill>
                  <a:srgbClr val="0D9488"/>
                </a:solidFill>
                <a:latin typeface="Liberation Sans"/>
              </a:defRPr>
            </a:pPr>
            <a: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tIns="0" bIns="0" lIns="0" rIns="0">
            <a:spAutoFit/>
          </a:bodyPr>
          <a:lstStyle/>
          <a:p>
            <a:pPr>
              <a:spcAft>
                <a:spcPts val="200"/>
              </a:spcAft>
              <a:defRPr sz="1100" b="1">
                <a:solidFill>
                  <a:srgbClr val="0D9488"/>
                </a:solidFill>
                <a:latin typeface="Liberation Sans"/>
              </a:defRPr>
            </a:pPr>
            <a:r>
              <a:t>SEZIONE 2 • LA NORMATIVA ITALIANA ED EUROPEA</a:t>
            </a:r>
          </a:p>
          <a:p>
            <a:pPr>
              <a:spcAft>
                <a:spcPts val="200"/>
              </a:spcAft>
              <a:defRPr sz="2400" b="1">
                <a:solidFill>
                  <a:srgbClr val="0F172A"/>
                </a:solidFill>
                <a:latin typeface="Liberation Sans"/>
              </a:defRPr>
            </a:pPr>
            <a:r>
              <a:t>dati.gov.it e l'Ecosistema Federato</a:t>
            </a:r>
          </a:p>
          <a:p>
            <a:pPr>
              <a:defRPr sz="1200">
                <a:solidFill>
                  <a:srgbClr val="64748B"/>
                </a:solidFill>
                <a:latin typeface="Liberation Sans"/>
              </a:defRPr>
            </a:pPr>
            <a:r>
              <a:t>Il catalogo nazionale come punto unico di accesso e il ruolo aggregatore delle Regioni</a:t>
            </a:r>
          </a:p>
        </p:txBody>
      </p:sp>
      <p:sp>
        <p:nvSpPr>
          <p:cNvPr id="4" name="Rectangle 3"/>
          <p:cNvSpPr/>
          <p:nvPr/>
        </p:nvSpPr>
        <p:spPr>
          <a:xfrm>
            <a:off x="731520" y="1737360"/>
            <a:ext cx="512064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01952"/>
            <a:ext cx="475488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PORTALE NAZIONALE</a:t>
            </a:r>
          </a:p>
          <a:p>
            <a:pPr>
              <a:spcAft>
                <a:spcPts val="600"/>
              </a:spcAft>
              <a:defRPr sz="1500" b="1">
                <a:solidFill>
                  <a:srgbClr val="0F172A"/>
                </a:solidFill>
                <a:latin typeface="Liberation Sans"/>
              </a:defRPr>
            </a:pPr>
            <a:r>
              <a:t>dati.gov.it — L'Hub Nazionale</a:t>
            </a:r>
          </a:p>
          <a:p>
            <a:pPr>
              <a:spcAft>
                <a:spcPts val="400"/>
              </a:spcAft>
            </a:pPr>
            <a:r>
              <a:rPr b="1" sz="1200">
                <a:solidFill>
                  <a:srgbClr val="0F172A"/>
                </a:solidFill>
                <a:latin typeface="Liberation Sans"/>
              </a:rPr>
              <a:t>• Riferimento Unico di Legge: </a:t>
            </a:r>
            <a:r>
              <a:rPr sz="1200">
                <a:solidFill>
                  <a:srgbClr val="334155"/>
                </a:solidFill>
                <a:latin typeface="Liberation Sans"/>
              </a:rPr>
              <a:t>Istituito ex art. 1 comma 8 del D.Lgs. 102/2015 come portale nazionale unico per i dati aperti della Pubblica Amministrazione.</a:t>
            </a:r>
          </a:p>
          <a:p>
            <a:pPr>
              <a:spcAft>
                <a:spcPts val="400"/>
              </a:spcAft>
            </a:pPr>
            <a:r>
              <a:rPr b="1" sz="1200">
                <a:solidFill>
                  <a:srgbClr val="0F172A"/>
                </a:solidFill>
                <a:latin typeface="Liberation Sans"/>
              </a:rPr>
              <a:t>• Gestione: </a:t>
            </a:r>
            <a:r>
              <a:rPr sz="1200">
                <a:solidFill>
                  <a:srgbClr val="334155"/>
                </a:solidFill>
                <a:latin typeface="Liberation Sans"/>
              </a:rPr>
              <a:t>Gestito operativamente da AgID e dal Dipartimento per la Trasformazione Digitale.</a:t>
            </a:r>
          </a:p>
          <a:p>
            <a:pPr>
              <a:spcAft>
                <a:spcPts val="400"/>
              </a:spcAft>
            </a:pPr>
            <a:r>
              <a:rPr b="1" sz="1200">
                <a:solidFill>
                  <a:srgbClr val="0F172A"/>
                </a:solidFill>
                <a:latin typeface="Liberation Sans"/>
              </a:rPr>
              <a:t>• Oltre 40.000 Dataset: </a:t>
            </a:r>
            <a:r>
              <a:rPr sz="1200">
                <a:solidFill>
                  <a:srgbClr val="334155"/>
                </a:solidFill>
                <a:latin typeface="Liberation Sans"/>
              </a:rPr>
              <a:t>Raccoglie e indicizza il patrimonio informativo di ministeri, agenzie nazionali, regioni ed enti locali.</a:t>
            </a:r>
          </a:p>
          <a:p>
            <a:pPr>
              <a:spcAft>
                <a:spcPts val="400"/>
              </a:spcAft>
            </a:pPr>
            <a:r>
              <a:rPr b="1" sz="1200">
                <a:solidFill>
                  <a:srgbClr val="0F172A"/>
                </a:solidFill>
                <a:latin typeface="Liberation Sans"/>
              </a:rPr>
              <a:t>• Motore di Ricerca Centrale: </a:t>
            </a:r>
            <a:r>
              <a:rPr sz="1200">
                <a:solidFill>
                  <a:srgbClr val="334155"/>
                </a:solidFill>
                <a:latin typeface="Liberation Sans"/>
              </a:rPr>
              <a:t>Permette ai cittadini di cercare qualsiasi dato pubblico italiano con filtri per tema, ente e formato.</a:t>
            </a:r>
          </a:p>
          <a:p>
            <a:pPr>
              <a:spcAft>
                <a:spcPts val="400"/>
              </a:spcAft>
            </a:pPr>
            <a:r>
              <a:rPr b="1" sz="1200">
                <a:solidFill>
                  <a:srgbClr val="0F172A"/>
                </a:solidFill>
                <a:latin typeface="Liberation Sans"/>
              </a:rPr>
              <a:t>• Standard Tecnologico: </a:t>
            </a:r>
            <a:r>
              <a:rPr sz="1200">
                <a:solidFill>
                  <a:srgbClr val="334155"/>
                </a:solidFill>
                <a:latin typeface="Liberation Sans"/>
              </a:rPr>
              <a:t>Basato interamente su ontologie DCAT-AP_IT e architettura CKAN.</a:t>
            </a:r>
          </a:p>
        </p:txBody>
      </p:sp>
      <p:sp>
        <p:nvSpPr>
          <p:cNvPr id="6" name="Rectangle 5"/>
          <p:cNvSpPr/>
          <p:nvPr/>
        </p:nvSpPr>
        <p:spPr>
          <a:xfrm>
            <a:off x="6217920" y="1737360"/>
            <a:ext cx="5212080" cy="4389120"/>
          </a:xfrm>
          <a:prstGeom prst="rect">
            <a:avLst/>
          </a:prstGeom>
          <a:solidFill>
            <a:srgbClr val="FFFFFF"/>
          </a:solidFill>
          <a:ln w="19050">
            <a:solidFill>
              <a:srgbClr val="0084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901952"/>
            <a:ext cx="484632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TERRITORIO &amp; SINERGIA</a:t>
            </a:r>
          </a:p>
          <a:p>
            <a:pPr>
              <a:spcAft>
                <a:spcPts val="600"/>
              </a:spcAft>
              <a:defRPr sz="1500" b="1">
                <a:solidFill>
                  <a:srgbClr val="0F172A"/>
                </a:solidFill>
                <a:latin typeface="Liberation Sans"/>
              </a:defRPr>
            </a:pPr>
            <a:r>
              <a:t>Regione Liguria e la Sinergia Locale</a:t>
            </a:r>
          </a:p>
          <a:p>
            <a:pPr>
              <a:spcAft>
                <a:spcPts val="400"/>
              </a:spcAft>
            </a:pPr>
            <a:r>
              <a:rPr b="1" sz="1200">
                <a:solidFill>
                  <a:srgbClr val="0F172A"/>
                </a:solidFill>
                <a:latin typeface="Liberation Sans"/>
              </a:rPr>
              <a:t>• Aggregatori Territoriali: </a:t>
            </a:r>
            <a:r>
              <a:rPr sz="1200">
                <a:solidFill>
                  <a:srgbClr val="334155"/>
                </a:solidFill>
                <a:latin typeface="Liberation Sans"/>
              </a:rPr>
              <a:t>Le Regioni svolgono il ruolo strategico di raccogliere e validare i dati dei comuni del proprio territorio.</a:t>
            </a:r>
          </a:p>
          <a:p>
            <a:pPr>
              <a:spcAft>
                <a:spcPts val="400"/>
              </a:spcAft>
            </a:pPr>
            <a:r>
              <a:rPr b="1" sz="1200">
                <a:solidFill>
                  <a:srgbClr val="0F172A"/>
                </a:solidFill>
                <a:latin typeface="Liberation Sans"/>
              </a:rPr>
              <a:t>• dati.regione.liguria.it: </a:t>
            </a:r>
            <a:r>
              <a:rPr sz="1200">
                <a:solidFill>
                  <a:srgbClr val="334155"/>
                </a:solidFill>
                <a:latin typeface="Liberation Sans"/>
              </a:rPr>
              <a:t>Il catalogo ufficiale ligure, anch'esso implementato sulla solida piattaforma open source CKAN.</a:t>
            </a:r>
          </a:p>
          <a:p>
            <a:pPr>
              <a:spcAft>
                <a:spcPts val="400"/>
              </a:spcAft>
            </a:pPr>
            <a:r>
              <a:rPr b="1" sz="1200">
                <a:solidFill>
                  <a:srgbClr val="0F172A"/>
                </a:solidFill>
                <a:latin typeface="Liberation Sans"/>
              </a:rPr>
              <a:t>• La Sinergia di Open Data Imperia: </a:t>
            </a:r>
            <a:r>
              <a:rPr sz="1200">
                <a:solidFill>
                  <a:srgbClr val="334155"/>
                </a:solidFill>
                <a:latin typeface="Liberation Sans"/>
              </a:rPr>
              <a:t>Il nostro progetto nasce con la medesima impostazione architetturale di CKAN e schemi compatibili.</a:t>
            </a:r>
          </a:p>
          <a:p>
            <a:pPr>
              <a:spcAft>
                <a:spcPts val="400"/>
              </a:spcAft>
            </a:pPr>
            <a:r>
              <a:rPr b="1" sz="1200">
                <a:solidFill>
                  <a:srgbClr val="0F172A"/>
                </a:solidFill>
                <a:latin typeface="Liberation Sans"/>
              </a:rPr>
              <a:t>• Complementarità: </a:t>
            </a:r>
            <a:r>
              <a:rPr sz="1200">
                <a:solidFill>
                  <a:srgbClr val="334155"/>
                </a:solidFill>
                <a:latin typeface="Liberation Sans"/>
              </a:rPr>
              <a:t>Non siamo in concorrenza con la Regione: facilitiamo l'estrazione e la normalizzazione di dati imperiesi che oggi mancano nel catalogo regionale.</a:t>
            </a:r>
          </a:p>
        </p:txBody>
      </p:sp>
      <p:sp>
        <p:nvSpPr>
          <p:cNvPr id="8" name="TextBox 7"/>
          <p:cNvSpPr txBox="1"/>
          <p:nvPr/>
        </p:nvSpPr>
        <p:spPr>
          <a:xfrm>
            <a:off x="731520" y="6400800"/>
            <a:ext cx="10728655" cy="365760"/>
          </a:xfrm>
          <a:prstGeom prst="rect">
            <a:avLst/>
          </a:prstGeom>
          <a:noFill/>
        </p:spPr>
        <p:txBody>
          <a:bodyPr wrap="none" tIns="0" bIns="0" lIns="0" rIns="0">
            <a:spAutoFit/>
          </a:bodyPr>
          <a:lstStyle/>
          <a:p>
            <a:pPr>
              <a:defRPr sz="1000">
                <a:solidFill>
                  <a:srgbClr val="64748B"/>
                </a:solidFill>
                <a:latin typeface="Liberation Sans"/>
              </a:defRPr>
            </a:pPr>
            <a:r>
              <a:t>Open Data Imperia • Fablab Imperia APS — Linux Day 2026</a:t>
            </a:r>
          </a:p>
        </p:txBody>
      </p:sp>
      <p:sp>
        <p:nvSpPr>
          <p:cNvPr id="9" name="TextBox 8"/>
          <p:cNvSpPr txBox="1"/>
          <p:nvPr/>
        </p:nvSpPr>
        <p:spPr>
          <a:xfrm>
            <a:off x="9601200" y="6400800"/>
            <a:ext cx="1828800" cy="365760"/>
          </a:xfrm>
          <a:prstGeom prst="rect">
            <a:avLst/>
          </a:prstGeom>
          <a:noFill/>
        </p:spPr>
        <p:txBody>
          <a:bodyPr wrap="none" tIns="0" bIns="0" lIns="0" rIns="0">
            <a:spAutoFit/>
          </a:bodyPr>
          <a:lstStyle/>
          <a:p>
            <a:pPr algn="r">
              <a:defRPr sz="1000" b="1">
                <a:solidFill>
                  <a:srgbClr val="0D9488"/>
                </a:solidFill>
                <a:latin typeface="Liberation Sans"/>
              </a:defRPr>
            </a:pPr>
            <a: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tIns="0" bIns="0" lIns="0" rIns="0">
            <a:spAutoFit/>
          </a:bodyPr>
          <a:lstStyle/>
          <a:p>
            <a:pPr>
              <a:spcAft>
                <a:spcPts val="200"/>
              </a:spcAft>
              <a:defRPr sz="1100" b="1">
                <a:solidFill>
                  <a:srgbClr val="0D9488"/>
                </a:solidFill>
                <a:latin typeface="Liberation Sans"/>
              </a:defRPr>
            </a:pPr>
            <a:r>
              <a:t>SEZIONE 2 • LA NORMATIVA ITALIANA ED EUROPEA</a:t>
            </a:r>
          </a:p>
          <a:p>
            <a:pPr>
              <a:spcAft>
                <a:spcPts val="200"/>
              </a:spcAft>
              <a:defRPr sz="2400" b="1">
                <a:solidFill>
                  <a:srgbClr val="0F172A"/>
                </a:solidFill>
                <a:latin typeface="Liberation Sans"/>
              </a:defRPr>
            </a:pPr>
            <a:r>
              <a:t>Le Licenze per gli Open Data</a:t>
            </a:r>
          </a:p>
          <a:p>
            <a:pPr>
              <a:defRPr sz="1200">
                <a:solidFill>
                  <a:srgbClr val="64748B"/>
                </a:solidFill>
                <a:latin typeface="Liberation Sans"/>
              </a:defRPr>
            </a:pPr>
            <a:r>
              <a:t>Senza una licenza esplicita il dato non è utilizzabile: la scelta di Open Data Imperia</a:t>
            </a:r>
          </a:p>
        </p:txBody>
      </p:sp>
      <p:sp>
        <p:nvSpPr>
          <p:cNvPr id="4" name="Rectangle 3"/>
          <p:cNvSpPr/>
          <p:nvPr/>
        </p:nvSpPr>
        <p:spPr>
          <a:xfrm>
            <a:off x="731520" y="1737360"/>
            <a:ext cx="342900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01952"/>
            <a:ext cx="306324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STANDARD GLOBALE</a:t>
            </a:r>
          </a:p>
          <a:p>
            <a:pPr>
              <a:spcAft>
                <a:spcPts val="600"/>
              </a:spcAft>
              <a:defRPr sz="1500" b="1">
                <a:solidFill>
                  <a:srgbClr val="0F172A"/>
                </a:solidFill>
                <a:latin typeface="Liberation Sans"/>
              </a:defRPr>
            </a:pPr>
            <a:r>
              <a:t>Creative Commons (CC)</a:t>
            </a:r>
          </a:p>
          <a:p>
            <a:pPr>
              <a:spcAft>
                <a:spcPts val="400"/>
              </a:spcAft>
            </a:pPr>
            <a:r>
              <a:rPr b="1" sz="1200">
                <a:solidFill>
                  <a:srgbClr val="0F172A"/>
                </a:solidFill>
                <a:latin typeface="Liberation Sans"/>
              </a:rPr>
              <a:t>• CC BY 4.0 (Attribuzione): </a:t>
            </a:r>
            <a:r>
              <a:rPr sz="1200">
                <a:solidFill>
                  <a:srgbClr val="334155"/>
                </a:solidFill>
                <a:latin typeface="Liberation Sans"/>
              </a:rPr>
              <a:t>Lo standard de facto mondiale per gli open data. Permette qualsiasi riutilizzo, modifica e redistribuzione anche commerciale, con il solo obbligo di citare la fonte.</a:t>
            </a:r>
          </a:p>
          <a:p>
            <a:pPr>
              <a:spcAft>
                <a:spcPts val="400"/>
              </a:spcAft>
            </a:pPr>
            <a:r>
              <a:rPr b="1" sz="1200">
                <a:solidFill>
                  <a:srgbClr val="0F172A"/>
                </a:solidFill>
                <a:latin typeface="Liberation Sans"/>
              </a:rPr>
              <a:t>• CC BY-SA 4.0 (Condividi allo stesso modo): </a:t>
            </a:r>
            <a:r>
              <a:rPr sz="1200">
                <a:solidFill>
                  <a:srgbClr val="334155"/>
                </a:solidFill>
                <a:latin typeface="Liberation Sans"/>
              </a:rPr>
              <a:t>Clausola copyleft: impone di redistribuire i lavori derivati con la stessa licenza.</a:t>
            </a:r>
          </a:p>
          <a:p>
            <a:pPr>
              <a:spcAft>
                <a:spcPts val="400"/>
              </a:spcAft>
            </a:pPr>
            <a:r>
              <a:rPr b="1" sz="1200">
                <a:solidFill>
                  <a:srgbClr val="0F172A"/>
                </a:solidFill>
                <a:latin typeface="Liberation Sans"/>
              </a:rPr>
              <a:t>• CC0 1.0 (Public Domain): </a:t>
            </a:r>
            <a:r>
              <a:rPr sz="1200">
                <a:solidFill>
                  <a:srgbClr val="334155"/>
                </a:solidFill>
                <a:latin typeface="Liberation Sans"/>
              </a:rPr>
              <a:t>Rinuncia totale a ogni diritto di copyright; massima libertà possibile.</a:t>
            </a:r>
          </a:p>
        </p:txBody>
      </p:sp>
      <p:sp>
        <p:nvSpPr>
          <p:cNvPr id="6" name="Rectangle 5"/>
          <p:cNvSpPr/>
          <p:nvPr/>
        </p:nvSpPr>
        <p:spPr>
          <a:xfrm>
            <a:off x="4389120" y="1737360"/>
            <a:ext cx="342900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901952"/>
            <a:ext cx="306324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CONTESTO ITALIA</a:t>
            </a:r>
          </a:p>
          <a:p>
            <a:pPr>
              <a:spcAft>
                <a:spcPts val="600"/>
              </a:spcAft>
              <a:defRPr sz="1500" b="1">
                <a:solidFill>
                  <a:srgbClr val="0F172A"/>
                </a:solidFill>
                <a:latin typeface="Liberation Sans"/>
              </a:defRPr>
            </a:pPr>
            <a:r>
              <a:t>Licenze Nazionali &amp; Specializzate</a:t>
            </a:r>
          </a:p>
          <a:p>
            <a:pPr>
              <a:spcAft>
                <a:spcPts val="400"/>
              </a:spcAft>
            </a:pPr>
            <a:r>
              <a:rPr b="1" sz="1200">
                <a:solidFill>
                  <a:srgbClr val="0F172A"/>
                </a:solidFill>
                <a:latin typeface="Liberation Sans"/>
              </a:rPr>
              <a:t>• IODL 2.0 (Italian Open Data License): </a:t>
            </a:r>
            <a:r>
              <a:rPr sz="1200">
                <a:solidFill>
                  <a:srgbClr val="334155"/>
                </a:solidFill>
                <a:latin typeface="Liberation Sans"/>
              </a:rPr>
              <a:t>Sviluppata da AgID appositamente per il settore pubblico italiano; sostanzialmente equivalente a una CC BY.</a:t>
            </a:r>
          </a:p>
          <a:p>
            <a:pPr>
              <a:spcAft>
                <a:spcPts val="400"/>
              </a:spcAft>
            </a:pPr>
            <a:r>
              <a:rPr b="1" sz="1200">
                <a:solidFill>
                  <a:srgbClr val="0F172A"/>
                </a:solidFill>
                <a:latin typeface="Liberation Sans"/>
              </a:rPr>
              <a:t>• ODbL / ODC-By: </a:t>
            </a:r>
            <a:r>
              <a:rPr sz="1200">
                <a:solidFill>
                  <a:srgbClr val="334155"/>
                </a:solidFill>
                <a:latin typeface="Liberation Sans"/>
              </a:rPr>
              <a:t>Licenze specializzate per banche dati create dalla Open Data Commons (utilizzate ad esempio dal progetto globale OpenStreetMap).</a:t>
            </a:r>
          </a:p>
          <a:p>
            <a:pPr>
              <a:spcAft>
                <a:spcPts val="400"/>
              </a:spcAft>
            </a:pPr>
            <a:r>
              <a:rPr b="1" sz="1200">
                <a:solidFill>
                  <a:srgbClr val="0F172A"/>
                </a:solidFill>
                <a:latin typeface="Liberation Sans"/>
              </a:rPr>
              <a:t>• Compatibilità: </a:t>
            </a:r>
            <a:r>
              <a:rPr sz="1200">
                <a:solidFill>
                  <a:srgbClr val="334155"/>
                </a:solidFill>
                <a:latin typeface="Liberation Sans"/>
              </a:rPr>
              <a:t>Tutte conformi alla Open Definition.</a:t>
            </a:r>
          </a:p>
        </p:txBody>
      </p:sp>
      <p:sp>
        <p:nvSpPr>
          <p:cNvPr id="8" name="Rectangle 7"/>
          <p:cNvSpPr/>
          <p:nvPr/>
        </p:nvSpPr>
        <p:spPr>
          <a:xfrm>
            <a:off x="8046720" y="1737360"/>
            <a:ext cx="3429000" cy="4389120"/>
          </a:xfrm>
          <a:prstGeom prst="rect">
            <a:avLst/>
          </a:prstGeom>
          <a:solidFill>
            <a:srgbClr val="FFFFFF"/>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901952"/>
            <a:ext cx="306324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SCELTA OPEN DATA IMPERIA</a:t>
            </a:r>
          </a:p>
          <a:p>
            <a:pPr>
              <a:spcAft>
                <a:spcPts val="600"/>
              </a:spcAft>
              <a:defRPr sz="1500" b="1">
                <a:solidFill>
                  <a:srgbClr val="0F172A"/>
                </a:solidFill>
                <a:latin typeface="Liberation Sans"/>
              </a:defRPr>
            </a:pPr>
            <a:r>
              <a:t>La Scelta del Nostro Portale</a:t>
            </a:r>
          </a:p>
          <a:p>
            <a:pPr>
              <a:spcAft>
                <a:spcPts val="400"/>
              </a:spcAft>
            </a:pPr>
            <a:r>
              <a:rPr b="1" sz="1200">
                <a:solidFill>
                  <a:srgbClr val="0F172A"/>
                </a:solidFill>
                <a:latin typeface="Liberation Sans"/>
              </a:rPr>
              <a:t>• Licenza di Default CC BY 4.0: </a:t>
            </a:r>
            <a:r>
              <a:rPr sz="1200">
                <a:solidFill>
                  <a:srgbClr val="334155"/>
                </a:solidFill>
                <a:latin typeface="Liberation Sans"/>
              </a:rPr>
              <a:t>Nel portale Open Data Imperia tutti i nuovi dataset vengono rilasciati automaticamente con licenza Creative Commons Attribuzione 4.0.</a:t>
            </a:r>
          </a:p>
          <a:p>
            <a:pPr>
              <a:spcAft>
                <a:spcPts val="400"/>
              </a:spcAft>
            </a:pPr>
            <a:r>
              <a:rPr b="1" sz="1200">
                <a:solidFill>
                  <a:srgbClr val="0F172A"/>
                </a:solidFill>
                <a:latin typeface="Liberation Sans"/>
              </a:rPr>
              <a:t>• Attenzione alla Clausola 'NC': </a:t>
            </a:r>
            <a:r>
              <a:rPr sz="1200">
                <a:solidFill>
                  <a:srgbClr val="334155"/>
                </a:solidFill>
                <a:latin typeface="Liberation Sans"/>
              </a:rPr>
              <a:t>Le licenze con vincolo Non-Commerciale (es. CC BY-NC) NON sono Open Data! Bloccano aziende, artigiani e testate giornalistiche.</a:t>
            </a:r>
          </a:p>
          <a:p>
            <a:pPr>
              <a:spcAft>
                <a:spcPts val="400"/>
              </a:spcAft>
            </a:pPr>
            <a:r>
              <a:rPr b="1" sz="1200">
                <a:solidFill>
                  <a:srgbClr val="0F172A"/>
                </a:solidFill>
                <a:latin typeface="Liberation Sans"/>
              </a:rPr>
              <a:t>• Certezza Giuridica: </a:t>
            </a:r>
            <a:r>
              <a:rPr sz="1200">
                <a:solidFill>
                  <a:srgbClr val="334155"/>
                </a:solidFill>
                <a:latin typeface="Liberation Sans"/>
              </a:rPr>
              <a:t>Offriamo piena sicurezza legale a chiunque voglia riutilizzare i nostri dati.</a:t>
            </a:r>
          </a:p>
        </p:txBody>
      </p:sp>
      <p:sp>
        <p:nvSpPr>
          <p:cNvPr id="10" name="TextBox 9"/>
          <p:cNvSpPr txBox="1"/>
          <p:nvPr/>
        </p:nvSpPr>
        <p:spPr>
          <a:xfrm>
            <a:off x="731520" y="6400800"/>
            <a:ext cx="10728655" cy="365760"/>
          </a:xfrm>
          <a:prstGeom prst="rect">
            <a:avLst/>
          </a:prstGeom>
          <a:noFill/>
        </p:spPr>
        <p:txBody>
          <a:bodyPr wrap="none" tIns="0" bIns="0" lIns="0" rIns="0">
            <a:spAutoFit/>
          </a:bodyPr>
          <a:lstStyle/>
          <a:p>
            <a:pPr>
              <a:defRPr sz="1000">
                <a:solidFill>
                  <a:srgbClr val="64748B"/>
                </a:solidFill>
                <a:latin typeface="Liberation Sans"/>
              </a:defRPr>
            </a:pPr>
            <a:r>
              <a:t>Open Data Imperia • Fablab Imperia APS — Linux Day 2026</a:t>
            </a:r>
          </a:p>
        </p:txBody>
      </p:sp>
      <p:sp>
        <p:nvSpPr>
          <p:cNvPr id="11" name="TextBox 10"/>
          <p:cNvSpPr txBox="1"/>
          <p:nvPr/>
        </p:nvSpPr>
        <p:spPr>
          <a:xfrm>
            <a:off x="9601200" y="6400800"/>
            <a:ext cx="1828800" cy="365760"/>
          </a:xfrm>
          <a:prstGeom prst="rect">
            <a:avLst/>
          </a:prstGeom>
          <a:noFill/>
        </p:spPr>
        <p:txBody>
          <a:bodyPr wrap="none" tIns="0" bIns="0" lIns="0" rIns="0">
            <a:spAutoFit/>
          </a:bodyPr>
          <a:lstStyle/>
          <a:p>
            <a:pPr algn="r">
              <a:defRPr sz="1000" b="1">
                <a:solidFill>
                  <a:srgbClr val="0D9488"/>
                </a:solidFill>
                <a:latin typeface="Liberation Sans"/>
              </a:defRPr>
            </a:pPr>
            <a: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tIns="0" bIns="0" lIns="0" rIns="0">
            <a:spAutoFit/>
          </a:bodyPr>
          <a:lstStyle/>
          <a:p>
            <a:pPr>
              <a:spcAft>
                <a:spcPts val="200"/>
              </a:spcAft>
              <a:defRPr sz="1100" b="1">
                <a:solidFill>
                  <a:srgbClr val="0D9488"/>
                </a:solidFill>
                <a:latin typeface="Liberation Sans"/>
              </a:defRPr>
            </a:pPr>
            <a:r>
              <a:t>SEZIONE 3 • IL PROGETTO OPEN DATA IMPERIA</a:t>
            </a:r>
          </a:p>
          <a:p>
            <a:pPr>
              <a:spcAft>
                <a:spcPts val="200"/>
              </a:spcAft>
              <a:defRPr sz="2400" b="1">
                <a:solidFill>
                  <a:srgbClr val="0F172A"/>
                </a:solidFill>
                <a:latin typeface="Liberation Sans"/>
              </a:defRPr>
            </a:pPr>
            <a:r>
              <a:t>Il Progetto Open Data Imperia: Dalla Teoria al Codice</a:t>
            </a:r>
          </a:p>
          <a:p>
            <a:pPr>
              <a:defRPr sz="1200">
                <a:solidFill>
                  <a:srgbClr val="64748B"/>
                </a:solidFill>
                <a:latin typeface="Liberation Sans"/>
              </a:defRPr>
            </a:pPr>
            <a:r>
              <a:t>Un'infrastruttura civica indipendente, aperta e riproducibile al servizio del Ponente Ligure</a:t>
            </a:r>
          </a:p>
        </p:txBody>
      </p:sp>
      <p:sp>
        <p:nvSpPr>
          <p:cNvPr id="4" name="Rectangle 3"/>
          <p:cNvSpPr/>
          <p:nvPr/>
        </p:nvSpPr>
        <p:spPr>
          <a:xfrm>
            <a:off x="731520" y="1737360"/>
            <a:ext cx="342900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01952"/>
            <a:ext cx="306324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CHI SIAMO</a:t>
            </a:r>
          </a:p>
          <a:p>
            <a:pPr>
              <a:spcAft>
                <a:spcPts val="600"/>
              </a:spcAft>
              <a:defRPr sz="1500" b="1">
                <a:solidFill>
                  <a:srgbClr val="0F172A"/>
                </a:solidFill>
                <a:latin typeface="Liberation Sans"/>
              </a:defRPr>
            </a:pPr>
            <a:r>
              <a:t>Iniziativa Civica del Fablab</a:t>
            </a:r>
          </a:p>
          <a:p>
            <a:pPr>
              <a:spcAft>
                <a:spcPts val="400"/>
              </a:spcAft>
            </a:pPr>
            <a:r>
              <a:rPr b="1" sz="1200">
                <a:solidFill>
                  <a:srgbClr val="0F172A"/>
                </a:solidFill>
                <a:latin typeface="Liberation Sans"/>
              </a:rPr>
              <a:t>• Fablab Imperia APS: </a:t>
            </a:r>
            <a:r>
              <a:rPr sz="1200">
                <a:solidFill>
                  <a:srgbClr val="334155"/>
                </a:solidFill>
                <a:latin typeface="Liberation Sans"/>
              </a:rPr>
              <a:t>Nata dall'impegno dei volontari dell'associazione per colmare il vuoto di dati aperti strutturati nella nostra provincia.</a:t>
            </a:r>
          </a:p>
          <a:p>
            <a:pPr>
              <a:spcAft>
                <a:spcPts val="400"/>
              </a:spcAft>
            </a:pPr>
            <a:r>
              <a:rPr b="1" sz="1200">
                <a:solidFill>
                  <a:srgbClr val="0F172A"/>
                </a:solidFill>
                <a:latin typeface="Liberation Sans"/>
              </a:rPr>
              <a:t>• Laboratorio Digitale: </a:t>
            </a:r>
            <a:r>
              <a:rPr sz="1200">
                <a:solidFill>
                  <a:srgbClr val="334155"/>
                </a:solidFill>
                <a:latin typeface="Liberation Sans"/>
              </a:rPr>
              <a:t>Non aspettare che qualcun altro faccia le cose: sperimentare in prima persona le tecnologie libere a beneficio della comunità.</a:t>
            </a:r>
          </a:p>
          <a:p>
            <a:pPr>
              <a:spcAft>
                <a:spcPts val="400"/>
              </a:spcAft>
            </a:pPr>
            <a:r>
              <a:rPr b="1" sz="1200">
                <a:solidFill>
                  <a:srgbClr val="0F172A"/>
                </a:solidFill>
                <a:latin typeface="Liberation Sans"/>
              </a:rPr>
              <a:t>• Neutralità ed Etica: </a:t>
            </a:r>
            <a:r>
              <a:rPr sz="1200">
                <a:solidFill>
                  <a:srgbClr val="334155"/>
                </a:solidFill>
                <a:latin typeface="Liberation Sans"/>
              </a:rPr>
              <a:t>Nessun fine di lucro; unico obiettivo è diffondere la cultura dei beni comuni digitali.</a:t>
            </a:r>
          </a:p>
        </p:txBody>
      </p:sp>
      <p:sp>
        <p:nvSpPr>
          <p:cNvPr id="6" name="Rectangle 5"/>
          <p:cNvSpPr/>
          <p:nvPr/>
        </p:nvSpPr>
        <p:spPr>
          <a:xfrm>
            <a:off x="4389120" y="1737360"/>
            <a:ext cx="3429000" cy="4389120"/>
          </a:xfrm>
          <a:prstGeom prst="rect">
            <a:avLst/>
          </a:prstGeom>
          <a:solidFill>
            <a:srgbClr val="FFFFFF"/>
          </a:solidFill>
          <a:ln w="19050">
            <a:solidFill>
              <a:srgbClr val="0084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901952"/>
            <a:ext cx="306324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COSA VOGLIAMO FARE</a:t>
            </a:r>
          </a:p>
          <a:p>
            <a:pPr>
              <a:spcAft>
                <a:spcPts val="600"/>
              </a:spcAft>
              <a:defRPr sz="1500" b="1">
                <a:solidFill>
                  <a:srgbClr val="0F172A"/>
                </a:solidFill>
                <a:latin typeface="Liberation Sans"/>
              </a:defRPr>
            </a:pPr>
            <a:r>
              <a:t>Obiettivi Operativi</a:t>
            </a:r>
          </a:p>
          <a:p>
            <a:pPr>
              <a:spcAft>
                <a:spcPts val="400"/>
              </a:spcAft>
            </a:pPr>
            <a:r>
              <a:rPr b="1" sz="1200">
                <a:solidFill>
                  <a:srgbClr val="0F172A"/>
                </a:solidFill>
                <a:latin typeface="Liberation Sans"/>
              </a:rPr>
              <a:t>• Trovabili e Indicizzati: </a:t>
            </a:r>
            <a:r>
              <a:rPr sz="1200">
                <a:solidFill>
                  <a:srgbClr val="334155"/>
                </a:solidFill>
                <a:latin typeface="Liberation Sans"/>
              </a:rPr>
              <a:t>Creare un unico punto d'accesso per i dataset del comprensorio imperiese.</a:t>
            </a:r>
          </a:p>
          <a:p>
            <a:pPr>
              <a:spcAft>
                <a:spcPts val="400"/>
              </a:spcAft>
            </a:pPr>
            <a:r>
              <a:rPr b="1" sz="1200">
                <a:solidFill>
                  <a:srgbClr val="0F172A"/>
                </a:solidFill>
                <a:latin typeface="Liberation Sans"/>
              </a:rPr>
              <a:t>• Raccolta Automatizzata: </a:t>
            </a:r>
            <a:r>
              <a:rPr sz="1200">
                <a:solidFill>
                  <a:srgbClr val="334155"/>
                </a:solidFill>
                <a:latin typeface="Liberation Sans"/>
              </a:rPr>
              <a:t>Evitare l'inserimento manuale: sviluppare codice Python schedulato (collector) per acquisire dati sempre aggiornati.</a:t>
            </a:r>
          </a:p>
          <a:p>
            <a:pPr>
              <a:spcAft>
                <a:spcPts val="400"/>
              </a:spcAft>
            </a:pPr>
            <a:r>
              <a:rPr b="1" sz="1200">
                <a:solidFill>
                  <a:srgbClr val="0F172A"/>
                </a:solidFill>
                <a:latin typeface="Liberation Sans"/>
              </a:rPr>
              <a:t>• Conformità Normativa: </a:t>
            </a:r>
            <a:r>
              <a:rPr sz="1200">
                <a:solidFill>
                  <a:srgbClr val="334155"/>
                </a:solidFill>
                <a:latin typeface="Liberation Sans"/>
              </a:rPr>
              <a:t>Implementare fin dall'inizio metadati a 3 stelle AgID, licenze aperte e connettori DCAT-AP_IT.</a:t>
            </a:r>
          </a:p>
        </p:txBody>
      </p:sp>
      <p:sp>
        <p:nvSpPr>
          <p:cNvPr id="8" name="Rectangle 7"/>
          <p:cNvSpPr/>
          <p:nvPr/>
        </p:nvSpPr>
        <p:spPr>
          <a:xfrm>
            <a:off x="8046720" y="1737360"/>
            <a:ext cx="342900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901952"/>
            <a:ext cx="306324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RIUSO APERTO</a:t>
            </a:r>
          </a:p>
          <a:p>
            <a:pPr>
              <a:spcAft>
                <a:spcPts val="600"/>
              </a:spcAft>
              <a:defRPr sz="1500" b="1">
                <a:solidFill>
                  <a:srgbClr val="0F172A"/>
                </a:solidFill>
                <a:latin typeface="Liberation Sans"/>
              </a:defRPr>
            </a:pPr>
            <a:r>
              <a:t>Libero e Replicabile</a:t>
            </a:r>
          </a:p>
          <a:p>
            <a:pPr>
              <a:spcAft>
                <a:spcPts val="400"/>
              </a:spcAft>
            </a:pPr>
            <a:r>
              <a:rPr b="1" sz="1200">
                <a:solidFill>
                  <a:srgbClr val="0F172A"/>
                </a:solidFill>
                <a:latin typeface="Liberation Sans"/>
              </a:rPr>
              <a:t>• Licenza AGPLv3: </a:t>
            </a:r>
            <a:r>
              <a:rPr sz="1200">
                <a:solidFill>
                  <a:srgbClr val="334155"/>
                </a:solidFill>
                <a:latin typeface="Liberation Sans"/>
              </a:rPr>
              <a:t>Codice sorgente 100% aperto, pubblicato su GitHub e liberamente ispezionabile.</a:t>
            </a:r>
          </a:p>
          <a:p>
            <a:pPr>
              <a:spcAft>
                <a:spcPts val="400"/>
              </a:spcAft>
            </a:pPr>
            <a:r>
              <a:rPr b="1" sz="1200">
                <a:solidFill>
                  <a:srgbClr val="0F172A"/>
                </a:solidFill>
                <a:latin typeface="Liberation Sans"/>
              </a:rPr>
              <a:t>• Stack Containerizzato: </a:t>
            </a:r>
            <a:r>
              <a:rPr sz="1200">
                <a:solidFill>
                  <a:srgbClr val="334155"/>
                </a:solidFill>
                <a:latin typeface="Liberation Sans"/>
              </a:rPr>
              <a:t>Tutto impacchettato con Docker Compose: chiunque può avviare il portale con un solo comando.</a:t>
            </a:r>
          </a:p>
          <a:p>
            <a:pPr>
              <a:spcAft>
                <a:spcPts val="400"/>
              </a:spcAft>
            </a:pPr>
            <a:r>
              <a:rPr b="1" sz="1200">
                <a:solidFill>
                  <a:srgbClr val="0F172A"/>
                </a:solidFill>
                <a:latin typeface="Liberation Sans"/>
              </a:rPr>
              <a:t>• Pronto per Altri Comuni: </a:t>
            </a:r>
            <a:r>
              <a:rPr sz="1200">
                <a:solidFill>
                  <a:srgbClr val="334155"/>
                </a:solidFill>
                <a:latin typeface="Liberation Sans"/>
              </a:rPr>
              <a:t>Pensato come modello pilota facilmente esportabile in altre città o comprensori italiani.</a:t>
            </a:r>
          </a:p>
        </p:txBody>
      </p:sp>
      <p:sp>
        <p:nvSpPr>
          <p:cNvPr id="10" name="TextBox 9"/>
          <p:cNvSpPr txBox="1"/>
          <p:nvPr/>
        </p:nvSpPr>
        <p:spPr>
          <a:xfrm>
            <a:off x="731520" y="6400800"/>
            <a:ext cx="10728655" cy="365760"/>
          </a:xfrm>
          <a:prstGeom prst="rect">
            <a:avLst/>
          </a:prstGeom>
          <a:noFill/>
        </p:spPr>
        <p:txBody>
          <a:bodyPr wrap="none" tIns="0" bIns="0" lIns="0" rIns="0">
            <a:spAutoFit/>
          </a:bodyPr>
          <a:lstStyle/>
          <a:p>
            <a:pPr>
              <a:defRPr sz="1000">
                <a:solidFill>
                  <a:srgbClr val="64748B"/>
                </a:solidFill>
                <a:latin typeface="Liberation Sans"/>
              </a:defRPr>
            </a:pPr>
            <a:r>
              <a:t>Open Data Imperia • Fablab Imperia APS — Linux Day 2026</a:t>
            </a:r>
          </a:p>
        </p:txBody>
      </p:sp>
      <p:sp>
        <p:nvSpPr>
          <p:cNvPr id="11" name="TextBox 10"/>
          <p:cNvSpPr txBox="1"/>
          <p:nvPr/>
        </p:nvSpPr>
        <p:spPr>
          <a:xfrm>
            <a:off x="9601200" y="6400800"/>
            <a:ext cx="1828800" cy="365760"/>
          </a:xfrm>
          <a:prstGeom prst="rect">
            <a:avLst/>
          </a:prstGeom>
          <a:noFill/>
        </p:spPr>
        <p:txBody>
          <a:bodyPr wrap="none" tIns="0" bIns="0" lIns="0" rIns="0">
            <a:spAutoFit/>
          </a:bodyPr>
          <a:lstStyle/>
          <a:p>
            <a:pPr algn="r">
              <a:defRPr sz="1000" b="1">
                <a:solidFill>
                  <a:srgbClr val="0D9488"/>
                </a:solidFill>
                <a:latin typeface="Liberation Sans"/>
              </a:defRPr>
            </a:pPr>
            <a: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tIns="0" bIns="0" lIns="0" rIns="0">
            <a:spAutoFit/>
          </a:bodyPr>
          <a:lstStyle/>
          <a:p>
            <a:pPr>
              <a:spcAft>
                <a:spcPts val="200"/>
              </a:spcAft>
              <a:defRPr sz="1100" b="1">
                <a:solidFill>
                  <a:srgbClr val="0D9488"/>
                </a:solidFill>
                <a:latin typeface="Liberation Sans"/>
              </a:defRPr>
            </a:pPr>
            <a:r>
              <a:t>SEZIONE 3 • IL PROGETTO OPEN DATA IMPERIA</a:t>
            </a:r>
          </a:p>
          <a:p>
            <a:pPr>
              <a:spcAft>
                <a:spcPts val="200"/>
              </a:spcAft>
              <a:defRPr sz="2400" b="1">
                <a:solidFill>
                  <a:srgbClr val="0F172A"/>
                </a:solidFill>
                <a:latin typeface="Liberation Sans"/>
              </a:defRPr>
            </a:pPr>
            <a:r>
              <a:t>Perché abbiamo scelto CKAN?</a:t>
            </a:r>
          </a:p>
          <a:p>
            <a:pPr>
              <a:defRPr sz="1200">
                <a:solidFill>
                  <a:srgbClr val="64748B"/>
                </a:solidFill>
                <a:latin typeface="Liberation Sans"/>
              </a:defRPr>
            </a:pPr>
            <a:r>
              <a:t>Comprehensive Knowledge Archive Network — Lo standard de facto dei portali dati nel mondo</a:t>
            </a:r>
          </a:p>
        </p:txBody>
      </p:sp>
      <p:sp>
        <p:nvSpPr>
          <p:cNvPr id="4" name="Rectangle 3"/>
          <p:cNvSpPr/>
          <p:nvPr/>
        </p:nvSpPr>
        <p:spPr>
          <a:xfrm>
            <a:off x="731520" y="1737360"/>
            <a:ext cx="5120640" cy="2057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01952"/>
            <a:ext cx="4754880" cy="172821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AFFIDABILITÀ</a:t>
            </a:r>
          </a:p>
          <a:p>
            <a:pPr>
              <a:spcAft>
                <a:spcPts val="600"/>
              </a:spcAft>
              <a:defRPr sz="1500" b="1">
                <a:solidFill>
                  <a:srgbClr val="0F172A"/>
                </a:solidFill>
                <a:latin typeface="Liberation Sans"/>
              </a:defRPr>
            </a:pPr>
            <a:r>
              <a:t>Maturità &amp; Open Source (AGPL)</a:t>
            </a:r>
          </a:p>
          <a:p>
            <a:pPr>
              <a:spcAft>
                <a:spcPts val="400"/>
              </a:spcAft>
            </a:pPr>
            <a:r>
              <a:rPr b="1" sz="1200">
                <a:solidFill>
                  <a:srgbClr val="0F172A"/>
                </a:solidFill>
                <a:latin typeface="Liberation Sans"/>
              </a:rPr>
              <a:t>• Oltre 15 Anni di Sviluppo: </a:t>
            </a:r>
            <a:r>
              <a:rPr sz="1200">
                <a:solidFill>
                  <a:srgbClr val="334155"/>
                </a:solidFill>
                <a:latin typeface="Liberation Sans"/>
              </a:rPr>
              <a:t>Creato e manutenuto dalla Open Knowledge Foundation e da una vastissima community globale.</a:t>
            </a:r>
          </a:p>
          <a:p>
            <a:pPr>
              <a:spcAft>
                <a:spcPts val="400"/>
              </a:spcAft>
            </a:pPr>
            <a:r>
              <a:rPr b="1" sz="1200">
                <a:solidFill>
                  <a:srgbClr val="0F172A"/>
                </a:solidFill>
                <a:latin typeface="Liberation Sans"/>
              </a:rPr>
              <a:t>• Scelto dai Governi: </a:t>
            </a:r>
            <a:r>
              <a:rPr sz="1200">
                <a:solidFill>
                  <a:srgbClr val="334155"/>
                </a:solidFill>
                <a:latin typeface="Liberation Sans"/>
              </a:rPr>
              <a:t>Alla base dei portali nazionali di Stati Uniti (data.gov), Unione Europea (data.europa.eu), Regno Unito, e in Italia di Regione Liguria e dati.gov.it.</a:t>
            </a:r>
          </a:p>
        </p:txBody>
      </p:sp>
      <p:sp>
        <p:nvSpPr>
          <p:cNvPr id="6" name="Rectangle 5"/>
          <p:cNvSpPr/>
          <p:nvPr/>
        </p:nvSpPr>
        <p:spPr>
          <a:xfrm>
            <a:off x="6217920" y="1737360"/>
            <a:ext cx="5120640" cy="2057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901952"/>
            <a:ext cx="4754880" cy="172821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DISCOVERY</a:t>
            </a:r>
          </a:p>
          <a:p>
            <a:pPr>
              <a:spcAft>
                <a:spcPts val="600"/>
              </a:spcAft>
              <a:defRPr sz="1500" b="1">
                <a:solidFill>
                  <a:srgbClr val="0F172A"/>
                </a:solidFill>
                <a:latin typeface="Liberation Sans"/>
              </a:defRPr>
            </a:pPr>
            <a:r>
              <a:t>Ricerca Faccettata con Apache Solr</a:t>
            </a:r>
          </a:p>
          <a:p>
            <a:pPr>
              <a:spcAft>
                <a:spcPts val="400"/>
              </a:spcAft>
            </a:pPr>
            <a:r>
              <a:rPr b="1" sz="1200">
                <a:solidFill>
                  <a:srgbClr val="0F172A"/>
                </a:solidFill>
                <a:latin typeface="Liberation Sans"/>
              </a:rPr>
              <a:t>• Motore di Ricerca ad Alte Prestazioni: </a:t>
            </a:r>
            <a:r>
              <a:rPr sz="1200">
                <a:solidFill>
                  <a:srgbClr val="334155"/>
                </a:solidFill>
                <a:latin typeface="Liberation Sans"/>
              </a:rPr>
              <a:t>Indicizzazione istantanea full-text di titoli, descrizioni, tag e metadati.</a:t>
            </a:r>
          </a:p>
          <a:p>
            <a:pPr>
              <a:spcAft>
                <a:spcPts val="400"/>
              </a:spcAft>
            </a:pPr>
            <a:r>
              <a:rPr b="1" sz="1200">
                <a:solidFill>
                  <a:srgbClr val="0F172A"/>
                </a:solidFill>
                <a:latin typeface="Liberation Sans"/>
              </a:rPr>
              <a:t>• Navigazione Intuitiva: </a:t>
            </a:r>
            <a:r>
              <a:rPr sz="1200">
                <a:solidFill>
                  <a:srgbClr val="334155"/>
                </a:solidFill>
                <a:latin typeface="Liberation Sans"/>
              </a:rPr>
              <a:t>Filtri a faccette per organizzazione, formato di file, licenza, autore e data di aggiornamento.</a:t>
            </a:r>
          </a:p>
        </p:txBody>
      </p:sp>
      <p:sp>
        <p:nvSpPr>
          <p:cNvPr id="8" name="Rectangle 7"/>
          <p:cNvSpPr/>
          <p:nvPr/>
        </p:nvSpPr>
        <p:spPr>
          <a:xfrm>
            <a:off x="731520" y="4069080"/>
            <a:ext cx="5120640" cy="2057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233672"/>
            <a:ext cx="4754880" cy="172821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API FIRST</a:t>
            </a:r>
          </a:p>
          <a:p>
            <a:pPr>
              <a:spcAft>
                <a:spcPts val="600"/>
              </a:spcAft>
              <a:defRPr sz="1500" b="1">
                <a:solidFill>
                  <a:srgbClr val="0F172A"/>
                </a:solidFill>
                <a:latin typeface="Liberation Sans"/>
              </a:defRPr>
            </a:pPr>
            <a:r>
              <a:t>DataStore &amp; Action API First</a:t>
            </a:r>
          </a:p>
          <a:p>
            <a:pPr>
              <a:spcAft>
                <a:spcPts val="400"/>
              </a:spcAft>
            </a:pPr>
            <a:r>
              <a:rPr b="1" sz="1200">
                <a:solidFill>
                  <a:srgbClr val="0F172A"/>
                </a:solidFill>
                <a:latin typeface="Liberation Sans"/>
              </a:rPr>
              <a:t>• Database Tabellare Integrato: </a:t>
            </a:r>
            <a:r>
              <a:rPr sz="1200">
                <a:solidFill>
                  <a:srgbClr val="334155"/>
                </a:solidFill>
                <a:latin typeface="Liberation Sans"/>
              </a:rPr>
              <a:t>Archivia i contenuti di CSV ed Excel in tabelle PostgreSQL ottimizzate.</a:t>
            </a:r>
          </a:p>
          <a:p>
            <a:pPr>
              <a:spcAft>
                <a:spcPts val="400"/>
              </a:spcAft>
            </a:pPr>
            <a:r>
              <a:rPr b="1" sz="1200">
                <a:solidFill>
                  <a:srgbClr val="0F172A"/>
                </a:solidFill>
                <a:latin typeface="Liberation Sans"/>
              </a:rPr>
              <a:t>• Query SQL via API: </a:t>
            </a:r>
            <a:r>
              <a:rPr sz="1200">
                <a:solidFill>
                  <a:srgbClr val="334155"/>
                </a:solidFill>
                <a:latin typeface="Liberation Sans"/>
              </a:rPr>
              <a:t>Gli sviluppatori possono eseguire query filtrate, selezioni e aggregazioni via chiamate HTTP REST.</a:t>
            </a:r>
          </a:p>
        </p:txBody>
      </p:sp>
      <p:sp>
        <p:nvSpPr>
          <p:cNvPr id="10" name="Rectangle 9"/>
          <p:cNvSpPr/>
          <p:nvPr/>
        </p:nvSpPr>
        <p:spPr>
          <a:xfrm>
            <a:off x="6217920" y="4069080"/>
            <a:ext cx="5120640" cy="2057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4233672"/>
            <a:ext cx="4754880" cy="172821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ESTENDIBILITÀ</a:t>
            </a:r>
          </a:p>
          <a:p>
            <a:pPr>
              <a:spcAft>
                <a:spcPts val="600"/>
              </a:spcAft>
              <a:defRPr sz="1500" b="1">
                <a:solidFill>
                  <a:srgbClr val="0F172A"/>
                </a:solidFill>
                <a:latin typeface="Liberation Sans"/>
              </a:defRPr>
            </a:pPr>
            <a:r>
              <a:t>Estendibilità Modulare (Python)</a:t>
            </a:r>
          </a:p>
          <a:p>
            <a:pPr>
              <a:spcAft>
                <a:spcPts val="400"/>
              </a:spcAft>
            </a:pPr>
            <a:r>
              <a:rPr b="1" sz="1200">
                <a:solidFill>
                  <a:srgbClr val="0F172A"/>
                </a:solidFill>
                <a:latin typeface="Liberation Sans"/>
              </a:rPr>
              <a:t>• Architettura a Plugin (ckanext): </a:t>
            </a:r>
            <a:r>
              <a:rPr sz="1200">
                <a:solidFill>
                  <a:srgbClr val="334155"/>
                </a:solidFill>
                <a:latin typeface="Liberation Sans"/>
              </a:rPr>
              <a:t>Permette di personalizzare ogni aspetto (grafica, licenze, autenticazione, flussi di lavoro) senza toccare il codice sorgente del core.</a:t>
            </a:r>
          </a:p>
          <a:p>
            <a:pPr>
              <a:spcAft>
                <a:spcPts val="400"/>
              </a:spcAft>
            </a:pPr>
            <a:r>
              <a:rPr b="1" sz="1200">
                <a:solidFill>
                  <a:srgbClr val="0F172A"/>
                </a:solidFill>
                <a:latin typeface="Liberation Sans"/>
              </a:rPr>
              <a:t>• Non Reinventare la Ruota: </a:t>
            </a:r>
            <a:r>
              <a:rPr sz="1200">
                <a:solidFill>
                  <a:srgbClr val="334155"/>
                </a:solidFill>
                <a:latin typeface="Liberation Sans"/>
              </a:rPr>
              <a:t>Base solida su cui concentrarsi sul valore dei dati locali.</a:t>
            </a:r>
          </a:p>
        </p:txBody>
      </p:sp>
      <p:sp>
        <p:nvSpPr>
          <p:cNvPr id="12" name="TextBox 11"/>
          <p:cNvSpPr txBox="1"/>
          <p:nvPr/>
        </p:nvSpPr>
        <p:spPr>
          <a:xfrm>
            <a:off x="731520" y="6400800"/>
            <a:ext cx="10728655" cy="365760"/>
          </a:xfrm>
          <a:prstGeom prst="rect">
            <a:avLst/>
          </a:prstGeom>
          <a:noFill/>
        </p:spPr>
        <p:txBody>
          <a:bodyPr wrap="none" tIns="0" bIns="0" lIns="0" rIns="0">
            <a:spAutoFit/>
          </a:bodyPr>
          <a:lstStyle/>
          <a:p>
            <a:pPr>
              <a:defRPr sz="1000">
                <a:solidFill>
                  <a:srgbClr val="64748B"/>
                </a:solidFill>
                <a:latin typeface="Liberation Sans"/>
              </a:defRPr>
            </a:pPr>
            <a:r>
              <a:t>Open Data Imperia • Fablab Imperia APS — Linux Day 2026</a:t>
            </a:r>
          </a:p>
        </p:txBody>
      </p:sp>
      <p:sp>
        <p:nvSpPr>
          <p:cNvPr id="13" name="TextBox 12"/>
          <p:cNvSpPr txBox="1"/>
          <p:nvPr/>
        </p:nvSpPr>
        <p:spPr>
          <a:xfrm>
            <a:off x="9601200" y="6400800"/>
            <a:ext cx="1828800" cy="365760"/>
          </a:xfrm>
          <a:prstGeom prst="rect">
            <a:avLst/>
          </a:prstGeom>
          <a:noFill/>
        </p:spPr>
        <p:txBody>
          <a:bodyPr wrap="none" tIns="0" bIns="0" lIns="0" rIns="0">
            <a:spAutoFit/>
          </a:bodyPr>
          <a:lstStyle/>
          <a:p>
            <a:pPr algn="r">
              <a:defRPr sz="1000" b="1">
                <a:solidFill>
                  <a:srgbClr val="0D9488"/>
                </a:solidFill>
                <a:latin typeface="Liberation Sans"/>
              </a:defRPr>
            </a:pPr>
            <a: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tIns="0" bIns="0" lIns="0" rIns="0">
            <a:spAutoFit/>
          </a:bodyPr>
          <a:lstStyle/>
          <a:p>
            <a:pPr>
              <a:spcAft>
                <a:spcPts val="200"/>
              </a:spcAft>
              <a:defRPr sz="1100" b="1">
                <a:solidFill>
                  <a:srgbClr val="0D9488"/>
                </a:solidFill>
                <a:latin typeface="Liberation Sans"/>
              </a:defRPr>
            </a:pPr>
            <a:r>
              <a:t>SEZIONE 3 • IL PROGETTO OPEN DATA IMPERIA</a:t>
            </a:r>
          </a:p>
          <a:p>
            <a:pPr>
              <a:spcAft>
                <a:spcPts val="200"/>
              </a:spcAft>
              <a:defRPr sz="2400" b="1">
                <a:solidFill>
                  <a:srgbClr val="0F172A"/>
                </a:solidFill>
                <a:latin typeface="Liberation Sans"/>
              </a:defRPr>
            </a:pPr>
            <a:r>
              <a:t>Architettura Tecnica: Stack Containerizzato</a:t>
            </a:r>
          </a:p>
          <a:p>
            <a:pPr>
              <a:defRPr sz="1200">
                <a:solidFill>
                  <a:srgbClr val="64748B"/>
                </a:solidFill>
                <a:latin typeface="Liberation Sans"/>
              </a:defRPr>
            </a:pPr>
            <a:r>
              <a:t>Disaccoppiamento netto tra catalogo, servizi di indicizzazione e motore di ingestione dati</a:t>
            </a:r>
          </a:p>
        </p:txBody>
      </p:sp>
      <p:sp>
        <p:nvSpPr>
          <p:cNvPr id="4" name="Rectangle 3"/>
          <p:cNvSpPr/>
          <p:nvPr/>
        </p:nvSpPr>
        <p:spPr>
          <a:xfrm>
            <a:off x="731520" y="1645920"/>
            <a:ext cx="10728655" cy="822960"/>
          </a:xfrm>
          <a:prstGeom prst="rect">
            <a:avLst/>
          </a:prstGeom>
          <a:solidFill>
            <a:srgbClr val="F0F9FF"/>
          </a:solidFill>
          <a:ln>
            <a:solidFill>
              <a:srgbClr val="0084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10332720" cy="731520"/>
          </a:xfrm>
          <a:prstGeom prst="rect">
            <a:avLst/>
          </a:prstGeom>
          <a:noFill/>
        </p:spPr>
        <p:txBody>
          <a:bodyPr wrap="none">
            <a:spAutoFit/>
          </a:bodyPr>
          <a:lstStyle/>
          <a:p>
            <a:pPr algn="ctr">
              <a:defRPr sz="1300" b="1">
                <a:solidFill>
                  <a:srgbClr val="0084D1"/>
                </a:solidFill>
                <a:latin typeface="Liberation Sans"/>
              </a:defRPr>
            </a:pPr>
            <a:r>
              <a:t>Utenti Web  /  Applicazioni Esterne  ➔  Caddy Reverse Proxy (HTTPS automatico Let's Encrypt)</a:t>
            </a:r>
          </a:p>
        </p:txBody>
      </p:sp>
      <p:sp>
        <p:nvSpPr>
          <p:cNvPr id="6" name="Rectangle 5"/>
          <p:cNvSpPr/>
          <p:nvPr/>
        </p:nvSpPr>
        <p:spPr>
          <a:xfrm>
            <a:off x="731520" y="2651760"/>
            <a:ext cx="2011680" cy="1554480"/>
          </a:xfrm>
          <a:prstGeom prst="rect">
            <a:avLst/>
          </a:prstGeom>
          <a:solidFill>
            <a:srgbClr val="FFFFFF"/>
          </a:solidFill>
          <a:ln w="19050">
            <a:solidFill>
              <a:srgbClr val="0084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724912"/>
            <a:ext cx="1828800" cy="1371600"/>
          </a:xfrm>
          <a:prstGeom prst="rect">
            <a:avLst/>
          </a:prstGeom>
          <a:noFill/>
        </p:spPr>
        <p:txBody>
          <a:bodyPr wrap="square">
            <a:spAutoFit/>
          </a:bodyPr>
          <a:lstStyle/>
          <a:p>
            <a:pPr>
              <a:spcAft>
                <a:spcPts val="400"/>
              </a:spcAft>
              <a:defRPr sz="1300" b="1">
                <a:solidFill>
                  <a:srgbClr val="0F172A"/>
                </a:solidFill>
                <a:latin typeface="Liberation Sans"/>
              </a:defRPr>
            </a:pPr>
            <a:r>
              <a:t>ckan (v2.11)</a:t>
            </a:r>
          </a:p>
          <a:p>
            <a:pPr>
              <a:defRPr sz="1000">
                <a:solidFill>
                  <a:srgbClr val="334155"/>
                </a:solidFill>
                <a:latin typeface="Liberation Sans"/>
              </a:defRPr>
            </a:pPr>
            <a:r>
              <a:t>Web App &amp; Action API</a:t>
            </a:r>
            <a:br/>
            <a:r>
              <a:t>+ ckanext-openimperia</a:t>
            </a:r>
          </a:p>
        </p:txBody>
      </p:sp>
      <p:sp>
        <p:nvSpPr>
          <p:cNvPr id="8" name="Rectangle 7"/>
          <p:cNvSpPr/>
          <p:nvPr/>
        </p:nvSpPr>
        <p:spPr>
          <a:xfrm>
            <a:off x="2907791" y="2651760"/>
            <a:ext cx="2011680" cy="1554480"/>
          </a:xfrm>
          <a:prstGeom prst="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99231" y="2724912"/>
            <a:ext cx="1828800" cy="1371600"/>
          </a:xfrm>
          <a:prstGeom prst="rect">
            <a:avLst/>
          </a:prstGeom>
          <a:noFill/>
        </p:spPr>
        <p:txBody>
          <a:bodyPr wrap="square">
            <a:spAutoFit/>
          </a:bodyPr>
          <a:lstStyle/>
          <a:p>
            <a:pPr>
              <a:spcAft>
                <a:spcPts val="400"/>
              </a:spcAft>
              <a:defRPr sz="1300" b="1">
                <a:solidFill>
                  <a:srgbClr val="0F172A"/>
                </a:solidFill>
                <a:latin typeface="Liberation Sans"/>
              </a:defRPr>
            </a:pPr>
            <a:r>
              <a:t>PostgreSQL 15</a:t>
            </a:r>
          </a:p>
          <a:p>
            <a:pPr>
              <a:defRPr sz="1000">
                <a:solidFill>
                  <a:srgbClr val="334155"/>
                </a:solidFill>
                <a:latin typeface="Liberation Sans"/>
              </a:defRPr>
            </a:pPr>
            <a:r>
              <a:t>Database Catalogo</a:t>
            </a:r>
            <a:br/>
            <a:r>
              <a:t>+ Database DataStore</a:t>
            </a:r>
          </a:p>
        </p:txBody>
      </p:sp>
      <p:sp>
        <p:nvSpPr>
          <p:cNvPr id="10" name="Rectangle 9"/>
          <p:cNvSpPr/>
          <p:nvPr/>
        </p:nvSpPr>
        <p:spPr>
          <a:xfrm>
            <a:off x="5084064" y="2651760"/>
            <a:ext cx="2011680" cy="1554480"/>
          </a:xfrm>
          <a:prstGeom prst="rect">
            <a:avLst/>
          </a:prstGeom>
          <a:solidFill>
            <a:srgbClr val="FFFFFF"/>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75504" y="2724912"/>
            <a:ext cx="1828800" cy="1371600"/>
          </a:xfrm>
          <a:prstGeom prst="rect">
            <a:avLst/>
          </a:prstGeom>
          <a:noFill/>
        </p:spPr>
        <p:txBody>
          <a:bodyPr wrap="square">
            <a:spAutoFit/>
          </a:bodyPr>
          <a:lstStyle/>
          <a:p>
            <a:pPr>
              <a:spcAft>
                <a:spcPts val="400"/>
              </a:spcAft>
              <a:defRPr sz="1300" b="1">
                <a:solidFill>
                  <a:srgbClr val="0F172A"/>
                </a:solidFill>
                <a:latin typeface="Liberation Sans"/>
              </a:defRPr>
            </a:pPr>
            <a:r>
              <a:t>Apache Solr 8</a:t>
            </a:r>
          </a:p>
          <a:p>
            <a:pPr>
              <a:defRPr sz="1000">
                <a:solidFill>
                  <a:srgbClr val="334155"/>
                </a:solidFill>
                <a:latin typeface="Liberation Sans"/>
              </a:defRPr>
            </a:pPr>
            <a:r>
              <a:t>Ricerca full-text</a:t>
            </a:r>
            <a:br/>
            <a:r>
              <a:t>e faccette veloci</a:t>
            </a:r>
          </a:p>
        </p:txBody>
      </p:sp>
      <p:sp>
        <p:nvSpPr>
          <p:cNvPr id="12" name="Rectangle 11"/>
          <p:cNvSpPr/>
          <p:nvPr/>
        </p:nvSpPr>
        <p:spPr>
          <a:xfrm>
            <a:off x="7260336" y="2651760"/>
            <a:ext cx="2011680" cy="1554480"/>
          </a:xfrm>
          <a:prstGeom prst="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51776" y="2724912"/>
            <a:ext cx="1828800" cy="1371600"/>
          </a:xfrm>
          <a:prstGeom prst="rect">
            <a:avLst/>
          </a:prstGeom>
          <a:noFill/>
        </p:spPr>
        <p:txBody>
          <a:bodyPr wrap="square">
            <a:spAutoFit/>
          </a:bodyPr>
          <a:lstStyle/>
          <a:p>
            <a:pPr>
              <a:spcAft>
                <a:spcPts val="400"/>
              </a:spcAft>
              <a:defRPr sz="1300" b="1">
                <a:solidFill>
                  <a:srgbClr val="0F172A"/>
                </a:solidFill>
                <a:latin typeface="Liberation Sans"/>
              </a:defRPr>
            </a:pPr>
            <a:r>
              <a:t>Redis</a:t>
            </a:r>
          </a:p>
          <a:p>
            <a:pPr>
              <a:defRPr sz="1000">
                <a:solidFill>
                  <a:srgbClr val="334155"/>
                </a:solidFill>
                <a:latin typeface="Liberation Sans"/>
              </a:defRPr>
            </a:pPr>
            <a:r>
              <a:t>Sessioni, cache</a:t>
            </a:r>
            <a:br/>
            <a:r>
              <a:t>e code background</a:t>
            </a:r>
          </a:p>
        </p:txBody>
      </p:sp>
      <p:sp>
        <p:nvSpPr>
          <p:cNvPr id="14" name="Rectangle 13"/>
          <p:cNvSpPr/>
          <p:nvPr/>
        </p:nvSpPr>
        <p:spPr>
          <a:xfrm>
            <a:off x="9436608" y="2651760"/>
            <a:ext cx="2011680" cy="1554480"/>
          </a:xfrm>
          <a:prstGeom prst="rect">
            <a:avLst/>
          </a:prstGeom>
          <a:solidFill>
            <a:srgbClr val="FFFFFF"/>
          </a:solidFill>
          <a:ln w="19050">
            <a:solidFill>
              <a:srgbClr val="0084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28048" y="2724912"/>
            <a:ext cx="1828800" cy="1371600"/>
          </a:xfrm>
          <a:prstGeom prst="rect">
            <a:avLst/>
          </a:prstGeom>
          <a:noFill/>
        </p:spPr>
        <p:txBody>
          <a:bodyPr wrap="square">
            <a:spAutoFit/>
          </a:bodyPr>
          <a:lstStyle/>
          <a:p>
            <a:pPr>
              <a:spcAft>
                <a:spcPts val="400"/>
              </a:spcAft>
              <a:defRPr sz="1300" b="1">
                <a:solidFill>
                  <a:srgbClr val="0F172A"/>
                </a:solidFill>
                <a:latin typeface="Liberation Sans"/>
              </a:defRPr>
            </a:pPr>
            <a:r>
              <a:t>DataPusher</a:t>
            </a:r>
          </a:p>
          <a:p>
            <a:pPr>
              <a:defRPr sz="1000">
                <a:solidFill>
                  <a:srgbClr val="334155"/>
                </a:solidFill>
                <a:latin typeface="Liberation Sans"/>
              </a:defRPr>
            </a:pPr>
            <a:r>
              <a:t>Caricamento CSV</a:t>
            </a:r>
            <a:br/>
            <a:r>
              <a:t>nel DataStore SQL</a:t>
            </a:r>
          </a:p>
        </p:txBody>
      </p:sp>
      <p:sp>
        <p:nvSpPr>
          <p:cNvPr id="16" name="Rectangle 15"/>
          <p:cNvSpPr/>
          <p:nvPr/>
        </p:nvSpPr>
        <p:spPr>
          <a:xfrm>
            <a:off x="731520" y="4389120"/>
            <a:ext cx="10728655" cy="1737360"/>
          </a:xfrm>
          <a:prstGeom prst="rect">
            <a:avLst/>
          </a:prstGeom>
          <a:solidFill>
            <a:srgbClr val="F8FAFC"/>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480560"/>
            <a:ext cx="10332720" cy="1554480"/>
          </a:xfrm>
          <a:prstGeom prst="rect">
            <a:avLst/>
          </a:prstGeom>
          <a:noFill/>
        </p:spPr>
        <p:txBody>
          <a:bodyPr wrap="square">
            <a:spAutoFit/>
          </a:bodyPr>
          <a:lstStyle/>
          <a:p>
            <a:pPr>
              <a:spcAft>
                <a:spcPts val="400"/>
              </a:spcAft>
              <a:defRPr sz="1300" b="1">
                <a:solidFill>
                  <a:srgbClr val="0D9488"/>
                </a:solidFill>
                <a:latin typeface="Liberation Sans"/>
              </a:defRPr>
            </a:pPr>
            <a:r>
              <a:t>CONTAINER COLLECTORS (Framework Python ETL)</a:t>
            </a:r>
          </a:p>
          <a:p>
            <a:pPr>
              <a:spcAft>
                <a:spcPts val="200"/>
              </a:spcAft>
              <a:defRPr sz="1100">
                <a:solidFill>
                  <a:srgbClr val="334155"/>
                </a:solidFill>
                <a:latin typeface="Liberation Sans"/>
              </a:defRPr>
            </a:pPr>
            <a:r>
              <a:t>• Schedulazione Automatica (Cron): esecuzione periodica differenziata (dati orari, giornalieri, mensili).</a:t>
            </a:r>
          </a:p>
          <a:p>
            <a:pPr>
              <a:spcAft>
                <a:spcPts val="200"/>
              </a:spcAft>
              <a:defRPr sz="1100">
                <a:solidFill>
                  <a:srgbClr val="334155"/>
                </a:solidFill>
                <a:latin typeface="Liberation Sans"/>
              </a:defRPr>
            </a:pPr>
            <a:r>
              <a:t>• Moduli Sorgente (DataSource): interrogano API e siti esterni (ARPAL Meteo, Rivieracqua, ISTAT, MIMIT).</a:t>
            </a:r>
          </a:p>
          <a:p>
            <a:pPr>
              <a:spcAft>
                <a:spcPts val="200"/>
              </a:spcAft>
              <a:defRPr sz="1100">
                <a:solidFill>
                  <a:srgbClr val="334155"/>
                </a:solidFill>
                <a:latin typeface="Liberation Sans"/>
              </a:defRPr>
            </a:pPr>
            <a:r>
              <a:t>• Comunicazione Esclusiva via Action API: invio dati normalizzati a CKAN tramite HTTP REST (nessun accesso diretto al database).</a:t>
            </a:r>
          </a:p>
        </p:txBody>
      </p:sp>
      <p:sp>
        <p:nvSpPr>
          <p:cNvPr id="18" name="TextBox 17"/>
          <p:cNvSpPr txBox="1"/>
          <p:nvPr/>
        </p:nvSpPr>
        <p:spPr>
          <a:xfrm>
            <a:off x="731520" y="6400800"/>
            <a:ext cx="10728655" cy="365760"/>
          </a:xfrm>
          <a:prstGeom prst="rect">
            <a:avLst/>
          </a:prstGeom>
          <a:noFill/>
        </p:spPr>
        <p:txBody>
          <a:bodyPr wrap="none" tIns="0" bIns="0" lIns="0" rIns="0">
            <a:spAutoFit/>
          </a:bodyPr>
          <a:lstStyle/>
          <a:p>
            <a:pPr>
              <a:defRPr sz="1000">
                <a:solidFill>
                  <a:srgbClr val="64748B"/>
                </a:solidFill>
                <a:latin typeface="Liberation Sans"/>
              </a:defRPr>
            </a:pPr>
            <a:r>
              <a:t>Open Data Imperia • Fablab Imperia APS — Linux Day 2026</a:t>
            </a:r>
          </a:p>
        </p:txBody>
      </p:sp>
      <p:sp>
        <p:nvSpPr>
          <p:cNvPr id="19" name="TextBox 18"/>
          <p:cNvSpPr txBox="1"/>
          <p:nvPr/>
        </p:nvSpPr>
        <p:spPr>
          <a:xfrm>
            <a:off x="9601200" y="6400800"/>
            <a:ext cx="1828800" cy="365760"/>
          </a:xfrm>
          <a:prstGeom prst="rect">
            <a:avLst/>
          </a:prstGeom>
          <a:noFill/>
        </p:spPr>
        <p:txBody>
          <a:bodyPr wrap="none" tIns="0" bIns="0" lIns="0" rIns="0">
            <a:spAutoFit/>
          </a:bodyPr>
          <a:lstStyle/>
          <a:p>
            <a:pPr algn="r">
              <a:defRPr sz="1000" b="1">
                <a:solidFill>
                  <a:srgbClr val="0D9488"/>
                </a:solidFill>
                <a:latin typeface="Liberation Sans"/>
              </a:defRPr>
            </a:pPr>
            <a: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tIns="0" bIns="0" lIns="0" rIns="0">
            <a:spAutoFit/>
          </a:bodyPr>
          <a:lstStyle/>
          <a:p>
            <a:pPr>
              <a:spcAft>
                <a:spcPts val="200"/>
              </a:spcAft>
              <a:defRPr sz="1100" b="1">
                <a:solidFill>
                  <a:srgbClr val="0D9488"/>
                </a:solidFill>
                <a:latin typeface="Liberation Sans"/>
              </a:defRPr>
            </a:pPr>
            <a:r>
              <a:t>SEZIONE 3 • IL PROGETTO OPEN DATA IMPERIA</a:t>
            </a:r>
          </a:p>
          <a:p>
            <a:pPr>
              <a:spcAft>
                <a:spcPts val="200"/>
              </a:spcAft>
              <a:defRPr sz="2400" b="1">
                <a:solidFill>
                  <a:srgbClr val="0F172A"/>
                </a:solidFill>
                <a:latin typeface="Liberation Sans"/>
              </a:defRPr>
            </a:pPr>
            <a:r>
              <a:t>Personalizzazione: ckanext-openimperia</a:t>
            </a:r>
          </a:p>
          <a:p>
            <a:pPr>
              <a:defRPr sz="1200">
                <a:solidFill>
                  <a:srgbClr val="64748B"/>
                </a:solidFill>
                <a:latin typeface="Liberation Sans"/>
              </a:defRPr>
            </a:pPr>
            <a:r>
              <a:t>L'estensione locale che adatta CKAN all'identità grafica e normativa del territorio</a:t>
            </a:r>
          </a:p>
        </p:txBody>
      </p:sp>
      <p:sp>
        <p:nvSpPr>
          <p:cNvPr id="4" name="Rectangle 3"/>
          <p:cNvSpPr/>
          <p:nvPr/>
        </p:nvSpPr>
        <p:spPr>
          <a:xfrm>
            <a:off x="731520" y="1737360"/>
            <a:ext cx="342900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01952"/>
            <a:ext cx="306324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ICONFIGURER</a:t>
            </a:r>
          </a:p>
          <a:p>
            <a:pPr>
              <a:spcAft>
                <a:spcPts val="600"/>
              </a:spcAft>
              <a:defRPr sz="1500" b="1">
                <a:solidFill>
                  <a:srgbClr val="0F172A"/>
                </a:solidFill>
                <a:latin typeface="Liberation Sans"/>
              </a:defRPr>
            </a:pPr>
            <a:r>
              <a:t>Branding &amp; Template</a:t>
            </a:r>
          </a:p>
          <a:p>
            <a:pPr>
              <a:spcAft>
                <a:spcPts val="400"/>
              </a:spcAft>
            </a:pPr>
            <a:r>
              <a:rPr b="1" sz="1200">
                <a:solidFill>
                  <a:srgbClr val="0F172A"/>
                </a:solidFill>
                <a:latin typeface="Liberation Sans"/>
              </a:rPr>
              <a:t>• Interfaccia IConfigurer: </a:t>
            </a:r>
            <a:r>
              <a:rPr sz="1200">
                <a:solidFill>
                  <a:srgbClr val="334155"/>
                </a:solidFill>
                <a:latin typeface="Liberation Sans"/>
              </a:rPr>
              <a:t>Registra cartelle templates/ e public/ applicando stili e risorse grafiche.</a:t>
            </a:r>
          </a:p>
          <a:p>
            <a:pPr>
              <a:spcAft>
                <a:spcPts val="400"/>
              </a:spcAft>
            </a:pPr>
            <a:r>
              <a:rPr b="1" sz="1200">
                <a:solidFill>
                  <a:srgbClr val="0F172A"/>
                </a:solidFill>
                <a:latin typeface="Liberation Sans"/>
              </a:rPr>
              <a:t>• Identità Visiva: </a:t>
            </a:r>
            <a:r>
              <a:rPr sz="1200">
                <a:solidFill>
                  <a:srgbClr val="334155"/>
                </a:solidFill>
                <a:latin typeface="Liberation Sans"/>
              </a:rPr>
              <a:t>Logo Open Data Imperia, favicon coordinata e foglio di stile openimperia.css con palette colori personalizzata.</a:t>
            </a:r>
          </a:p>
          <a:p>
            <a:pPr>
              <a:spcAft>
                <a:spcPts val="400"/>
              </a:spcAft>
            </a:pPr>
            <a:r>
              <a:rPr b="1" sz="1200">
                <a:solidFill>
                  <a:srgbClr val="0F172A"/>
                </a:solidFill>
                <a:latin typeface="Liberation Sans"/>
              </a:rPr>
              <a:t>• Homepage Locale: </a:t>
            </a:r>
            <a:r>
              <a:rPr sz="1200">
                <a:solidFill>
                  <a:srgbClr val="334155"/>
                </a:solidFill>
                <a:latin typeface="Liberation Sans"/>
              </a:rPr>
              <a:t>Hero banner accogliente, statistiche dinamiche e schede tematiche orientate ai dati del Ponente.</a:t>
            </a:r>
          </a:p>
          <a:p>
            <a:pPr>
              <a:spcAft>
                <a:spcPts val="400"/>
              </a:spcAft>
            </a:pPr>
            <a:r>
              <a:rPr b="1" sz="1200">
                <a:solidFill>
                  <a:srgbClr val="0F172A"/>
                </a:solidFill>
                <a:latin typeface="Liberation Sans"/>
              </a:rPr>
              <a:t>• Lingua Italiana: </a:t>
            </a:r>
            <a:r>
              <a:rPr sz="1200">
                <a:solidFill>
                  <a:srgbClr val="334155"/>
                </a:solidFill>
                <a:latin typeface="Liberation Sans"/>
              </a:rPr>
              <a:t>Localizzazione completa dell'interfaccia utente.</a:t>
            </a:r>
          </a:p>
        </p:txBody>
      </p:sp>
      <p:sp>
        <p:nvSpPr>
          <p:cNvPr id="6" name="Rectangle 5"/>
          <p:cNvSpPr/>
          <p:nvPr/>
        </p:nvSpPr>
        <p:spPr>
          <a:xfrm>
            <a:off x="4389120" y="1737360"/>
            <a:ext cx="3429000" cy="4389120"/>
          </a:xfrm>
          <a:prstGeom prst="rect">
            <a:avLst/>
          </a:prstGeom>
          <a:solidFill>
            <a:srgbClr val="FFFFFF"/>
          </a:solidFill>
          <a:ln w="19050">
            <a:solidFill>
              <a:srgbClr val="0084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901952"/>
            <a:ext cx="306324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IACTIONS</a:t>
            </a:r>
          </a:p>
          <a:p>
            <a:pPr>
              <a:spcAft>
                <a:spcPts val="600"/>
              </a:spcAft>
              <a:defRPr sz="1500" b="1">
                <a:solidFill>
                  <a:srgbClr val="0F172A"/>
                </a:solidFill>
                <a:latin typeface="Liberation Sans"/>
              </a:defRPr>
            </a:pPr>
            <a:r>
              <a:t>Licenze &amp; Default CC BY</a:t>
            </a:r>
          </a:p>
          <a:p>
            <a:pPr>
              <a:spcAft>
                <a:spcPts val="400"/>
              </a:spcAft>
            </a:pPr>
            <a:r>
              <a:rPr b="1" sz="1200">
                <a:solidFill>
                  <a:srgbClr val="0F172A"/>
                </a:solidFill>
                <a:latin typeface="Liberation Sans"/>
              </a:rPr>
              <a:t>• Interfaccia IActions: </a:t>
            </a:r>
            <a:r>
              <a:rPr sz="1200">
                <a:solidFill>
                  <a:srgbClr val="334155"/>
                </a:solidFill>
                <a:latin typeface="Liberation Sans"/>
              </a:rPr>
              <a:t>Aggancia l'azione core package_create per garantire la conformità.</a:t>
            </a:r>
          </a:p>
          <a:p>
            <a:pPr>
              <a:spcAft>
                <a:spcPts val="400"/>
              </a:spcAft>
            </a:pPr>
            <a:r>
              <a:rPr b="1" sz="1200">
                <a:solidFill>
                  <a:srgbClr val="0F172A"/>
                </a:solidFill>
                <a:latin typeface="Liberation Sans"/>
              </a:rPr>
              <a:t>• Default CC BY 4.0: </a:t>
            </a:r>
            <a:r>
              <a:rPr sz="1200">
                <a:solidFill>
                  <a:srgbClr val="334155"/>
                </a:solidFill>
                <a:latin typeface="Liberation Sans"/>
              </a:rPr>
              <a:t>Ogni nuovo dataset eredita automaticamente la licenza aperta Creative Commons Attribuzione senza richiedere scelte complesse agli editori.</a:t>
            </a:r>
          </a:p>
          <a:p>
            <a:pPr>
              <a:spcAft>
                <a:spcPts val="400"/>
              </a:spcAft>
            </a:pPr>
            <a:r>
              <a:rPr b="1" sz="1200">
                <a:solidFill>
                  <a:srgbClr val="0F172A"/>
                </a:solidFill>
                <a:latin typeface="Liberation Sans"/>
              </a:rPr>
              <a:t>• Gruppo Licenze AgID: </a:t>
            </a:r>
            <a:r>
              <a:rPr sz="1200">
                <a:solidFill>
                  <a:srgbClr val="334155"/>
                </a:solidFill>
                <a:latin typeface="Liberation Sans"/>
              </a:rPr>
              <a:t>File licenses_group.json con tutte le licenze ammesse dalle linee guida nazionali (CC BY, CC0, IODL 2.0, ODbL).</a:t>
            </a:r>
          </a:p>
        </p:txBody>
      </p:sp>
      <p:sp>
        <p:nvSpPr>
          <p:cNvPr id="8" name="Rectangle 7"/>
          <p:cNvSpPr/>
          <p:nvPr/>
        </p:nvSpPr>
        <p:spPr>
          <a:xfrm>
            <a:off x="8046720" y="1737360"/>
            <a:ext cx="342900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901952"/>
            <a:ext cx="306324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ICLICK</a:t>
            </a:r>
          </a:p>
          <a:p>
            <a:pPr>
              <a:spcAft>
                <a:spcPts val="600"/>
              </a:spcAft>
              <a:defRPr sz="1500" b="1">
                <a:solidFill>
                  <a:srgbClr val="0F172A"/>
                </a:solidFill>
                <a:latin typeface="Liberation Sans"/>
              </a:defRPr>
            </a:pPr>
            <a:r>
              <a:t>Inizializzazione CLI</a:t>
            </a:r>
          </a:p>
          <a:p>
            <a:pPr>
              <a:spcAft>
                <a:spcPts val="400"/>
              </a:spcAft>
            </a:pPr>
            <a:r>
              <a:rPr b="1" sz="1200">
                <a:solidFill>
                  <a:srgbClr val="0F172A"/>
                </a:solidFill>
                <a:latin typeface="Liberation Sans"/>
              </a:rPr>
              <a:t>• Interfaccia IClick: </a:t>
            </a:r>
            <a:r>
              <a:rPr sz="1200">
                <a:solidFill>
                  <a:srgbClr val="334155"/>
                </a:solidFill>
                <a:latin typeface="Liberation Sans"/>
              </a:rPr>
              <a:t>Estende i comandi da terminale con ckan openimperia init.</a:t>
            </a:r>
          </a:p>
          <a:p>
            <a:pPr>
              <a:spcAft>
                <a:spcPts val="400"/>
              </a:spcAft>
            </a:pPr>
            <a:r>
              <a:rPr b="1" sz="1200">
                <a:solidFill>
                  <a:srgbClr val="0F172A"/>
                </a:solidFill>
                <a:latin typeface="Liberation Sans"/>
              </a:rPr>
              <a:t>• Bootstrap Automatico: </a:t>
            </a:r>
            <a:r>
              <a:rPr sz="1200">
                <a:solidFill>
                  <a:srgbClr val="334155"/>
                </a:solidFill>
                <a:latin typeface="Liberation Sans"/>
              </a:rPr>
              <a:t>All'avvio del container crea l'organizzazione ufficiale Fablab Imperia APS se non esiste già.</a:t>
            </a:r>
          </a:p>
          <a:p>
            <a:pPr>
              <a:spcAft>
                <a:spcPts val="400"/>
              </a:spcAft>
            </a:pPr>
            <a:r>
              <a:rPr b="1" sz="1200">
                <a:solidFill>
                  <a:srgbClr val="0F172A"/>
                </a:solidFill>
                <a:latin typeface="Liberation Sans"/>
              </a:rPr>
              <a:t>• Configurazione Dichiarativa: </a:t>
            </a:r>
            <a:r>
              <a:rPr sz="1200">
                <a:solidFill>
                  <a:srgbClr val="334155"/>
                </a:solidFill>
                <a:latin typeface="Liberation Sans"/>
              </a:rPr>
              <a:t>Supporto per override tramite variabili d'ambiente nel file .env (CKAN__SITE_TITLE, ecc.).</a:t>
            </a:r>
          </a:p>
          <a:p>
            <a:pPr>
              <a:spcAft>
                <a:spcPts val="400"/>
              </a:spcAft>
            </a:pPr>
            <a:r>
              <a:rPr b="1" sz="1200">
                <a:solidFill>
                  <a:srgbClr val="0F172A"/>
                </a:solidFill>
                <a:latin typeface="Liberation Sans"/>
              </a:rPr>
              <a:t>• Portale Pulito: </a:t>
            </a:r>
            <a:r>
              <a:rPr sz="1200">
                <a:solidFill>
                  <a:srgbClr val="334155"/>
                </a:solidFill>
                <a:latin typeface="Liberation Sans"/>
              </a:rPr>
              <a:t>Il sito si avvia configurato e pronto per essere popolato dai collector.</a:t>
            </a:r>
          </a:p>
        </p:txBody>
      </p:sp>
      <p:sp>
        <p:nvSpPr>
          <p:cNvPr id="10" name="TextBox 9"/>
          <p:cNvSpPr txBox="1"/>
          <p:nvPr/>
        </p:nvSpPr>
        <p:spPr>
          <a:xfrm>
            <a:off x="731520" y="6400800"/>
            <a:ext cx="10728655" cy="365760"/>
          </a:xfrm>
          <a:prstGeom prst="rect">
            <a:avLst/>
          </a:prstGeom>
          <a:noFill/>
        </p:spPr>
        <p:txBody>
          <a:bodyPr wrap="none" tIns="0" bIns="0" lIns="0" rIns="0">
            <a:spAutoFit/>
          </a:bodyPr>
          <a:lstStyle/>
          <a:p>
            <a:pPr>
              <a:defRPr sz="1000">
                <a:solidFill>
                  <a:srgbClr val="64748B"/>
                </a:solidFill>
                <a:latin typeface="Liberation Sans"/>
              </a:defRPr>
            </a:pPr>
            <a:r>
              <a:t>Open Data Imperia • Fablab Imperia APS — Linux Day 2026</a:t>
            </a:r>
          </a:p>
        </p:txBody>
      </p:sp>
      <p:sp>
        <p:nvSpPr>
          <p:cNvPr id="11" name="TextBox 10"/>
          <p:cNvSpPr txBox="1"/>
          <p:nvPr/>
        </p:nvSpPr>
        <p:spPr>
          <a:xfrm>
            <a:off x="9601200" y="6400800"/>
            <a:ext cx="1828800" cy="365760"/>
          </a:xfrm>
          <a:prstGeom prst="rect">
            <a:avLst/>
          </a:prstGeom>
          <a:noFill/>
        </p:spPr>
        <p:txBody>
          <a:bodyPr wrap="none" tIns="0" bIns="0" lIns="0" rIns="0">
            <a:spAutoFit/>
          </a:bodyPr>
          <a:lstStyle/>
          <a:p>
            <a:pPr algn="r">
              <a:defRPr sz="1000" b="1">
                <a:solidFill>
                  <a:srgbClr val="0D9488"/>
                </a:solidFill>
                <a:latin typeface="Liberation Sans"/>
              </a:defRPr>
            </a:pPr>
            <a: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tIns="0" bIns="0" lIns="0" rIns="0">
            <a:spAutoFit/>
          </a:bodyPr>
          <a:lstStyle/>
          <a:p>
            <a:pPr>
              <a:spcAft>
                <a:spcPts val="200"/>
              </a:spcAft>
              <a:defRPr sz="1100" b="1">
                <a:solidFill>
                  <a:srgbClr val="0D9488"/>
                </a:solidFill>
                <a:latin typeface="Liberation Sans"/>
              </a:defRPr>
            </a:pPr>
            <a:r>
              <a:t>SEZIONE 3 • IL PROGETTO OPEN DATA IMPERIA</a:t>
            </a:r>
          </a:p>
          <a:p>
            <a:pPr>
              <a:spcAft>
                <a:spcPts val="200"/>
              </a:spcAft>
              <a:defRPr sz="2400" b="1">
                <a:solidFill>
                  <a:srgbClr val="0F172A"/>
                </a:solidFill>
                <a:latin typeface="Liberation Sans"/>
              </a:defRPr>
            </a:pPr>
            <a:r>
              <a:t>Il Motore dei Dati: I Collectors Python</a:t>
            </a:r>
          </a:p>
          <a:p>
            <a:pPr>
              <a:defRPr sz="1200">
                <a:solidFill>
                  <a:srgbClr val="64748B"/>
                </a:solidFill>
                <a:latin typeface="Liberation Sans"/>
              </a:defRPr>
            </a:pPr>
            <a:r>
              <a:t>Automatizzare l'acquisizione, la pulizia e l'aggiornamento continuo delle informazioni</a:t>
            </a:r>
          </a:p>
        </p:txBody>
      </p:sp>
      <p:sp>
        <p:nvSpPr>
          <p:cNvPr id="4" name="Rectangle 3"/>
          <p:cNvSpPr/>
          <p:nvPr/>
        </p:nvSpPr>
        <p:spPr>
          <a:xfrm>
            <a:off x="731520" y="1737360"/>
            <a:ext cx="342900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01952"/>
            <a:ext cx="306324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1. PIPELINE ETL</a:t>
            </a:r>
          </a:p>
          <a:p>
            <a:pPr>
              <a:spcAft>
                <a:spcPts val="600"/>
              </a:spcAft>
              <a:defRPr sz="1500" b="1">
                <a:solidFill>
                  <a:srgbClr val="0F172A"/>
                </a:solidFill>
                <a:latin typeface="Liberation Sans"/>
              </a:defRPr>
            </a:pPr>
            <a:r>
              <a:t>Pipeline ETL Modulare</a:t>
            </a:r>
          </a:p>
          <a:p>
            <a:pPr>
              <a:spcAft>
                <a:spcPts val="400"/>
              </a:spcAft>
            </a:pPr>
            <a:r>
              <a:rPr b="1" sz="1200">
                <a:solidFill>
                  <a:srgbClr val="0F172A"/>
                </a:solidFill>
                <a:latin typeface="Liberation Sans"/>
              </a:rPr>
              <a:t>• Extract (Estrazione): </a:t>
            </a:r>
            <a:r>
              <a:rPr sz="1200">
                <a:solidFill>
                  <a:srgbClr val="334155"/>
                </a:solidFill>
                <a:latin typeface="Liberation Sans"/>
              </a:rPr>
              <a:t>Scarica dati grezzi da API esterne, portali pubblici, file CSV/XML o scraping mirato di pagine web.</a:t>
            </a:r>
          </a:p>
          <a:p>
            <a:pPr>
              <a:spcAft>
                <a:spcPts val="400"/>
              </a:spcAft>
            </a:pPr>
            <a:r>
              <a:rPr b="1" sz="1200">
                <a:solidFill>
                  <a:srgbClr val="0F172A"/>
                </a:solidFill>
                <a:latin typeface="Liberation Sans"/>
              </a:rPr>
              <a:t>• Transform (Normalizzazione): </a:t>
            </a:r>
            <a:r>
              <a:rPr sz="1200">
                <a:solidFill>
                  <a:srgbClr val="334155"/>
                </a:solidFill>
                <a:latin typeface="Liberation Sans"/>
              </a:rPr>
              <a:t>Valida i tipi di dato, corregge errori di encoding, converte coordinate in WGS84 e struttura i metadati.</a:t>
            </a:r>
          </a:p>
          <a:p>
            <a:pPr>
              <a:spcAft>
                <a:spcPts val="400"/>
              </a:spcAft>
            </a:pPr>
            <a:r>
              <a:rPr b="1" sz="1200">
                <a:solidFill>
                  <a:srgbClr val="0F172A"/>
                </a:solidFill>
                <a:latin typeface="Liberation Sans"/>
              </a:rPr>
              <a:t>• Load (Pubblicazione): </a:t>
            </a:r>
            <a:r>
              <a:rPr sz="1200">
                <a:solidFill>
                  <a:srgbClr val="334155"/>
                </a:solidFill>
                <a:latin typeface="Liberation Sans"/>
              </a:rPr>
              <a:t>Invia il dataset strutturato e i relativi file di risorsa a CKAN tramite chiamate HTTP REST.</a:t>
            </a:r>
          </a:p>
        </p:txBody>
      </p:sp>
      <p:sp>
        <p:nvSpPr>
          <p:cNvPr id="6" name="Rectangle 5"/>
          <p:cNvSpPr/>
          <p:nvPr/>
        </p:nvSpPr>
        <p:spPr>
          <a:xfrm>
            <a:off x="4389120" y="1737360"/>
            <a:ext cx="3429000" cy="4389120"/>
          </a:xfrm>
          <a:prstGeom prst="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901952"/>
            <a:ext cx="306324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2. DISACCOPPIAMENTO</a:t>
            </a:r>
          </a:p>
          <a:p>
            <a:pPr>
              <a:spcAft>
                <a:spcPts val="600"/>
              </a:spcAft>
              <a:defRPr sz="1500" b="1">
                <a:solidFill>
                  <a:srgbClr val="0F172A"/>
                </a:solidFill>
                <a:latin typeface="Liberation Sans"/>
              </a:defRPr>
            </a:pPr>
            <a:r>
              <a:t>Zero Accesso Diretto al DB</a:t>
            </a:r>
          </a:p>
          <a:p>
            <a:pPr>
              <a:spcAft>
                <a:spcPts val="400"/>
              </a:spcAft>
            </a:pPr>
            <a:r>
              <a:rPr b="1" sz="1200">
                <a:solidFill>
                  <a:srgbClr val="0F172A"/>
                </a:solidFill>
                <a:latin typeface="Liberation Sans"/>
              </a:rPr>
              <a:t>• Disaccoppiamento Totale: </a:t>
            </a:r>
            <a:r>
              <a:rPr sz="1200">
                <a:solidFill>
                  <a:srgbClr val="334155"/>
                </a:solidFill>
                <a:latin typeface="Liberation Sans"/>
              </a:rPr>
              <a:t>I collector non contengono connessioni dirette a PostgreSQL; usano solo le Action API di CKAN.</a:t>
            </a:r>
          </a:p>
          <a:p>
            <a:pPr>
              <a:spcAft>
                <a:spcPts val="400"/>
              </a:spcAft>
            </a:pPr>
            <a:r>
              <a:rPr b="1" sz="1200">
                <a:solidFill>
                  <a:srgbClr val="0F172A"/>
                </a:solidFill>
                <a:latin typeface="Liberation Sans"/>
              </a:rPr>
              <a:t>• Integrità Garantita: </a:t>
            </a:r>
            <a:r>
              <a:rPr sz="1200">
                <a:solidFill>
                  <a:srgbClr val="334155"/>
                </a:solidFill>
                <a:latin typeface="Liberation Sans"/>
              </a:rPr>
              <a:t>CKAN valida ogni campo, gestisce permessi, genera le revisioni storiche e aggiorna Solr in automatico.</a:t>
            </a:r>
          </a:p>
          <a:p>
            <a:pPr>
              <a:spcAft>
                <a:spcPts val="400"/>
              </a:spcAft>
            </a:pPr>
            <a:r>
              <a:rPr b="1" sz="1200">
                <a:solidFill>
                  <a:srgbClr val="0F172A"/>
                </a:solidFill>
                <a:latin typeface="Liberation Sans"/>
              </a:rPr>
              <a:t>• Resilienza Architetturale: </a:t>
            </a:r>
            <a:r>
              <a:rPr sz="1200">
                <a:solidFill>
                  <a:srgbClr val="334155"/>
                </a:solidFill>
                <a:latin typeface="Liberation Sans"/>
              </a:rPr>
              <a:t>I collector possono girare su una macchina diversa, in locale, o all'interno del container Docker.</a:t>
            </a:r>
          </a:p>
        </p:txBody>
      </p:sp>
      <p:sp>
        <p:nvSpPr>
          <p:cNvPr id="8" name="Rectangle 7"/>
          <p:cNvSpPr/>
          <p:nvPr/>
        </p:nvSpPr>
        <p:spPr>
          <a:xfrm>
            <a:off x="8046720" y="1737360"/>
            <a:ext cx="342900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901952"/>
            <a:ext cx="306324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3. AUTOMAZIONE</a:t>
            </a:r>
          </a:p>
          <a:p>
            <a:pPr>
              <a:spcAft>
                <a:spcPts val="600"/>
              </a:spcAft>
              <a:defRPr sz="1500" b="1">
                <a:solidFill>
                  <a:srgbClr val="0F172A"/>
                </a:solidFill>
                <a:latin typeface="Liberation Sans"/>
              </a:defRPr>
            </a:pPr>
            <a:r>
              <a:t>Schedulazione &amp; Freschezza</a:t>
            </a:r>
          </a:p>
          <a:p>
            <a:pPr>
              <a:spcAft>
                <a:spcPts val="400"/>
              </a:spcAft>
            </a:pPr>
            <a:r>
              <a:rPr b="1" sz="1200">
                <a:solidFill>
                  <a:srgbClr val="0F172A"/>
                </a:solidFill>
                <a:latin typeface="Liberation Sans"/>
              </a:rPr>
              <a:t>• Cron Job Automatici: </a:t>
            </a:r>
            <a:r>
              <a:rPr sz="1200">
                <a:solidFill>
                  <a:srgbClr val="334155"/>
                </a:solidFill>
                <a:latin typeface="Liberation Sans"/>
              </a:rPr>
              <a:t>Esecuzione programmata dei collector senza bisogno di intervento manuale dell'operatore.</a:t>
            </a:r>
          </a:p>
          <a:p>
            <a:pPr>
              <a:spcAft>
                <a:spcPts val="400"/>
              </a:spcAft>
            </a:pPr>
            <a:r>
              <a:rPr b="1" sz="1200">
                <a:solidFill>
                  <a:srgbClr val="0F172A"/>
                </a:solidFill>
                <a:latin typeface="Liberation Sans"/>
              </a:rPr>
              <a:t>• Frequenze Differenziate: </a:t>
            </a:r>
            <a:r>
              <a:rPr sz="1200">
                <a:solidFill>
                  <a:srgbClr val="334155"/>
                </a:solidFill>
                <a:latin typeface="Liberation Sans"/>
              </a:rPr>
              <a:t>Dati meteo orari, prezzi carburanti giornalieri, statistiche anagrafiche annuali.</a:t>
            </a:r>
          </a:p>
          <a:p>
            <a:pPr>
              <a:spcAft>
                <a:spcPts val="400"/>
              </a:spcAft>
            </a:pPr>
            <a:r>
              <a:rPr b="1" sz="1200">
                <a:solidFill>
                  <a:srgbClr val="0F172A"/>
                </a:solidFill>
                <a:latin typeface="Liberation Sans"/>
              </a:rPr>
              <a:t>• Dati Sempre Aggiornati: </a:t>
            </a:r>
            <a:r>
              <a:rPr sz="1200">
                <a:solidFill>
                  <a:srgbClr val="334155"/>
                </a:solidFill>
                <a:latin typeface="Liberation Sans"/>
              </a:rPr>
              <a:t>Risolve il problema storico dei portali open data abbandonati a se stessi con dati vecchi di anni.</a:t>
            </a:r>
          </a:p>
        </p:txBody>
      </p:sp>
      <p:sp>
        <p:nvSpPr>
          <p:cNvPr id="10" name="TextBox 9"/>
          <p:cNvSpPr txBox="1"/>
          <p:nvPr/>
        </p:nvSpPr>
        <p:spPr>
          <a:xfrm>
            <a:off x="731520" y="6400800"/>
            <a:ext cx="10728655" cy="365760"/>
          </a:xfrm>
          <a:prstGeom prst="rect">
            <a:avLst/>
          </a:prstGeom>
          <a:noFill/>
        </p:spPr>
        <p:txBody>
          <a:bodyPr wrap="none" tIns="0" bIns="0" lIns="0" rIns="0">
            <a:spAutoFit/>
          </a:bodyPr>
          <a:lstStyle/>
          <a:p>
            <a:pPr>
              <a:defRPr sz="1000">
                <a:solidFill>
                  <a:srgbClr val="64748B"/>
                </a:solidFill>
                <a:latin typeface="Liberation Sans"/>
              </a:defRPr>
            </a:pPr>
            <a:r>
              <a:t>Open Data Imperia • Fablab Imperia APS — Linux Day 2026</a:t>
            </a:r>
          </a:p>
        </p:txBody>
      </p:sp>
      <p:sp>
        <p:nvSpPr>
          <p:cNvPr id="11" name="TextBox 10"/>
          <p:cNvSpPr txBox="1"/>
          <p:nvPr/>
        </p:nvSpPr>
        <p:spPr>
          <a:xfrm>
            <a:off x="9601200" y="6400800"/>
            <a:ext cx="1828800" cy="365760"/>
          </a:xfrm>
          <a:prstGeom prst="rect">
            <a:avLst/>
          </a:prstGeom>
          <a:noFill/>
        </p:spPr>
        <p:txBody>
          <a:bodyPr wrap="none" tIns="0" bIns="0" lIns="0" rIns="0">
            <a:spAutoFit/>
          </a:bodyPr>
          <a:lstStyle/>
          <a:p>
            <a:pPr algn="r">
              <a:defRPr sz="1000" b="1">
                <a:solidFill>
                  <a:srgbClr val="0D9488"/>
                </a:solidFill>
                <a:latin typeface="Liberation Sans"/>
              </a:defRPr>
            </a:pPr>
            <a: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tIns="0" bIns="0" lIns="0" rIns="0">
            <a:spAutoFit/>
          </a:bodyPr>
          <a:lstStyle/>
          <a:p>
            <a:pPr>
              <a:spcAft>
                <a:spcPts val="200"/>
              </a:spcAft>
              <a:defRPr sz="1100" b="1">
                <a:solidFill>
                  <a:srgbClr val="0D9488"/>
                </a:solidFill>
                <a:latin typeface="Liberation Sans"/>
              </a:defRPr>
            </a:pPr>
            <a:r>
              <a:t>SEZIONE 3 • IL PROGETTO OPEN DATA IMPERIA</a:t>
            </a:r>
          </a:p>
          <a:p>
            <a:pPr>
              <a:spcAft>
                <a:spcPts val="200"/>
              </a:spcAft>
              <a:defRPr sz="2400" b="1">
                <a:solidFill>
                  <a:srgbClr val="0F172A"/>
                </a:solidFill>
                <a:latin typeface="Liberation Sans"/>
              </a:defRPr>
            </a:pPr>
            <a:r>
              <a:t>Anatomia di una Sorgente (DataSource)</a:t>
            </a:r>
          </a:p>
          <a:p>
            <a:pPr>
              <a:defRPr sz="1200">
                <a:solidFill>
                  <a:srgbClr val="64748B"/>
                </a:solidFill>
                <a:latin typeface="Liberation Sans"/>
              </a:defRPr>
            </a:pPr>
            <a:r>
              <a:t>Un'interfaccia Python pulita che rende immediata l'aggiunta di nuove fonti dati</a:t>
            </a:r>
          </a:p>
        </p:txBody>
      </p:sp>
      <p:sp>
        <p:nvSpPr>
          <p:cNvPr id="4" name="Rectangle 3"/>
          <p:cNvSpPr/>
          <p:nvPr/>
        </p:nvSpPr>
        <p:spPr>
          <a:xfrm>
            <a:off x="731520" y="1737360"/>
            <a:ext cx="6217920" cy="4389120"/>
          </a:xfrm>
          <a:prstGeom prst="rect">
            <a:avLst/>
          </a:prstGeom>
          <a:solidFill>
            <a:srgbClr val="0F1A28"/>
          </a:solidFill>
          <a:ln>
            <a:solidFill>
              <a:srgbClr val="1E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5852160" cy="4206240"/>
          </a:xfrm>
          <a:prstGeom prst="rect">
            <a:avLst/>
          </a:prstGeom>
          <a:noFill/>
        </p:spPr>
        <p:txBody>
          <a:bodyPr wrap="square">
            <a:spAutoFit/>
          </a:bodyPr>
          <a:lstStyle/>
          <a:p/>
          <a:p>
            <a:pPr>
              <a:spcAft>
                <a:spcPts val="100"/>
              </a:spcAft>
              <a:defRPr sz="1050" b="1">
                <a:solidFill>
                  <a:srgbClr val="FFFFFF"/>
                </a:solidFill>
                <a:latin typeface="Liberation Mono"/>
              </a:defRPr>
            </a:pPr>
            <a:r>
              <a:t>class DataSource(ABC):</a:t>
            </a:r>
          </a:p>
          <a:p>
            <a:pPr>
              <a:spcAft>
                <a:spcPts val="100"/>
              </a:spcAft>
              <a:defRPr sz="1050" b="0">
                <a:solidFill>
                  <a:srgbClr val="E67E22"/>
                </a:solidFill>
                <a:latin typeface="Liberation Mono"/>
              </a:defRPr>
            </a:pPr>
            <a:r>
              <a:t>    name: str = 'nome_sorgente'</a:t>
            </a:r>
          </a:p>
          <a:p>
            <a:pPr>
              <a:spcAft>
                <a:spcPts val="100"/>
              </a:spcAft>
              <a:defRPr sz="1050" b="0">
                <a:solidFill>
                  <a:srgbClr val="FFFFFF"/>
                </a:solidFill>
                <a:latin typeface="Liberation Mono"/>
              </a:defRPr>
            </a:pPr>
          </a:p>
          <a:p>
            <a:pPr>
              <a:spcAft>
                <a:spcPts val="100"/>
              </a:spcAft>
              <a:defRPr sz="1050" b="0">
                <a:solidFill>
                  <a:srgbClr val="0084D1"/>
                </a:solidFill>
                <a:latin typeface="Liberation Mono"/>
              </a:defRPr>
            </a:pPr>
            <a:r>
              <a:t>    @abstractmethod</a:t>
            </a:r>
          </a:p>
          <a:p>
            <a:pPr>
              <a:spcAft>
                <a:spcPts val="100"/>
              </a:spcAft>
              <a:defRPr sz="1050" b="1">
                <a:solidFill>
                  <a:srgbClr val="FFFFFF"/>
                </a:solidFill>
                <a:latin typeface="Liberation Mono"/>
              </a:defRPr>
            </a:pPr>
            <a:r>
              <a:t>    def fetch(self) -&gt; Any:</a:t>
            </a:r>
          </a:p>
          <a:p>
            <a:pPr>
              <a:spcAft>
                <a:spcPts val="100"/>
              </a:spcAft>
              <a:defRPr sz="1050" b="0">
                <a:solidFill>
                  <a:srgbClr val="94A3B8"/>
                </a:solidFill>
                <a:latin typeface="Liberation Mono"/>
              </a:defRPr>
            </a:pPr>
            <a:r>
              <a:t>        '''Scarica dati grezzi dalla sorgente remota.'''</a:t>
            </a:r>
          </a:p>
          <a:p>
            <a:pPr>
              <a:spcAft>
                <a:spcPts val="100"/>
              </a:spcAft>
              <a:defRPr sz="1050" b="0">
                <a:solidFill>
                  <a:srgbClr val="FFFFFF"/>
                </a:solidFill>
                <a:latin typeface="Liberation Mono"/>
              </a:defRPr>
            </a:pPr>
            <a:r>
              <a:t>        pass</a:t>
            </a:r>
          </a:p>
          <a:p>
            <a:pPr>
              <a:spcAft>
                <a:spcPts val="100"/>
              </a:spcAft>
              <a:defRPr sz="1050" b="0">
                <a:solidFill>
                  <a:srgbClr val="FFFFFF"/>
                </a:solidFill>
                <a:latin typeface="Liberation Mono"/>
              </a:defRPr>
            </a:pPr>
          </a:p>
          <a:p>
            <a:pPr>
              <a:spcAft>
                <a:spcPts val="100"/>
              </a:spcAft>
              <a:defRPr sz="1050" b="0">
                <a:solidFill>
                  <a:srgbClr val="0084D1"/>
                </a:solidFill>
                <a:latin typeface="Liberation Mono"/>
              </a:defRPr>
            </a:pPr>
            <a:r>
              <a:t>    @abstractmethod</a:t>
            </a:r>
          </a:p>
          <a:p>
            <a:pPr>
              <a:spcAft>
                <a:spcPts val="100"/>
              </a:spcAft>
              <a:defRPr sz="1050" b="1">
                <a:solidFill>
                  <a:srgbClr val="FFFFFF"/>
                </a:solidFill>
                <a:latin typeface="Liberation Mono"/>
              </a:defRPr>
            </a:pPr>
            <a:r>
              <a:t>    def transform(self, raw: Any) -&gt; Dataset:</a:t>
            </a:r>
          </a:p>
          <a:p>
            <a:pPr>
              <a:spcAft>
                <a:spcPts val="100"/>
              </a:spcAft>
              <a:defRPr sz="1050" b="0">
                <a:solidFill>
                  <a:srgbClr val="94A3B8"/>
                </a:solidFill>
                <a:latin typeface="Liberation Mono"/>
              </a:defRPr>
            </a:pPr>
            <a:r>
              <a:t>        '''Normalizza e restituisce un Dataset CKAN.'''</a:t>
            </a:r>
          </a:p>
          <a:p>
            <a:pPr>
              <a:spcAft>
                <a:spcPts val="100"/>
              </a:spcAft>
              <a:defRPr sz="1050" b="0">
                <a:solidFill>
                  <a:srgbClr val="FFFFFF"/>
                </a:solidFill>
                <a:latin typeface="Liberation Mono"/>
              </a:defRPr>
            </a:pPr>
            <a:r>
              <a:t>        pass</a:t>
            </a:r>
          </a:p>
          <a:p>
            <a:pPr>
              <a:spcAft>
                <a:spcPts val="100"/>
              </a:spcAft>
              <a:defRPr sz="1050" b="0">
                <a:solidFill>
                  <a:srgbClr val="FFFFFF"/>
                </a:solidFill>
                <a:latin typeface="Liberation Mono"/>
              </a:defRPr>
            </a:pPr>
          </a:p>
          <a:p>
            <a:pPr>
              <a:spcAft>
                <a:spcPts val="100"/>
              </a:spcAft>
              <a:defRPr sz="1050" b="1">
                <a:solidFill>
                  <a:srgbClr val="FFFFFF"/>
                </a:solidFill>
                <a:latin typeface="Liberation Mono"/>
              </a:defRPr>
            </a:pPr>
            <a:r>
              <a:t>    def run(self, dry_run: bool = False):</a:t>
            </a:r>
          </a:p>
          <a:p>
            <a:pPr>
              <a:spcAft>
                <a:spcPts val="100"/>
              </a:spcAft>
              <a:defRPr sz="1050" b="0">
                <a:solidFill>
                  <a:srgbClr val="38BDF8"/>
                </a:solidFill>
                <a:latin typeface="Liberation Mono"/>
              </a:defRPr>
            </a:pPr>
            <a:r>
              <a:t>        raw = self.fetch()</a:t>
            </a:r>
          </a:p>
          <a:p>
            <a:pPr>
              <a:spcAft>
                <a:spcPts val="100"/>
              </a:spcAft>
              <a:defRPr sz="1050" b="0">
                <a:solidFill>
                  <a:srgbClr val="38BDF8"/>
                </a:solidFill>
                <a:latin typeface="Liberation Mono"/>
              </a:defRPr>
            </a:pPr>
            <a:r>
              <a:t>        dataset = self.transform(raw)</a:t>
            </a:r>
          </a:p>
          <a:p>
            <a:pPr>
              <a:spcAft>
                <a:spcPts val="100"/>
              </a:spcAft>
              <a:defRPr sz="1050" b="0">
                <a:solidFill>
                  <a:srgbClr val="38BDF8"/>
                </a:solidFill>
                <a:latin typeface="Liberation Mono"/>
              </a:defRPr>
            </a:pPr>
            <a:r>
              <a:t>        self.validate(dataset)</a:t>
            </a:r>
          </a:p>
          <a:p>
            <a:pPr>
              <a:spcAft>
                <a:spcPts val="100"/>
              </a:spcAft>
              <a:defRPr sz="1050" b="0">
                <a:solidFill>
                  <a:srgbClr val="E67E22"/>
                </a:solidFill>
                <a:latin typeface="Liberation Mono"/>
              </a:defRPr>
            </a:pPr>
            <a:r>
              <a:t>        if not dry_run:</a:t>
            </a:r>
          </a:p>
          <a:p>
            <a:pPr>
              <a:spcAft>
                <a:spcPts val="100"/>
              </a:spcAft>
              <a:defRPr sz="1050" b="0">
                <a:solidFill>
                  <a:srgbClr val="38BDF8"/>
                </a:solidFill>
                <a:latin typeface="Liberation Mono"/>
              </a:defRPr>
            </a:pPr>
            <a:r>
              <a:t>            self.ckan.upsert_dataset(dataset)</a:t>
            </a:r>
          </a:p>
        </p:txBody>
      </p:sp>
      <p:sp>
        <p:nvSpPr>
          <p:cNvPr id="6" name="Rectangle 5"/>
          <p:cNvSpPr/>
          <p:nvPr/>
        </p:nvSpPr>
        <p:spPr>
          <a:xfrm>
            <a:off x="7132320" y="1737360"/>
            <a:ext cx="4327855"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901952"/>
            <a:ext cx="3962095"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SVILUPPO MODULARE</a:t>
            </a:r>
          </a:p>
          <a:p>
            <a:pPr>
              <a:spcAft>
                <a:spcPts val="600"/>
              </a:spcAft>
              <a:defRPr sz="1500" b="1">
                <a:solidFill>
                  <a:srgbClr val="0F172A"/>
                </a:solidFill>
                <a:latin typeface="Liberation Sans"/>
              </a:defRPr>
            </a:pPr>
            <a:r>
              <a:t>Autodiscovery &amp; CLI</a:t>
            </a:r>
          </a:p>
          <a:p>
            <a:pPr>
              <a:spcAft>
                <a:spcPts val="400"/>
              </a:spcAft>
            </a:pPr>
            <a:r>
              <a:rPr b="1" sz="1200">
                <a:solidFill>
                  <a:srgbClr val="0F172A"/>
                </a:solidFill>
                <a:latin typeface="Liberation Sans"/>
              </a:rPr>
              <a:t>• Autodiscovery Automatico: </a:t>
            </a:r>
            <a:r>
              <a:rPr sz="1200">
                <a:solidFill>
                  <a:srgbClr val="334155"/>
                </a:solidFill>
                <a:latin typeface="Liberation Sans"/>
              </a:rPr>
              <a:t>Basta creare un file Python in collectors/sources/: il registry lo rileva all'avvio senza toccare file di configurazione.</a:t>
            </a:r>
          </a:p>
          <a:p>
            <a:pPr>
              <a:spcAft>
                <a:spcPts val="400"/>
              </a:spcAft>
            </a:pPr>
            <a:r>
              <a:rPr b="1" sz="1200">
                <a:solidFill>
                  <a:srgbClr val="0F172A"/>
                </a:solidFill>
                <a:latin typeface="Liberation Sans"/>
              </a:rPr>
              <a:t>• Modello Dati Tipizzato: </a:t>
            </a:r>
            <a:r>
              <a:rPr sz="1200">
                <a:solidFill>
                  <a:srgbClr val="334155"/>
                </a:solidFill>
                <a:latin typeface="Liberation Sans"/>
              </a:rPr>
              <a:t>La classe Dataset include titolo, note, tag, licenza, organizzazione e risorse (file CSV con intestazioni).</a:t>
            </a:r>
          </a:p>
          <a:p>
            <a:pPr>
              <a:spcAft>
                <a:spcPts val="400"/>
              </a:spcAft>
            </a:pPr>
            <a:r>
              <a:rPr b="1" sz="1200">
                <a:solidFill>
                  <a:srgbClr val="0F172A"/>
                </a:solidFill>
                <a:latin typeface="Liberation Sans"/>
              </a:rPr>
              <a:t>• Comandi da Terminale: </a:t>
            </a:r>
            <a:r>
              <a:rPr sz="1200">
                <a:solidFill>
                  <a:srgbClr val="334155"/>
                </a:solidFill>
                <a:latin typeface="Liberation Sans"/>
              </a:rPr>
              <a:t/>
            </a:r>
          </a:p>
          <a:p>
            <a:pPr>
              <a:spcAft>
                <a:spcPts val="400"/>
              </a:spcAft>
            </a:pPr>
            <a:r>
              <a:rPr b="1" sz="1200">
                <a:solidFill>
                  <a:srgbClr val="0F172A"/>
                </a:solidFill>
                <a:latin typeface="Liberation Sans"/>
              </a:rPr>
              <a:t>• python -m collectors --list </a:t>
            </a:r>
            <a:r>
              <a:rPr sz="1200">
                <a:solidFill>
                  <a:srgbClr val="334155"/>
                </a:solidFill>
                <a:latin typeface="Liberation Sans"/>
              </a:rPr>
              <a:t>Elenca tutte le sorgenti attive nel sistema.</a:t>
            </a:r>
          </a:p>
          <a:p>
            <a:pPr>
              <a:spcAft>
                <a:spcPts val="400"/>
              </a:spcAft>
            </a:pPr>
            <a:r>
              <a:rPr b="1" sz="1200">
                <a:solidFill>
                  <a:srgbClr val="0F172A"/>
                </a:solidFill>
                <a:latin typeface="Liberation Sans"/>
              </a:rPr>
              <a:t>• python -m collectors --source &lt;nome&gt; </a:t>
            </a:r>
            <a:r>
              <a:rPr sz="1200">
                <a:solidFill>
                  <a:srgbClr val="334155"/>
                </a:solidFill>
                <a:latin typeface="Liberation Sans"/>
              </a:rPr>
              <a:t>Esegue un singolo collector on-demand.</a:t>
            </a:r>
          </a:p>
          <a:p>
            <a:pPr>
              <a:spcAft>
                <a:spcPts val="400"/>
              </a:spcAft>
            </a:pPr>
            <a:r>
              <a:rPr b="1" sz="1200">
                <a:solidFill>
                  <a:srgbClr val="0F172A"/>
                </a:solidFill>
                <a:latin typeface="Liberation Sans"/>
              </a:rPr>
              <a:t>• Flag --dry-run: </a:t>
            </a:r>
            <a:r>
              <a:rPr sz="1200">
                <a:solidFill>
                  <a:srgbClr val="334155"/>
                </a:solidFill>
                <a:latin typeface="Liberation Sans"/>
              </a:rPr>
              <a:t>Permette di testare fetch e trasformazione simulando la pubblicazione senza scrivere su CKAN.</a:t>
            </a:r>
          </a:p>
        </p:txBody>
      </p:sp>
      <p:sp>
        <p:nvSpPr>
          <p:cNvPr id="8" name="TextBox 7"/>
          <p:cNvSpPr txBox="1"/>
          <p:nvPr/>
        </p:nvSpPr>
        <p:spPr>
          <a:xfrm>
            <a:off x="731520" y="6400800"/>
            <a:ext cx="10728655" cy="365760"/>
          </a:xfrm>
          <a:prstGeom prst="rect">
            <a:avLst/>
          </a:prstGeom>
          <a:noFill/>
        </p:spPr>
        <p:txBody>
          <a:bodyPr wrap="none" tIns="0" bIns="0" lIns="0" rIns="0">
            <a:spAutoFit/>
          </a:bodyPr>
          <a:lstStyle/>
          <a:p>
            <a:pPr>
              <a:defRPr sz="1000">
                <a:solidFill>
                  <a:srgbClr val="64748B"/>
                </a:solidFill>
                <a:latin typeface="Liberation Sans"/>
              </a:defRPr>
            </a:pPr>
            <a:r>
              <a:t>Open Data Imperia • Fablab Imperia APS — Linux Day 2026</a:t>
            </a:r>
          </a:p>
        </p:txBody>
      </p:sp>
      <p:sp>
        <p:nvSpPr>
          <p:cNvPr id="9" name="TextBox 8"/>
          <p:cNvSpPr txBox="1"/>
          <p:nvPr/>
        </p:nvSpPr>
        <p:spPr>
          <a:xfrm>
            <a:off x="9601200" y="6400800"/>
            <a:ext cx="1828800" cy="365760"/>
          </a:xfrm>
          <a:prstGeom prst="rect">
            <a:avLst/>
          </a:prstGeom>
          <a:noFill/>
        </p:spPr>
        <p:txBody>
          <a:bodyPr wrap="none" tIns="0" bIns="0" lIns="0" rIns="0">
            <a:spAutoFit/>
          </a:bodyPr>
          <a:lstStyle/>
          <a:p>
            <a:pPr algn="r">
              <a:defRPr sz="1000" b="1">
                <a:solidFill>
                  <a:srgbClr val="0D9488"/>
                </a:solidFill>
                <a:latin typeface="Liberation Sans"/>
              </a:defRPr>
            </a:pPr>
            <a: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tIns="0" bIns="0" lIns="0" rIns="0">
            <a:spAutoFit/>
          </a:bodyPr>
          <a:lstStyle/>
          <a:p>
            <a:pPr>
              <a:spcAft>
                <a:spcPts val="200"/>
              </a:spcAft>
              <a:defRPr sz="1100" b="1">
                <a:solidFill>
                  <a:srgbClr val="0D9488"/>
                </a:solidFill>
                <a:latin typeface="Liberation Sans"/>
              </a:defRPr>
            </a:pPr>
            <a:r>
              <a:t>SEZIONE 3 • IL PROGETTO OPEN DATA IMPERIA</a:t>
            </a:r>
          </a:p>
          <a:p>
            <a:pPr>
              <a:spcAft>
                <a:spcPts val="200"/>
              </a:spcAft>
              <a:defRPr sz="2400" b="1">
                <a:solidFill>
                  <a:srgbClr val="0F172A"/>
                </a:solidFill>
                <a:latin typeface="Liberation Sans"/>
              </a:defRPr>
            </a:pPr>
            <a:r>
              <a:t>Il Client CKAN e l'Action API</a:t>
            </a:r>
          </a:p>
          <a:p>
            <a:pPr>
              <a:defRPr sz="1200">
                <a:solidFill>
                  <a:srgbClr val="64748B"/>
                </a:solidFill>
                <a:latin typeface="Liberation Sans"/>
              </a:defRPr>
            </a:pPr>
            <a:r>
              <a:t>Interazione HTTP robusta, idempotente e sicura con il portale catalogo</a:t>
            </a:r>
          </a:p>
        </p:txBody>
      </p:sp>
      <p:sp>
        <p:nvSpPr>
          <p:cNvPr id="4" name="Rectangle 3"/>
          <p:cNvSpPr/>
          <p:nvPr/>
        </p:nvSpPr>
        <p:spPr>
          <a:xfrm>
            <a:off x="731520" y="1737360"/>
            <a:ext cx="3429000" cy="4389120"/>
          </a:xfrm>
          <a:prstGeom prst="rect">
            <a:avLst/>
          </a:prstGeom>
          <a:solidFill>
            <a:srgbClr val="FFFFFF"/>
          </a:solidFill>
          <a:ln w="19050">
            <a:solidFill>
              <a:srgbClr val="0084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01952"/>
            <a:ext cx="306324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IDEMPOTENZA</a:t>
            </a:r>
          </a:p>
          <a:p>
            <a:pPr>
              <a:spcAft>
                <a:spcPts val="600"/>
              </a:spcAft>
              <a:defRPr sz="1500" b="1">
                <a:solidFill>
                  <a:srgbClr val="0F172A"/>
                </a:solidFill>
                <a:latin typeface="Liberation Sans"/>
              </a:defRPr>
            </a:pPr>
            <a:r>
              <a:t>Idempotenza Garantita (Upsert)</a:t>
            </a:r>
          </a:p>
          <a:p>
            <a:pPr>
              <a:spcAft>
                <a:spcPts val="400"/>
              </a:spcAft>
            </a:pPr>
            <a:r>
              <a:rPr b="1" sz="1200">
                <a:solidFill>
                  <a:srgbClr val="0F172A"/>
                </a:solidFill>
                <a:latin typeface="Liberation Sans"/>
              </a:rPr>
              <a:t>• Concetto di Upsert: </a:t>
            </a:r>
            <a:r>
              <a:rPr sz="1200">
                <a:solidFill>
                  <a:srgbClr val="334155"/>
                </a:solidFill>
                <a:latin typeface="Liberation Sans"/>
              </a:rPr>
              <a:t>Il metodo upsert_dataset() verifica prima con package_show se il dataset esiste già nel catalogo.</a:t>
            </a:r>
          </a:p>
          <a:p>
            <a:pPr>
              <a:spcAft>
                <a:spcPts val="400"/>
              </a:spcAft>
            </a:pPr>
            <a:r>
              <a:rPr b="1" sz="1200">
                <a:solidFill>
                  <a:srgbClr val="0F172A"/>
                </a:solidFill>
                <a:latin typeface="Liberation Sans"/>
              </a:rPr>
              <a:t>• Se Esiste: </a:t>
            </a:r>
            <a:r>
              <a:rPr sz="1200">
                <a:solidFill>
                  <a:srgbClr val="334155"/>
                </a:solidFill>
                <a:latin typeface="Liberation Sans"/>
              </a:rPr>
              <a:t>Esegue package_update o package_patch, aggiornando descrizione, data e sostituendo i file delle risorse.</a:t>
            </a:r>
          </a:p>
          <a:p>
            <a:pPr>
              <a:spcAft>
                <a:spcPts val="400"/>
              </a:spcAft>
            </a:pPr>
            <a:r>
              <a:rPr b="1" sz="1200">
                <a:solidFill>
                  <a:srgbClr val="0F172A"/>
                </a:solidFill>
                <a:latin typeface="Liberation Sans"/>
              </a:rPr>
              <a:t>• Se Non Esiste: </a:t>
            </a:r>
            <a:r>
              <a:rPr sz="1200">
                <a:solidFill>
                  <a:srgbClr val="334155"/>
                </a:solidFill>
                <a:latin typeface="Liberation Sans"/>
              </a:rPr>
              <a:t>Esegue package_create inserendo il dataset da zero.</a:t>
            </a:r>
          </a:p>
          <a:p>
            <a:pPr>
              <a:spcAft>
                <a:spcPts val="400"/>
              </a:spcAft>
            </a:pPr>
            <a:r>
              <a:rPr b="1" sz="1200">
                <a:solidFill>
                  <a:srgbClr val="0F172A"/>
                </a:solidFill>
                <a:latin typeface="Liberation Sans"/>
              </a:rPr>
              <a:t>• Nessun Duplicato: </a:t>
            </a:r>
            <a:r>
              <a:rPr sz="1200">
                <a:solidFill>
                  <a:srgbClr val="334155"/>
                </a:solidFill>
                <a:latin typeface="Liberation Sans"/>
              </a:rPr>
              <a:t>È possibile rieseguire il cron ogni ora: il sistema aggiorna lo stato senza duplicare record.</a:t>
            </a:r>
          </a:p>
        </p:txBody>
      </p:sp>
      <p:sp>
        <p:nvSpPr>
          <p:cNvPr id="6" name="Rectangle 5"/>
          <p:cNvSpPr/>
          <p:nvPr/>
        </p:nvSpPr>
        <p:spPr>
          <a:xfrm>
            <a:off x="4389120" y="1737360"/>
            <a:ext cx="342900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901952"/>
            <a:ext cx="306324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SICUREZZA</a:t>
            </a:r>
          </a:p>
          <a:p>
            <a:pPr>
              <a:spcAft>
                <a:spcPts val="600"/>
              </a:spcAft>
              <a:defRPr sz="1500" b="1">
                <a:solidFill>
                  <a:srgbClr val="0F172A"/>
                </a:solidFill>
                <a:latin typeface="Liberation Sans"/>
              </a:defRPr>
            </a:pPr>
            <a:r>
              <a:t>Sicurezza &amp; Gestione Segreti</a:t>
            </a:r>
          </a:p>
          <a:p>
            <a:pPr>
              <a:spcAft>
                <a:spcPts val="400"/>
              </a:spcAft>
            </a:pPr>
            <a:r>
              <a:rPr b="1" sz="1200">
                <a:solidFill>
                  <a:srgbClr val="0F172A"/>
                </a:solidFill>
                <a:latin typeface="Liberation Sans"/>
              </a:rPr>
              <a:t>• Autenticazione via Token: </a:t>
            </a:r>
            <a:r>
              <a:rPr sz="1200">
                <a:solidFill>
                  <a:srgbClr val="334155"/>
                </a:solidFill>
                <a:latin typeface="Liberation Sans"/>
              </a:rPr>
              <a:t>Le chiamate HTTP verso CKAN utilizzano una API Key generata dall'amministratore e trasmessa nell'header Authorization.</a:t>
            </a:r>
          </a:p>
          <a:p>
            <a:pPr>
              <a:spcAft>
                <a:spcPts val="400"/>
              </a:spcAft>
            </a:pPr>
            <a:r>
              <a:rPr b="1" sz="1200">
                <a:solidFill>
                  <a:srgbClr val="0F172A"/>
                </a:solidFill>
                <a:latin typeface="Liberation Sans"/>
              </a:rPr>
              <a:t>• Zero Credenziali nel Codice: </a:t>
            </a:r>
            <a:r>
              <a:rPr sz="1200">
                <a:solidFill>
                  <a:srgbClr val="334155"/>
                </a:solidFill>
                <a:latin typeface="Liberation Sans"/>
              </a:rPr>
              <a:t>Nessuna chiave API o password è committata nei repository Git pubblici.</a:t>
            </a:r>
          </a:p>
          <a:p>
            <a:pPr>
              <a:spcAft>
                <a:spcPts val="400"/>
              </a:spcAft>
            </a:pPr>
            <a:r>
              <a:rPr b="1" sz="1200">
                <a:solidFill>
                  <a:srgbClr val="0F172A"/>
                </a:solidFill>
                <a:latin typeface="Liberation Sans"/>
              </a:rPr>
              <a:t>• Variabili d'Ambiente: </a:t>
            </a:r>
            <a:r>
              <a:rPr sz="1200">
                <a:solidFill>
                  <a:srgbClr val="334155"/>
                </a:solidFill>
                <a:latin typeface="Liberation Sans"/>
              </a:rPr>
              <a:t>Tutta la configurazione risiede nel file .env (CKAN_URL, CKAN_API_KEY).</a:t>
            </a:r>
          </a:p>
          <a:p>
            <a:pPr>
              <a:spcAft>
                <a:spcPts val="400"/>
              </a:spcAft>
            </a:pPr>
            <a:r>
              <a:rPr b="1" sz="1200">
                <a:solidFill>
                  <a:srgbClr val="0F172A"/>
                </a:solidFill>
                <a:latin typeface="Liberation Sans"/>
              </a:rPr>
              <a:t>• Ambiente Protetto: </a:t>
            </a:r>
            <a:r>
              <a:rPr sz="1200">
                <a:solidFill>
                  <a:srgbClr val="334155"/>
                </a:solidFill>
                <a:latin typeface="Liberation Sans"/>
              </a:rPr>
              <a:t>I container Docker caricano i segreti a runtime in memoria.</a:t>
            </a:r>
          </a:p>
        </p:txBody>
      </p:sp>
      <p:sp>
        <p:nvSpPr>
          <p:cNvPr id="8" name="Rectangle 7"/>
          <p:cNvSpPr/>
          <p:nvPr/>
        </p:nvSpPr>
        <p:spPr>
          <a:xfrm>
            <a:off x="8046720" y="1737360"/>
            <a:ext cx="342900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901952"/>
            <a:ext cx="306324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RESOURCE MANAGEMENT</a:t>
            </a:r>
          </a:p>
          <a:p>
            <a:pPr>
              <a:spcAft>
                <a:spcPts val="600"/>
              </a:spcAft>
              <a:defRPr sz="1500" b="1">
                <a:solidFill>
                  <a:srgbClr val="0F172A"/>
                </a:solidFill>
                <a:latin typeface="Liberation Sans"/>
              </a:defRPr>
            </a:pPr>
            <a:r>
              <a:t>Gestione delle Risorse</a:t>
            </a:r>
          </a:p>
          <a:p>
            <a:pPr>
              <a:spcAft>
                <a:spcPts val="400"/>
              </a:spcAft>
            </a:pPr>
            <a:r>
              <a:rPr b="1" sz="1200">
                <a:solidFill>
                  <a:srgbClr val="0F172A"/>
                </a:solidFill>
                <a:latin typeface="Liberation Sans"/>
              </a:rPr>
              <a:t>• File e Metadati: </a:t>
            </a:r>
            <a:r>
              <a:rPr sz="1200">
                <a:solidFill>
                  <a:srgbClr val="334155"/>
                </a:solidFill>
                <a:latin typeface="Liberation Sans"/>
              </a:rPr>
              <a:t>Il client gestisce sia la creazione dei metadati DCAT sia il caricamento fisico dei file (multipart upload).</a:t>
            </a:r>
          </a:p>
          <a:p>
            <a:pPr>
              <a:spcAft>
                <a:spcPts val="400"/>
              </a:spcAft>
            </a:pPr>
            <a:r>
              <a:rPr b="1" sz="1200">
                <a:solidFill>
                  <a:srgbClr val="0F172A"/>
                </a:solidFill>
                <a:latin typeface="Liberation Sans"/>
              </a:rPr>
              <a:t>• Risorse Multiple: </a:t>
            </a:r>
            <a:r>
              <a:rPr sz="1200">
                <a:solidFill>
                  <a:srgbClr val="334155"/>
                </a:solidFill>
                <a:latin typeface="Liberation Sans"/>
              </a:rPr>
              <a:t>Uno stesso dataset può ospitare più risorse (es. il file 'Dati orari di oggi' e l'archivio 'Serie storica annuale').</a:t>
            </a:r>
          </a:p>
          <a:p>
            <a:pPr>
              <a:spcAft>
                <a:spcPts val="400"/>
              </a:spcAft>
            </a:pPr>
            <a:r>
              <a:rPr b="1" sz="1200">
                <a:solidFill>
                  <a:srgbClr val="0F172A"/>
                </a:solidFill>
                <a:latin typeface="Liberation Sans"/>
              </a:rPr>
              <a:t>• Trigger DataStore: </a:t>
            </a:r>
            <a:r>
              <a:rPr sz="1200">
                <a:solidFill>
                  <a:srgbClr val="334155"/>
                </a:solidFill>
                <a:latin typeface="Liberation Sans"/>
              </a:rPr>
              <a:t>Innesca automaticamente il DataPusher per creare le viste tabellari e le query SQL via API.</a:t>
            </a:r>
          </a:p>
        </p:txBody>
      </p:sp>
      <p:sp>
        <p:nvSpPr>
          <p:cNvPr id="10" name="TextBox 9"/>
          <p:cNvSpPr txBox="1"/>
          <p:nvPr/>
        </p:nvSpPr>
        <p:spPr>
          <a:xfrm>
            <a:off x="731520" y="6400800"/>
            <a:ext cx="10728655" cy="365760"/>
          </a:xfrm>
          <a:prstGeom prst="rect">
            <a:avLst/>
          </a:prstGeom>
          <a:noFill/>
        </p:spPr>
        <p:txBody>
          <a:bodyPr wrap="none" tIns="0" bIns="0" lIns="0" rIns="0">
            <a:spAutoFit/>
          </a:bodyPr>
          <a:lstStyle/>
          <a:p>
            <a:pPr>
              <a:defRPr sz="1000">
                <a:solidFill>
                  <a:srgbClr val="64748B"/>
                </a:solidFill>
                <a:latin typeface="Liberation Sans"/>
              </a:defRPr>
            </a:pPr>
            <a:r>
              <a:t>Open Data Imperia • Fablab Imperia APS — Linux Day 2026</a:t>
            </a:r>
          </a:p>
        </p:txBody>
      </p:sp>
      <p:sp>
        <p:nvSpPr>
          <p:cNvPr id="11" name="TextBox 10"/>
          <p:cNvSpPr txBox="1"/>
          <p:nvPr/>
        </p:nvSpPr>
        <p:spPr>
          <a:xfrm>
            <a:off x="9601200" y="6400800"/>
            <a:ext cx="1828800" cy="365760"/>
          </a:xfrm>
          <a:prstGeom prst="rect">
            <a:avLst/>
          </a:prstGeom>
          <a:noFill/>
        </p:spPr>
        <p:txBody>
          <a:bodyPr wrap="none" tIns="0" bIns="0" lIns="0" rIns="0">
            <a:spAutoFit/>
          </a:bodyPr>
          <a:lstStyle/>
          <a:p>
            <a:pPr algn="r">
              <a:defRPr sz="1000" b="1">
                <a:solidFill>
                  <a:srgbClr val="0D9488"/>
                </a:solidFill>
                <a:latin typeface="Liberation Sans"/>
              </a:defRPr>
            </a:pPr>
            <a: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tIns="0" bIns="0" lIns="0" rIns="0">
            <a:spAutoFit/>
          </a:bodyPr>
          <a:lstStyle/>
          <a:p>
            <a:pPr>
              <a:spcAft>
                <a:spcPts val="200"/>
              </a:spcAft>
              <a:defRPr sz="1100" b="1">
                <a:solidFill>
                  <a:srgbClr val="0D9488"/>
                </a:solidFill>
                <a:latin typeface="Liberation Sans"/>
              </a:defRPr>
            </a:pPr>
            <a:r>
              <a:t>SEZIONE 3 • IL PROGETTO OPEN DATA IMPERIA</a:t>
            </a:r>
          </a:p>
          <a:p>
            <a:pPr>
              <a:spcAft>
                <a:spcPts val="200"/>
              </a:spcAft>
              <a:defRPr sz="2400" b="1">
                <a:solidFill>
                  <a:srgbClr val="0F172A"/>
                </a:solidFill>
                <a:latin typeface="Liberation Sans"/>
              </a:defRPr>
            </a:pPr>
            <a:r>
              <a:t>Fonti già Implementate: Meteo e Acque</a:t>
            </a:r>
          </a:p>
          <a:p>
            <a:pPr>
              <a:defRPr sz="1200">
                <a:solidFill>
                  <a:srgbClr val="64748B"/>
                </a:solidFill>
                <a:latin typeface="Liberation Sans"/>
              </a:defRPr>
            </a:pPr>
            <a:r>
              <a:t>Due connettori reali e funzionanti già operativi nel codice sorgente del progetto</a:t>
            </a:r>
          </a:p>
        </p:txBody>
      </p:sp>
      <p:sp>
        <p:nvSpPr>
          <p:cNvPr id="4" name="Rectangle 3"/>
          <p:cNvSpPr/>
          <p:nvPr/>
        </p:nvSpPr>
        <p:spPr>
          <a:xfrm>
            <a:off x="731520" y="1737360"/>
            <a:ext cx="5120640" cy="4389120"/>
          </a:xfrm>
          <a:prstGeom prst="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01952"/>
            <a:ext cx="475488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ARPAL_METEO_IMPERIA</a:t>
            </a:r>
          </a:p>
          <a:p>
            <a:pPr>
              <a:spcAft>
                <a:spcPts val="600"/>
              </a:spcAft>
              <a:defRPr sz="1500" b="1">
                <a:solidFill>
                  <a:srgbClr val="0F172A"/>
                </a:solidFill>
                <a:latin typeface="Liberation Sans"/>
              </a:defRPr>
            </a:pPr>
            <a:r>
              <a:t>ARPAL Meteo Imperia</a:t>
            </a:r>
          </a:p>
          <a:p>
            <a:pPr>
              <a:spcAft>
                <a:spcPts val="400"/>
              </a:spcAft>
            </a:pPr>
            <a:r>
              <a:rPr b="1" sz="1200">
                <a:solidFill>
                  <a:srgbClr val="0F172A"/>
                </a:solidFill>
                <a:latin typeface="Liberation Sans"/>
              </a:rPr>
              <a:t>• Modulo: </a:t>
            </a:r>
            <a:r>
              <a:rPr sz="1200">
                <a:solidFill>
                  <a:srgbClr val="334155"/>
                </a:solidFill>
                <a:latin typeface="Liberation Sans"/>
              </a:rPr>
              <a:t>collectors/sources/arpal_meteo_imperia.py</a:t>
            </a:r>
          </a:p>
          <a:p>
            <a:pPr>
              <a:spcAft>
                <a:spcPts val="400"/>
              </a:spcAft>
            </a:pPr>
            <a:r>
              <a:rPr b="1" sz="1200">
                <a:solidFill>
                  <a:srgbClr val="0F172A"/>
                </a:solidFill>
                <a:latin typeface="Liberation Sans"/>
              </a:rPr>
              <a:t>• Ente Titolare: </a:t>
            </a:r>
            <a:r>
              <a:rPr sz="1200">
                <a:solidFill>
                  <a:srgbClr val="334155"/>
                </a:solidFill>
                <a:latin typeface="Liberation Sans"/>
              </a:rPr>
              <a:t>Agenzia Regionale per la Protezione dell'Ambiente Ligure (ARPAL).</a:t>
            </a:r>
          </a:p>
          <a:p>
            <a:pPr>
              <a:spcAft>
                <a:spcPts val="400"/>
              </a:spcAft>
            </a:pPr>
            <a:r>
              <a:rPr b="1" sz="1200">
                <a:solidFill>
                  <a:srgbClr val="0F172A"/>
                </a:solidFill>
                <a:latin typeface="Liberation Sans"/>
              </a:rPr>
              <a:t>• Dati Raccolti: </a:t>
            </a:r>
            <a:r>
              <a:rPr sz="1200">
                <a:solidFill>
                  <a:srgbClr val="334155"/>
                </a:solidFill>
                <a:latin typeface="Liberation Sans"/>
              </a:rPr>
              <a:t>Rilevazioni meteorologiche orarie e giornaliere delle stazioni della provincia di Imperia (Imperia Osservatorio, Sanremo, Ventimiglia, Pieve di Teco, Triora).</a:t>
            </a:r>
          </a:p>
          <a:p>
            <a:pPr>
              <a:spcAft>
                <a:spcPts val="400"/>
              </a:spcAft>
            </a:pPr>
            <a:r>
              <a:rPr b="1" sz="1200">
                <a:solidFill>
                  <a:srgbClr val="0F172A"/>
                </a:solidFill>
                <a:latin typeface="Liberation Sans"/>
              </a:rPr>
              <a:t>• Parametri Monitorati: </a:t>
            </a:r>
            <a:r>
              <a:rPr sz="1200">
                <a:solidFill>
                  <a:srgbClr val="334155"/>
                </a:solidFill>
                <a:latin typeface="Liberation Sans"/>
              </a:rPr>
              <a:t>Temperatura dell'aria (°C), precipitazioni cumulate (mm), velocità e direzione del vento, umidità relativa e pressione atmosferica.</a:t>
            </a:r>
          </a:p>
          <a:p>
            <a:pPr>
              <a:spcAft>
                <a:spcPts val="400"/>
              </a:spcAft>
            </a:pPr>
            <a:r>
              <a:rPr b="1" sz="1200">
                <a:solidFill>
                  <a:srgbClr val="0F172A"/>
                </a:solidFill>
                <a:latin typeface="Liberation Sans"/>
              </a:rPr>
              <a:t>• Formato di Uscita: </a:t>
            </a:r>
            <a:r>
              <a:rPr sz="1200">
                <a:solidFill>
                  <a:srgbClr val="334155"/>
                </a:solidFill>
                <a:latin typeface="Liberation Sans"/>
              </a:rPr>
              <a:t>File CSV puliti, codificati in UTF-8 con intestazioni standard, pronti per analisi di serie storiche e visualizzazioni grafiche.</a:t>
            </a:r>
          </a:p>
        </p:txBody>
      </p:sp>
      <p:sp>
        <p:nvSpPr>
          <p:cNvPr id="6" name="Rectangle 5"/>
          <p:cNvSpPr/>
          <p:nvPr/>
        </p:nvSpPr>
        <p:spPr>
          <a:xfrm>
            <a:off x="6217920" y="1737360"/>
            <a:ext cx="5212080" cy="4389120"/>
          </a:xfrm>
          <a:prstGeom prst="rect">
            <a:avLst/>
          </a:prstGeom>
          <a:solidFill>
            <a:srgbClr val="FFFFFF"/>
          </a:solidFill>
          <a:ln w="19050">
            <a:solidFill>
              <a:srgbClr val="0084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901952"/>
            <a:ext cx="484632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RIVIERACQUA_IMPERIA</a:t>
            </a:r>
          </a:p>
          <a:p>
            <a:pPr>
              <a:spcAft>
                <a:spcPts val="600"/>
              </a:spcAft>
              <a:defRPr sz="1500" b="1">
                <a:solidFill>
                  <a:srgbClr val="0F172A"/>
                </a:solidFill>
                <a:latin typeface="Liberation Sans"/>
              </a:defRPr>
            </a:pPr>
            <a:r>
              <a:t>Rivieracqua — Monitoraggio Acque</a:t>
            </a:r>
          </a:p>
          <a:p>
            <a:pPr>
              <a:spcAft>
                <a:spcPts val="400"/>
              </a:spcAft>
            </a:pPr>
            <a:r>
              <a:rPr b="1" sz="1200">
                <a:solidFill>
                  <a:srgbClr val="0F172A"/>
                </a:solidFill>
                <a:latin typeface="Liberation Sans"/>
              </a:rPr>
              <a:t>• Modulo: </a:t>
            </a:r>
            <a:r>
              <a:rPr sz="1200">
                <a:solidFill>
                  <a:srgbClr val="334155"/>
                </a:solidFill>
                <a:latin typeface="Liberation Sans"/>
              </a:rPr>
              <a:t>collectors/sources/rivieracqua_imperia.py</a:t>
            </a:r>
          </a:p>
          <a:p>
            <a:pPr>
              <a:spcAft>
                <a:spcPts val="400"/>
              </a:spcAft>
            </a:pPr>
            <a:r>
              <a:rPr b="1" sz="1200">
                <a:solidFill>
                  <a:srgbClr val="0F172A"/>
                </a:solidFill>
                <a:latin typeface="Liberation Sans"/>
              </a:rPr>
              <a:t>• Ente Titolare: </a:t>
            </a:r>
            <a:r>
              <a:rPr sz="1200">
                <a:solidFill>
                  <a:srgbClr val="334155"/>
                </a:solidFill>
                <a:latin typeface="Liberation Sans"/>
              </a:rPr>
              <a:t>Rivieracqua S.p.A. — Gestore unico del servizio idrico integrato nell'ATO Ovest Imperiese.</a:t>
            </a:r>
          </a:p>
          <a:p>
            <a:pPr>
              <a:spcAft>
                <a:spcPts val="400"/>
              </a:spcAft>
            </a:pPr>
            <a:r>
              <a:rPr b="1" sz="1200">
                <a:solidFill>
                  <a:srgbClr val="0F172A"/>
                </a:solidFill>
                <a:latin typeface="Liberation Sans"/>
              </a:rPr>
              <a:t>• Dati Raccolti: </a:t>
            </a:r>
            <a:r>
              <a:rPr sz="1200">
                <a:solidFill>
                  <a:srgbClr val="334155"/>
                </a:solidFill>
                <a:latin typeface="Liberation Sans"/>
              </a:rPr>
              <a:t>Parametri analitici di conformità chimico-fisica e microbiologica dell'acqua potabile distribuita nei vari punti di prelievo comunali.</a:t>
            </a:r>
          </a:p>
          <a:p>
            <a:pPr>
              <a:spcAft>
                <a:spcPts val="400"/>
              </a:spcAft>
            </a:pPr>
            <a:r>
              <a:rPr b="1" sz="1200">
                <a:solidFill>
                  <a:srgbClr val="0F172A"/>
                </a:solidFill>
                <a:latin typeface="Liberation Sans"/>
              </a:rPr>
              <a:t>• Parametri Chiave: </a:t>
            </a:r>
            <a:r>
              <a:rPr sz="1200">
                <a:solidFill>
                  <a:srgbClr val="334155"/>
                </a:solidFill>
                <a:latin typeface="Liberation Sans"/>
              </a:rPr>
              <a:t>Concentrazione di cloruri, durezza totale francese, residuo fisso a 180°, pH, presenza di disinfettanti residui.</a:t>
            </a:r>
          </a:p>
          <a:p>
            <a:pPr>
              <a:spcAft>
                <a:spcPts val="400"/>
              </a:spcAft>
            </a:pPr>
            <a:r>
              <a:rPr b="1" sz="1200">
                <a:solidFill>
                  <a:srgbClr val="0F172A"/>
                </a:solidFill>
                <a:latin typeface="Liberation Sans"/>
              </a:rPr>
              <a:t>• Valore Civico: </a:t>
            </a:r>
            <a:r>
              <a:rPr sz="1200">
                <a:solidFill>
                  <a:srgbClr val="334155"/>
                </a:solidFill>
                <a:latin typeface="Liberation Sans"/>
              </a:rPr>
              <a:t>Trasparenza su una risorsa critica per il Ponente Ligure, facilitando il monitoraggio pubblico sulla qualità dell'acqua che sgorga dai rubinetti.</a:t>
            </a:r>
          </a:p>
        </p:txBody>
      </p:sp>
      <p:sp>
        <p:nvSpPr>
          <p:cNvPr id="8" name="TextBox 7"/>
          <p:cNvSpPr txBox="1"/>
          <p:nvPr/>
        </p:nvSpPr>
        <p:spPr>
          <a:xfrm>
            <a:off x="731520" y="6400800"/>
            <a:ext cx="10728655" cy="365760"/>
          </a:xfrm>
          <a:prstGeom prst="rect">
            <a:avLst/>
          </a:prstGeom>
          <a:noFill/>
        </p:spPr>
        <p:txBody>
          <a:bodyPr wrap="none" tIns="0" bIns="0" lIns="0" rIns="0">
            <a:spAutoFit/>
          </a:bodyPr>
          <a:lstStyle/>
          <a:p>
            <a:pPr>
              <a:defRPr sz="1000">
                <a:solidFill>
                  <a:srgbClr val="64748B"/>
                </a:solidFill>
                <a:latin typeface="Liberation Sans"/>
              </a:defRPr>
            </a:pPr>
            <a:r>
              <a:t>Open Data Imperia • Fablab Imperia APS — Linux Day 2026</a:t>
            </a:r>
          </a:p>
        </p:txBody>
      </p:sp>
      <p:sp>
        <p:nvSpPr>
          <p:cNvPr id="9" name="TextBox 8"/>
          <p:cNvSpPr txBox="1"/>
          <p:nvPr/>
        </p:nvSpPr>
        <p:spPr>
          <a:xfrm>
            <a:off x="9601200" y="6400800"/>
            <a:ext cx="1828800" cy="365760"/>
          </a:xfrm>
          <a:prstGeom prst="rect">
            <a:avLst/>
          </a:prstGeom>
          <a:noFill/>
        </p:spPr>
        <p:txBody>
          <a:bodyPr wrap="none" tIns="0" bIns="0" lIns="0" rIns="0">
            <a:spAutoFit/>
          </a:bodyPr>
          <a:lstStyle/>
          <a:p>
            <a:pPr algn="r">
              <a:defRPr sz="1000" b="1">
                <a:solidFill>
                  <a:srgbClr val="0D9488"/>
                </a:solidFill>
                <a:latin typeface="Liberation Sans"/>
              </a:defRPr>
            </a:pPr>
            <a: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tIns="0" bIns="0" lIns="0" rIns="0">
            <a:spAutoFit/>
          </a:bodyPr>
          <a:lstStyle/>
          <a:p>
            <a:pPr>
              <a:spcAft>
                <a:spcPts val="200"/>
              </a:spcAft>
              <a:defRPr sz="1100" b="1">
                <a:solidFill>
                  <a:srgbClr val="0D9488"/>
                </a:solidFill>
                <a:latin typeface="Liberation Sans"/>
              </a:defRPr>
            </a:pPr>
            <a:r>
              <a:t>SEZIONE 3 • IL PROGETTO OPEN DATA IMPERIA</a:t>
            </a:r>
          </a:p>
          <a:p>
            <a:pPr>
              <a:spcAft>
                <a:spcPts val="200"/>
              </a:spcAft>
              <a:defRPr sz="2400" b="1">
                <a:solidFill>
                  <a:srgbClr val="0F172A"/>
                </a:solidFill>
                <a:latin typeface="Liberation Sans"/>
              </a:defRPr>
            </a:pPr>
            <a:r>
              <a:t>Roadmap: Le Prossime Fonti per il Territorio</a:t>
            </a:r>
          </a:p>
          <a:p>
            <a:pPr>
              <a:defRPr sz="1200">
                <a:solidFill>
                  <a:srgbClr val="64748B"/>
                </a:solidFill>
                <a:latin typeface="Liberation Sans"/>
              </a:defRPr>
            </a:pPr>
            <a:r>
              <a:t>Le direttrici di sviluppo per arricchire il patrimonio informativo provinciale</a:t>
            </a:r>
          </a:p>
        </p:txBody>
      </p:sp>
      <p:sp>
        <p:nvSpPr>
          <p:cNvPr id="4" name="Rectangle 3"/>
          <p:cNvSpPr/>
          <p:nvPr/>
        </p:nvSpPr>
        <p:spPr>
          <a:xfrm>
            <a:off x="731520" y="1737360"/>
            <a:ext cx="5120640" cy="2057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01952"/>
            <a:ext cx="4754880" cy="172821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ROADMAP #1</a:t>
            </a:r>
          </a:p>
          <a:p>
            <a:pPr>
              <a:spcAft>
                <a:spcPts val="600"/>
              </a:spcAft>
              <a:defRPr sz="1500" b="1">
                <a:solidFill>
                  <a:srgbClr val="0F172A"/>
                </a:solidFill>
                <a:latin typeface="Liberation Sans"/>
              </a:defRPr>
            </a:pPr>
            <a:r>
              <a:t>Regione Liguria (CKAN Harvesting)</a:t>
            </a:r>
          </a:p>
          <a:p>
            <a:pPr>
              <a:spcAft>
                <a:spcPts val="400"/>
              </a:spcAft>
            </a:pPr>
            <a:r>
              <a:rPr b="1" sz="1200">
                <a:solidFill>
                  <a:srgbClr val="0F172A"/>
                </a:solidFill>
                <a:latin typeface="Liberation Sans"/>
              </a:rPr>
              <a:t>• Harvesting Automatico: </a:t>
            </a:r>
            <a:r>
              <a:rPr sz="1200">
                <a:solidFill>
                  <a:srgbClr val="334155"/>
                </a:solidFill>
                <a:latin typeface="Liberation Sans"/>
              </a:rPr>
              <a:t>Attivare il connettore nativo CKAN-to-CKAN per raccogliere periodicamente tutti i dataset regionali con tag geografico 'Imperia'.</a:t>
            </a:r>
          </a:p>
          <a:p>
            <a:pPr>
              <a:spcAft>
                <a:spcPts val="400"/>
              </a:spcAft>
            </a:pPr>
            <a:r>
              <a:rPr b="1" sz="1200">
                <a:solidFill>
                  <a:srgbClr val="0F172A"/>
                </a:solidFill>
                <a:latin typeface="Liberation Sans"/>
              </a:rPr>
              <a:t>• Zero Sforzo Manuale: </a:t>
            </a:r>
            <a:r>
              <a:rPr sz="1200">
                <a:solidFill>
                  <a:srgbClr val="334155"/>
                </a:solidFill>
                <a:latin typeface="Liberation Sans"/>
              </a:rPr>
              <a:t>Sincronizzazione continua di stradari, vincoli paesaggistici e cartografia tecnica regionale.</a:t>
            </a:r>
          </a:p>
        </p:txBody>
      </p:sp>
      <p:sp>
        <p:nvSpPr>
          <p:cNvPr id="6" name="Rectangle 5"/>
          <p:cNvSpPr/>
          <p:nvPr/>
        </p:nvSpPr>
        <p:spPr>
          <a:xfrm>
            <a:off x="6217920" y="1737360"/>
            <a:ext cx="5120640" cy="2057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901952"/>
            <a:ext cx="4754880" cy="172821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ROADMAP #2</a:t>
            </a:r>
          </a:p>
          <a:p>
            <a:pPr>
              <a:spcAft>
                <a:spcPts val="600"/>
              </a:spcAft>
              <a:defRPr sz="1500" b="1">
                <a:solidFill>
                  <a:srgbClr val="0F172A"/>
                </a:solidFill>
                <a:latin typeface="Liberation Sans"/>
              </a:defRPr>
            </a:pPr>
            <a:r>
              <a:t>ISTAT (Statistiche Comunali SDMX)</a:t>
            </a:r>
          </a:p>
          <a:p>
            <a:pPr>
              <a:spcAft>
                <a:spcPts val="400"/>
              </a:spcAft>
            </a:pPr>
            <a:r>
              <a:rPr b="1" sz="1200">
                <a:solidFill>
                  <a:srgbClr val="0F172A"/>
                </a:solidFill>
                <a:latin typeface="Liberation Sans"/>
              </a:rPr>
              <a:t>• Dati Demografici e Censuari: </a:t>
            </a:r>
            <a:r>
              <a:rPr sz="1200">
                <a:solidFill>
                  <a:srgbClr val="334155"/>
                </a:solidFill>
                <a:latin typeface="Liberation Sans"/>
              </a:rPr>
              <a:t>Integrazione tramite API SDMX ufficiali dell'ISTAT.</a:t>
            </a:r>
          </a:p>
          <a:p>
            <a:pPr>
              <a:spcAft>
                <a:spcPts val="400"/>
              </a:spcAft>
            </a:pPr>
            <a:r>
              <a:rPr b="1" sz="1200">
                <a:solidFill>
                  <a:srgbClr val="0F172A"/>
                </a:solidFill>
                <a:latin typeface="Liberation Sans"/>
              </a:rPr>
              <a:t>• Analisi Territoriale: </a:t>
            </a:r>
            <a:r>
              <a:rPr sz="1200">
                <a:solidFill>
                  <a:srgbClr val="334155"/>
                </a:solidFill>
                <a:latin typeface="Liberation Sans"/>
              </a:rPr>
              <a:t>Popolazione residente, indice di vecchiaia, movimenti migratori e indicatori socio-economici per tutti i 66 comuni della provincia di Imperia.</a:t>
            </a:r>
          </a:p>
        </p:txBody>
      </p:sp>
      <p:sp>
        <p:nvSpPr>
          <p:cNvPr id="8" name="Rectangle 7"/>
          <p:cNvSpPr/>
          <p:nvPr/>
        </p:nvSpPr>
        <p:spPr>
          <a:xfrm>
            <a:off x="731520" y="4069080"/>
            <a:ext cx="5120640" cy="2057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233672"/>
            <a:ext cx="4754880" cy="172821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ROADMAP #3</a:t>
            </a:r>
          </a:p>
          <a:p>
            <a:pPr>
              <a:spcAft>
                <a:spcPts val="600"/>
              </a:spcAft>
              <a:defRPr sz="1500" b="1">
                <a:solidFill>
                  <a:srgbClr val="0F172A"/>
                </a:solidFill>
                <a:latin typeface="Liberation Sans"/>
              </a:defRPr>
            </a:pPr>
            <a:r>
              <a:t>MIMIT (Prezzi Carburanti Giornalieri)</a:t>
            </a:r>
          </a:p>
          <a:p>
            <a:pPr>
              <a:spcAft>
                <a:spcPts val="400"/>
              </a:spcAft>
            </a:pPr>
            <a:r>
              <a:rPr b="1" sz="1200">
                <a:solidFill>
                  <a:srgbClr val="0F172A"/>
                </a:solidFill>
                <a:latin typeface="Liberation Sans"/>
              </a:rPr>
              <a:t>• Open Data Ministeriali: </a:t>
            </a:r>
            <a:r>
              <a:rPr sz="1200">
                <a:solidFill>
                  <a:srgbClr val="334155"/>
                </a:solidFill>
                <a:latin typeface="Liberation Sans"/>
              </a:rPr>
              <a:t>Acquisizione del file CSV giornaliero pubblicato dal Ministero delle Imprese e del Made in Italy.</a:t>
            </a:r>
          </a:p>
          <a:p>
            <a:pPr>
              <a:spcAft>
                <a:spcPts val="400"/>
              </a:spcAft>
            </a:pPr>
            <a:r>
              <a:rPr b="1" sz="1200">
                <a:solidFill>
                  <a:srgbClr val="0F172A"/>
                </a:solidFill>
                <a:latin typeface="Liberation Sans"/>
              </a:rPr>
              <a:t>• Filtro Provinciale: </a:t>
            </a:r>
            <a:r>
              <a:rPr sz="1200">
                <a:solidFill>
                  <a:srgbClr val="334155"/>
                </a:solidFill>
                <a:latin typeface="Liberation Sans"/>
              </a:rPr>
              <a:t>Estrazione dei prezzi aggiornati di benzina, diesel, GPL e metano in tutti i distributori stradali imperiesi.</a:t>
            </a:r>
          </a:p>
        </p:txBody>
      </p:sp>
      <p:sp>
        <p:nvSpPr>
          <p:cNvPr id="10" name="Rectangle 9"/>
          <p:cNvSpPr/>
          <p:nvPr/>
        </p:nvSpPr>
        <p:spPr>
          <a:xfrm>
            <a:off x="6217920" y="4069080"/>
            <a:ext cx="5120640" cy="2057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4233672"/>
            <a:ext cx="4754880" cy="172821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ROADMAP #4</a:t>
            </a:r>
          </a:p>
          <a:p>
            <a:pPr>
              <a:spcAft>
                <a:spcPts val="600"/>
              </a:spcAft>
              <a:defRPr sz="1500" b="1">
                <a:solidFill>
                  <a:srgbClr val="0F172A"/>
                </a:solidFill>
                <a:latin typeface="Liberation Sans"/>
              </a:defRPr>
            </a:pPr>
            <a:r>
              <a:t>OpenStreetMap &amp; Mobilità Locale</a:t>
            </a:r>
          </a:p>
          <a:p>
            <a:pPr>
              <a:spcAft>
                <a:spcPts val="400"/>
              </a:spcAft>
            </a:pPr>
            <a:r>
              <a:rPr b="1" sz="1200">
                <a:solidFill>
                  <a:srgbClr val="0F172A"/>
                </a:solidFill>
                <a:latin typeface="Liberation Sans"/>
              </a:rPr>
              <a:t>• Punti di Interesse Civico: </a:t>
            </a:r>
            <a:r>
              <a:rPr sz="1200">
                <a:solidFill>
                  <a:srgbClr val="334155"/>
                </a:solidFill>
                <a:latin typeface="Liberation Sans"/>
              </a:rPr>
              <a:t>Estrazione tramite Overpass API di defibrillatori DAE, fontanelle, sentieri dell'entroterra e piste ciclabili.</a:t>
            </a:r>
          </a:p>
          <a:p>
            <a:pPr>
              <a:spcAft>
                <a:spcPts val="400"/>
              </a:spcAft>
            </a:pPr>
            <a:r>
              <a:rPr b="1" sz="1200">
                <a:solidFill>
                  <a:srgbClr val="0F172A"/>
                </a:solidFill>
                <a:latin typeface="Liberation Sans"/>
              </a:rPr>
              <a:t>• Trasporto Pubblico Locale: </a:t>
            </a:r>
            <a:r>
              <a:rPr sz="1200">
                <a:solidFill>
                  <a:srgbClr val="334155"/>
                </a:solidFill>
                <a:latin typeface="Liberation Sans"/>
              </a:rPr>
              <a:t>Integrazione con orari e fermate bus in formato aperto GTFS.</a:t>
            </a:r>
          </a:p>
        </p:txBody>
      </p:sp>
      <p:sp>
        <p:nvSpPr>
          <p:cNvPr id="12" name="TextBox 11"/>
          <p:cNvSpPr txBox="1"/>
          <p:nvPr/>
        </p:nvSpPr>
        <p:spPr>
          <a:xfrm>
            <a:off x="731520" y="6400800"/>
            <a:ext cx="10728655" cy="365760"/>
          </a:xfrm>
          <a:prstGeom prst="rect">
            <a:avLst/>
          </a:prstGeom>
          <a:noFill/>
        </p:spPr>
        <p:txBody>
          <a:bodyPr wrap="none" tIns="0" bIns="0" lIns="0" rIns="0">
            <a:spAutoFit/>
          </a:bodyPr>
          <a:lstStyle/>
          <a:p>
            <a:pPr>
              <a:defRPr sz="1000">
                <a:solidFill>
                  <a:srgbClr val="64748B"/>
                </a:solidFill>
                <a:latin typeface="Liberation Sans"/>
              </a:defRPr>
            </a:pPr>
            <a:r>
              <a:t>Open Data Imperia • Fablab Imperia APS — Linux Day 2026</a:t>
            </a:r>
          </a:p>
        </p:txBody>
      </p:sp>
      <p:sp>
        <p:nvSpPr>
          <p:cNvPr id="13" name="TextBox 12"/>
          <p:cNvSpPr txBox="1"/>
          <p:nvPr/>
        </p:nvSpPr>
        <p:spPr>
          <a:xfrm>
            <a:off x="9601200" y="6400800"/>
            <a:ext cx="1828800" cy="365760"/>
          </a:xfrm>
          <a:prstGeom prst="rect">
            <a:avLst/>
          </a:prstGeom>
          <a:noFill/>
        </p:spPr>
        <p:txBody>
          <a:bodyPr wrap="none" tIns="0" bIns="0" lIns="0" rIns="0">
            <a:spAutoFit/>
          </a:bodyPr>
          <a:lstStyle/>
          <a:p>
            <a:pPr algn="r">
              <a:defRPr sz="1000" b="1">
                <a:solidFill>
                  <a:srgbClr val="0D9488"/>
                </a:solidFill>
                <a:latin typeface="Liberation Sans"/>
              </a:defRPr>
            </a:pPr>
            <a: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tIns="0" bIns="0" lIns="0" rIns="0">
            <a:spAutoFit/>
          </a:bodyPr>
          <a:lstStyle/>
          <a:p>
            <a:pPr>
              <a:spcAft>
                <a:spcPts val="200"/>
              </a:spcAft>
              <a:defRPr sz="1100" b="1">
                <a:solidFill>
                  <a:srgbClr val="0D9488"/>
                </a:solidFill>
                <a:latin typeface="Liberation Sans"/>
              </a:defRPr>
            </a:pPr>
            <a:r>
              <a:t>SEZIONE 3 • IL PROGETTO OPEN DATA IMPERIA</a:t>
            </a:r>
          </a:p>
          <a:p>
            <a:pPr>
              <a:spcAft>
                <a:spcPts val="200"/>
              </a:spcAft>
              <a:defRPr sz="2400" b="1">
                <a:solidFill>
                  <a:srgbClr val="0F172A"/>
                </a:solidFill>
                <a:latin typeface="Liberation Sans"/>
              </a:defRPr>
            </a:pPr>
            <a:r>
              <a:t>Licenza, Governance e Riuso del Progetto</a:t>
            </a:r>
          </a:p>
          <a:p>
            <a:pPr>
              <a:defRPr sz="1200">
                <a:solidFill>
                  <a:srgbClr val="64748B"/>
                </a:solidFill>
                <a:latin typeface="Liberation Sans"/>
              </a:defRPr>
            </a:pPr>
            <a:r>
              <a:t>Un'infrastruttura pensata come bene comune digitale per la collettività</a:t>
            </a:r>
          </a:p>
        </p:txBody>
      </p:sp>
      <p:sp>
        <p:nvSpPr>
          <p:cNvPr id="4" name="Rectangle 3"/>
          <p:cNvSpPr/>
          <p:nvPr/>
        </p:nvSpPr>
        <p:spPr>
          <a:xfrm>
            <a:off x="731520" y="1737360"/>
            <a:ext cx="342900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01952"/>
            <a:ext cx="306324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LICENZA SOFTWARE</a:t>
            </a:r>
          </a:p>
          <a:p>
            <a:pPr>
              <a:spcAft>
                <a:spcPts val="600"/>
              </a:spcAft>
              <a:defRPr sz="1500" b="1">
                <a:solidFill>
                  <a:srgbClr val="0F172A"/>
                </a:solidFill>
                <a:latin typeface="Liberation Sans"/>
              </a:defRPr>
            </a:pPr>
            <a:r>
              <a:t>Codice Libero: AGPL-3.0</a:t>
            </a:r>
          </a:p>
          <a:p>
            <a:pPr>
              <a:spcAft>
                <a:spcPts val="400"/>
              </a:spcAft>
            </a:pPr>
            <a:r>
              <a:rPr b="1" sz="1200">
                <a:solidFill>
                  <a:srgbClr val="0F172A"/>
                </a:solidFill>
                <a:latin typeface="Liberation Sans"/>
              </a:rPr>
              <a:t>• Affero General Public License: </a:t>
            </a:r>
            <a:r>
              <a:rPr sz="1200">
                <a:solidFill>
                  <a:srgbClr val="334155"/>
                </a:solidFill>
                <a:latin typeface="Liberation Sans"/>
              </a:rPr>
              <a:t>La licenza copyleft per eccellenza nel mondo del cloud e dei servizi web.</a:t>
            </a:r>
          </a:p>
          <a:p>
            <a:pPr>
              <a:spcAft>
                <a:spcPts val="400"/>
              </a:spcAft>
            </a:pPr>
            <a:r>
              <a:rPr b="1" sz="1200">
                <a:solidFill>
                  <a:srgbClr val="0F172A"/>
                </a:solidFill>
                <a:latin typeface="Liberation Sans"/>
              </a:rPr>
              <a:t>• Garanzia di Libertà: </a:t>
            </a:r>
            <a:r>
              <a:rPr sz="1200">
                <a:solidFill>
                  <a:srgbClr val="334155"/>
                </a:solidFill>
                <a:latin typeface="Liberation Sans"/>
              </a:rPr>
              <a:t>Chiunque modifichi il software o lo offra come servizio di rete ha l'obbligo di rilasciare il codice sorgente.</a:t>
            </a:r>
          </a:p>
          <a:p>
            <a:pPr>
              <a:spcAft>
                <a:spcPts val="400"/>
              </a:spcAft>
            </a:pPr>
            <a:r>
              <a:rPr b="1" sz="1200">
                <a:solidFill>
                  <a:srgbClr val="0F172A"/>
                </a:solidFill>
                <a:latin typeface="Liberation Sans"/>
              </a:rPr>
              <a:t>• Tutela del Lavoro Volontario: </a:t>
            </a:r>
            <a:r>
              <a:rPr sz="1200">
                <a:solidFill>
                  <a:srgbClr val="334155"/>
                </a:solidFill>
                <a:latin typeface="Liberation Sans"/>
              </a:rPr>
              <a:t>Impedisce che grandi aziende proprietarie 'privatizzino' il codice sviluppato dalla comunità senza contribuire a loro volta.</a:t>
            </a:r>
          </a:p>
        </p:txBody>
      </p:sp>
      <p:sp>
        <p:nvSpPr>
          <p:cNvPr id="6" name="Rectangle 5"/>
          <p:cNvSpPr/>
          <p:nvPr/>
        </p:nvSpPr>
        <p:spPr>
          <a:xfrm>
            <a:off x="4389120" y="1737360"/>
            <a:ext cx="3429000" cy="4389120"/>
          </a:xfrm>
          <a:prstGeom prst="rect">
            <a:avLst/>
          </a:prstGeom>
          <a:solidFill>
            <a:srgbClr val="FFFFFF"/>
          </a:solidFill>
          <a:ln w="19050">
            <a:solidFill>
              <a:srgbClr val="0084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901952"/>
            <a:ext cx="306324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LICENZA DATI</a:t>
            </a:r>
          </a:p>
          <a:p>
            <a:pPr>
              <a:spcAft>
                <a:spcPts val="600"/>
              </a:spcAft>
              <a:defRPr sz="1500" b="1">
                <a:solidFill>
                  <a:srgbClr val="0F172A"/>
                </a:solidFill>
                <a:latin typeface="Liberation Sans"/>
              </a:defRPr>
            </a:pPr>
            <a:r>
              <a:t>Dati Aperti: CC BY 4.0</a:t>
            </a:r>
          </a:p>
          <a:p>
            <a:pPr>
              <a:spcAft>
                <a:spcPts val="400"/>
              </a:spcAft>
            </a:pPr>
            <a:r>
              <a:rPr b="1" sz="1200">
                <a:solidFill>
                  <a:srgbClr val="0F172A"/>
                </a:solidFill>
                <a:latin typeface="Liberation Sans"/>
              </a:rPr>
              <a:t>• Massima Diffusione: </a:t>
            </a:r>
            <a:r>
              <a:rPr sz="1200">
                <a:solidFill>
                  <a:srgbClr val="334155"/>
                </a:solidFill>
                <a:latin typeface="Liberation Sans"/>
              </a:rPr>
              <a:t>I dati normalizzati e catalogati dal portale sono resi disponibili con la licenza Creative Commons Attribuzione.</a:t>
            </a:r>
          </a:p>
          <a:p>
            <a:pPr>
              <a:spcAft>
                <a:spcPts val="400"/>
              </a:spcAft>
            </a:pPr>
            <a:r>
              <a:rPr b="1" sz="1200">
                <a:solidFill>
                  <a:srgbClr val="0F172A"/>
                </a:solidFill>
                <a:latin typeface="Liberation Sans"/>
              </a:rPr>
              <a:t>• Uso Senza Limiti: </a:t>
            </a:r>
            <a:r>
              <a:rPr sz="1200">
                <a:solidFill>
                  <a:srgbClr val="334155"/>
                </a:solidFill>
                <a:latin typeface="Liberation Sans"/>
              </a:rPr>
              <a:t>Liberi per studenti, tesisti, startup, imprese di trasporto, giornalisti e semplici curiosi.</a:t>
            </a:r>
          </a:p>
          <a:p>
            <a:pPr>
              <a:spcAft>
                <a:spcPts val="400"/>
              </a:spcAft>
            </a:pPr>
            <a:r>
              <a:rPr b="1" sz="1200">
                <a:solidFill>
                  <a:srgbClr val="0F172A"/>
                </a:solidFill>
                <a:latin typeface="Liberation Sans"/>
              </a:rPr>
              <a:t>• Basta Citare la Fonte: </a:t>
            </a:r>
            <a:r>
              <a:rPr sz="1200">
                <a:solidFill>
                  <a:srgbClr val="334155"/>
                </a:solidFill>
                <a:latin typeface="Liberation Sans"/>
              </a:rPr>
              <a:t>Unico requisito etico e legale: menzionare la fonte dei dati.</a:t>
            </a:r>
          </a:p>
        </p:txBody>
      </p:sp>
      <p:sp>
        <p:nvSpPr>
          <p:cNvPr id="8" name="Rectangle 7"/>
          <p:cNvSpPr/>
          <p:nvPr/>
        </p:nvSpPr>
        <p:spPr>
          <a:xfrm>
            <a:off x="8046720" y="1737360"/>
            <a:ext cx="342900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901952"/>
            <a:ext cx="306324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REPLICABILITÀ</a:t>
            </a:r>
          </a:p>
          <a:p>
            <a:pPr>
              <a:spcAft>
                <a:spcPts val="600"/>
              </a:spcAft>
              <a:defRPr sz="1500" b="1">
                <a:solidFill>
                  <a:srgbClr val="0F172A"/>
                </a:solidFill>
                <a:latin typeface="Liberation Sans"/>
              </a:defRPr>
            </a:pPr>
            <a:r>
              <a:t>Modello Replicabile Ovunque</a:t>
            </a:r>
          </a:p>
          <a:p>
            <a:pPr>
              <a:spcAft>
                <a:spcPts val="400"/>
              </a:spcAft>
            </a:pPr>
            <a:r>
              <a:rPr b="1" sz="1200">
                <a:solidFill>
                  <a:srgbClr val="0F172A"/>
                </a:solidFill>
                <a:latin typeface="Liberation Sans"/>
              </a:rPr>
              <a:t>• Architettura Indipendente: </a:t>
            </a:r>
            <a:r>
              <a:rPr sz="1200">
                <a:solidFill>
                  <a:srgbClr val="334155"/>
                </a:solidFill>
                <a:latin typeface="Liberation Sans"/>
              </a:rPr>
              <a:t>Non c'è nulla di vincolato a livello hardware o geografico ad Imperia.</a:t>
            </a:r>
          </a:p>
          <a:p>
            <a:pPr>
              <a:spcAft>
                <a:spcPts val="400"/>
              </a:spcAft>
            </a:pPr>
            <a:r>
              <a:rPr b="1" sz="1200">
                <a:solidFill>
                  <a:srgbClr val="0F172A"/>
                </a:solidFill>
                <a:latin typeface="Liberation Sans"/>
              </a:rPr>
              <a:t>• Fork &amp; Deploy: </a:t>
            </a:r>
            <a:r>
              <a:rPr sz="1200">
                <a:solidFill>
                  <a:srgbClr val="334155"/>
                </a:solidFill>
                <a:latin typeface="Liberation Sans"/>
              </a:rPr>
              <a:t>Un Fablab o un gruppo di volontari di Savona, Cuneo, La Spezia o Lucca può clonare il repository, cambiare il logo e avviare il portale della propria città in 10 minuti.</a:t>
            </a:r>
          </a:p>
          <a:p>
            <a:pPr>
              <a:spcAft>
                <a:spcPts val="400"/>
              </a:spcAft>
            </a:pPr>
            <a:r>
              <a:rPr b="1" sz="1200">
                <a:solidFill>
                  <a:srgbClr val="0F172A"/>
                </a:solidFill>
                <a:latin typeface="Liberation Sans"/>
              </a:rPr>
              <a:t>• Rete di Comuni Open: </a:t>
            </a:r>
            <a:r>
              <a:rPr sz="1200">
                <a:solidFill>
                  <a:srgbClr val="334155"/>
                </a:solidFill>
                <a:latin typeface="Liberation Sans"/>
              </a:rPr>
              <a:t>Creare una federazione di portali civici gemelli in tutta Italia.</a:t>
            </a:r>
          </a:p>
        </p:txBody>
      </p:sp>
      <p:sp>
        <p:nvSpPr>
          <p:cNvPr id="10" name="TextBox 9"/>
          <p:cNvSpPr txBox="1"/>
          <p:nvPr/>
        </p:nvSpPr>
        <p:spPr>
          <a:xfrm>
            <a:off x="731520" y="6400800"/>
            <a:ext cx="10728655" cy="365760"/>
          </a:xfrm>
          <a:prstGeom prst="rect">
            <a:avLst/>
          </a:prstGeom>
          <a:noFill/>
        </p:spPr>
        <p:txBody>
          <a:bodyPr wrap="none" tIns="0" bIns="0" lIns="0" rIns="0">
            <a:spAutoFit/>
          </a:bodyPr>
          <a:lstStyle/>
          <a:p>
            <a:pPr>
              <a:defRPr sz="1000">
                <a:solidFill>
                  <a:srgbClr val="64748B"/>
                </a:solidFill>
                <a:latin typeface="Liberation Sans"/>
              </a:defRPr>
            </a:pPr>
            <a:r>
              <a:t>Open Data Imperia • Fablab Imperia APS — Linux Day 2026</a:t>
            </a:r>
          </a:p>
        </p:txBody>
      </p:sp>
      <p:sp>
        <p:nvSpPr>
          <p:cNvPr id="11" name="TextBox 10"/>
          <p:cNvSpPr txBox="1"/>
          <p:nvPr/>
        </p:nvSpPr>
        <p:spPr>
          <a:xfrm>
            <a:off x="9601200" y="6400800"/>
            <a:ext cx="1828800" cy="365760"/>
          </a:xfrm>
          <a:prstGeom prst="rect">
            <a:avLst/>
          </a:prstGeom>
          <a:noFill/>
        </p:spPr>
        <p:txBody>
          <a:bodyPr wrap="none" tIns="0" bIns="0" lIns="0" rIns="0">
            <a:spAutoFit/>
          </a:bodyPr>
          <a:lstStyle/>
          <a:p>
            <a:pPr algn="r">
              <a:defRPr sz="1000" b="1">
                <a:solidFill>
                  <a:srgbClr val="0D9488"/>
                </a:solidFill>
                <a:latin typeface="Liberation Sans"/>
              </a:defRPr>
            </a:pPr>
            <a: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tIns="0" bIns="0" lIns="0" rIns="0">
            <a:spAutoFit/>
          </a:bodyPr>
          <a:lstStyle/>
          <a:p>
            <a:pPr>
              <a:spcAft>
                <a:spcPts val="200"/>
              </a:spcAft>
              <a:defRPr sz="1100" b="1">
                <a:solidFill>
                  <a:srgbClr val="0D9488"/>
                </a:solidFill>
                <a:latin typeface="Liberation Sans"/>
              </a:defRPr>
            </a:pPr>
            <a:r>
              <a:t>SEZIONE 4 • DEMO LIVE</a:t>
            </a:r>
          </a:p>
          <a:p>
            <a:pPr>
              <a:spcAft>
                <a:spcPts val="200"/>
              </a:spcAft>
              <a:defRPr sz="2400" b="1">
                <a:solidFill>
                  <a:srgbClr val="0F172A"/>
                </a:solidFill>
                <a:latin typeface="Liberation Sans"/>
              </a:defRPr>
            </a:pPr>
            <a:r>
              <a:t>Demo Live: L'Architettura in Azione</a:t>
            </a:r>
          </a:p>
          <a:p>
            <a:pPr>
              <a:defRPr sz="1200">
                <a:solidFill>
                  <a:srgbClr val="64748B"/>
                </a:solidFill>
                <a:latin typeface="Liberation Sans"/>
              </a:defRPr>
            </a:pPr>
            <a:r>
              <a:t>Sequenza operativa da terminale: dallo stack Docker alle chiamate REST</a:t>
            </a:r>
          </a:p>
        </p:txBody>
      </p:sp>
      <p:sp>
        <p:nvSpPr>
          <p:cNvPr id="4" name="Rectangle 3"/>
          <p:cNvSpPr/>
          <p:nvPr/>
        </p:nvSpPr>
        <p:spPr>
          <a:xfrm>
            <a:off x="731520" y="1737360"/>
            <a:ext cx="6858000" cy="4389120"/>
          </a:xfrm>
          <a:prstGeom prst="rect">
            <a:avLst/>
          </a:prstGeom>
          <a:solidFill>
            <a:srgbClr val="0F1A28"/>
          </a:solidFill>
          <a:ln>
            <a:solidFill>
              <a:srgbClr val="1E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6492240" cy="4206240"/>
          </a:xfrm>
          <a:prstGeom prst="rect">
            <a:avLst/>
          </a:prstGeom>
          <a:noFill/>
        </p:spPr>
        <p:txBody>
          <a:bodyPr wrap="square">
            <a:spAutoFit/>
          </a:bodyPr>
          <a:lstStyle/>
          <a:p/>
          <a:p>
            <a:pPr>
              <a:spcAft>
                <a:spcPts val="200"/>
              </a:spcAft>
              <a:defRPr sz="1050">
                <a:solidFill>
                  <a:srgbClr val="94A3B8"/>
                </a:solidFill>
                <a:latin typeface="Liberation Mono"/>
              </a:defRPr>
            </a:pPr>
            <a:r>
              <a:t># 1. Avvio rapido dello stack containerizzato</a:t>
            </a:r>
          </a:p>
          <a:p>
            <a:pPr>
              <a:spcAft>
                <a:spcPts val="200"/>
              </a:spcAft>
              <a:defRPr sz="1050">
                <a:solidFill>
                  <a:srgbClr val="38BDF8"/>
                </a:solidFill>
                <a:latin typeface="Liberation Mono"/>
              </a:defRPr>
            </a:pPr>
            <a:r>
              <a:t>docker compose up --build -d</a:t>
            </a:r>
          </a:p>
          <a:p>
            <a:pPr>
              <a:spcAft>
                <a:spcPts val="200"/>
              </a:spcAft>
              <a:defRPr sz="1050">
                <a:solidFill>
                  <a:srgbClr val="38BDF8"/>
                </a:solidFill>
                <a:latin typeface="Liberation Mono"/>
              </a:defRPr>
            </a:pPr>
            <a:r>
              <a:t>docker compose ps</a:t>
            </a:r>
          </a:p>
          <a:p>
            <a:pPr>
              <a:spcAft>
                <a:spcPts val="200"/>
              </a:spcAft>
              <a:defRPr sz="1050">
                <a:solidFill>
                  <a:srgbClr val="FFFFFF"/>
                </a:solidFill>
                <a:latin typeface="Liberation Mono"/>
              </a:defRPr>
            </a:pPr>
          </a:p>
          <a:p>
            <a:pPr>
              <a:spcAft>
                <a:spcPts val="200"/>
              </a:spcAft>
              <a:defRPr sz="1050">
                <a:solidFill>
                  <a:srgbClr val="94A3B8"/>
                </a:solidFill>
                <a:latin typeface="Liberation Mono"/>
              </a:defRPr>
            </a:pPr>
            <a:r>
              <a:t># 2. Apertura del portale web personalizzato</a:t>
            </a:r>
          </a:p>
          <a:p>
            <a:pPr>
              <a:spcAft>
                <a:spcPts val="200"/>
              </a:spcAft>
              <a:defRPr sz="1050">
                <a:solidFill>
                  <a:srgbClr val="E67E22"/>
                </a:solidFill>
                <a:latin typeface="Liberation Mono"/>
              </a:defRPr>
            </a:pPr>
            <a:r>
              <a:t># Navigare su http://localhost:5000</a:t>
            </a:r>
          </a:p>
          <a:p>
            <a:pPr>
              <a:spcAft>
                <a:spcPts val="200"/>
              </a:spcAft>
              <a:defRPr sz="1050">
                <a:solidFill>
                  <a:srgbClr val="FFFFFF"/>
                </a:solidFill>
                <a:latin typeface="Liberation Mono"/>
              </a:defRPr>
            </a:pPr>
          </a:p>
          <a:p>
            <a:pPr>
              <a:spcAft>
                <a:spcPts val="200"/>
              </a:spcAft>
              <a:defRPr sz="1050">
                <a:solidFill>
                  <a:srgbClr val="94A3B8"/>
                </a:solidFill>
                <a:latin typeface="Liberation Mono"/>
              </a:defRPr>
            </a:pPr>
            <a:r>
              <a:t># 3. Verifica dell'Action API di CKAN via cURL</a:t>
            </a:r>
          </a:p>
          <a:p>
            <a:pPr>
              <a:spcAft>
                <a:spcPts val="200"/>
              </a:spcAft>
              <a:defRPr sz="1050">
                <a:solidFill>
                  <a:srgbClr val="38BDF8"/>
                </a:solidFill>
                <a:latin typeface="Liberation Mono"/>
              </a:defRPr>
            </a:pPr>
            <a:r>
              <a:t>curl -s http://localhost:5000/api/3/action/organization_list</a:t>
            </a:r>
          </a:p>
          <a:p>
            <a:pPr>
              <a:spcAft>
                <a:spcPts val="200"/>
              </a:spcAft>
              <a:defRPr sz="1050">
                <a:solidFill>
                  <a:srgbClr val="FFFFFF"/>
                </a:solidFill>
                <a:latin typeface="Liberation Mono"/>
              </a:defRPr>
            </a:pPr>
          </a:p>
          <a:p>
            <a:pPr>
              <a:spcAft>
                <a:spcPts val="200"/>
              </a:spcAft>
              <a:defRPr sz="1050">
                <a:solidFill>
                  <a:srgbClr val="94A3B8"/>
                </a:solidFill>
                <a:latin typeface="Liberation Mono"/>
              </a:defRPr>
            </a:pPr>
            <a:r>
              <a:t># 4. Elenco dei collector registrati nel sistema</a:t>
            </a:r>
          </a:p>
          <a:p>
            <a:pPr>
              <a:spcAft>
                <a:spcPts val="200"/>
              </a:spcAft>
              <a:defRPr sz="1050">
                <a:solidFill>
                  <a:srgbClr val="38BDF8"/>
                </a:solidFill>
                <a:latin typeface="Liberation Mono"/>
              </a:defRPr>
            </a:pPr>
            <a:r>
              <a:t>PYTHONPATH=. python -m collectors --list</a:t>
            </a:r>
          </a:p>
          <a:p>
            <a:pPr>
              <a:spcAft>
                <a:spcPts val="200"/>
              </a:spcAft>
              <a:defRPr sz="1050">
                <a:solidFill>
                  <a:srgbClr val="FFFFFF"/>
                </a:solidFill>
                <a:latin typeface="Liberation Mono"/>
              </a:defRPr>
            </a:pPr>
          </a:p>
          <a:p>
            <a:pPr>
              <a:spcAft>
                <a:spcPts val="200"/>
              </a:spcAft>
              <a:defRPr sz="1050">
                <a:solidFill>
                  <a:srgbClr val="94A3B8"/>
                </a:solidFill>
                <a:latin typeface="Liberation Mono"/>
              </a:defRPr>
            </a:pPr>
            <a:r>
              <a:t># 5. Test di estrazione in modalità sicura (dry-run)</a:t>
            </a:r>
          </a:p>
          <a:p>
            <a:pPr>
              <a:spcAft>
                <a:spcPts val="200"/>
              </a:spcAft>
              <a:defRPr sz="1050">
                <a:solidFill>
                  <a:srgbClr val="38BDF8"/>
                </a:solidFill>
                <a:latin typeface="Liberation Mono"/>
              </a:defRPr>
            </a:pPr>
            <a:r>
              <a:t>PYTHONPATH=. python -m collectors --source arpal_meteo_imperia --dry-run</a:t>
            </a:r>
          </a:p>
        </p:txBody>
      </p:sp>
      <p:sp>
        <p:nvSpPr>
          <p:cNvPr id="6" name="Rectangle 5"/>
          <p:cNvSpPr/>
          <p:nvPr/>
        </p:nvSpPr>
        <p:spPr>
          <a:xfrm>
            <a:off x="7772400" y="1737360"/>
            <a:ext cx="3687775" cy="4389120"/>
          </a:xfrm>
          <a:prstGeom prst="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0" y="1901952"/>
            <a:ext cx="3322015"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CHECKLIST DEMO</a:t>
            </a:r>
          </a:p>
          <a:p>
            <a:pPr>
              <a:spcAft>
                <a:spcPts val="600"/>
              </a:spcAft>
              <a:defRPr sz="1500" b="1">
                <a:solidFill>
                  <a:srgbClr val="0F172A"/>
                </a:solidFill>
                <a:latin typeface="Liberation Sans"/>
              </a:defRPr>
            </a:pPr>
            <a:r>
              <a:t>Punti da Notare</a:t>
            </a:r>
          </a:p>
          <a:p>
            <a:pPr>
              <a:spcAft>
                <a:spcPts val="400"/>
              </a:spcAft>
            </a:pPr>
            <a:r>
              <a:rPr b="1" sz="1200">
                <a:solidFill>
                  <a:srgbClr val="0F172A"/>
                </a:solidFill>
                <a:latin typeface="Liberation Sans"/>
              </a:rPr>
              <a:t>• Branding e Tema: </a:t>
            </a:r>
            <a:r>
              <a:rPr sz="1200">
                <a:solidFill>
                  <a:srgbClr val="334155"/>
                </a:solidFill>
                <a:latin typeface="Liberation Sans"/>
              </a:rPr>
              <a:t>Interfaccia in italiano, palette colori dedicata e logo Open Data Imperia.</a:t>
            </a:r>
          </a:p>
          <a:p>
            <a:pPr>
              <a:spcAft>
                <a:spcPts val="400"/>
              </a:spcAft>
            </a:pPr>
            <a:r>
              <a:rPr b="1" sz="1200">
                <a:solidFill>
                  <a:srgbClr val="0F172A"/>
                </a:solidFill>
                <a:latin typeface="Liberation Sans"/>
              </a:rPr>
              <a:t>• Organizzazione Automatica: </a:t>
            </a:r>
            <a:r>
              <a:rPr sz="1200">
                <a:solidFill>
                  <a:srgbClr val="334155"/>
                </a:solidFill>
                <a:latin typeface="Liberation Sans"/>
              </a:rPr>
              <a:t>L'organizzazione Fablab Imperia APS è già creata e pronta all'uso.</a:t>
            </a:r>
          </a:p>
          <a:p>
            <a:pPr>
              <a:spcAft>
                <a:spcPts val="400"/>
              </a:spcAft>
            </a:pPr>
            <a:r>
              <a:rPr b="1" sz="1200">
                <a:solidFill>
                  <a:srgbClr val="0F172A"/>
                </a:solidFill>
                <a:latin typeface="Liberation Sans"/>
              </a:rPr>
              <a:t>• API REST Nativa: </a:t>
            </a:r>
            <a:r>
              <a:rPr sz="1200">
                <a:solidFill>
                  <a:srgbClr val="334155"/>
                </a:solidFill>
                <a:latin typeface="Liberation Sans"/>
              </a:rPr>
              <a:t>Tutte le entità (dataset, organizzazioni, tag) rispondono in JSON formale.</a:t>
            </a:r>
          </a:p>
          <a:p>
            <a:pPr>
              <a:spcAft>
                <a:spcPts val="400"/>
              </a:spcAft>
            </a:pPr>
            <a:r>
              <a:rPr b="1" sz="1200">
                <a:solidFill>
                  <a:srgbClr val="0F172A"/>
                </a:solidFill>
                <a:latin typeface="Liberation Sans"/>
              </a:rPr>
              <a:t>• Test Senza Rischi: </a:t>
            </a:r>
            <a:r>
              <a:rPr sz="1200">
                <a:solidFill>
                  <a:srgbClr val="334155"/>
                </a:solidFill>
                <a:latin typeface="Liberation Sans"/>
              </a:rPr>
              <a:t>Il flag --dry-run esegue il fetch reale dai server ARPAL e valida il CSV senza intasare il catalogo.</a:t>
            </a:r>
          </a:p>
          <a:p>
            <a:pPr>
              <a:spcAft>
                <a:spcPts val="400"/>
              </a:spcAft>
            </a:pPr>
            <a:r>
              <a:rPr b="1" sz="1200">
                <a:solidFill>
                  <a:srgbClr val="0F172A"/>
                </a:solidFill>
                <a:latin typeface="Liberation Sans"/>
              </a:rPr>
              <a:t>• Piano B Pronto: </a:t>
            </a:r>
            <a:r>
              <a:rPr sz="1200">
                <a:solidFill>
                  <a:srgbClr val="334155"/>
                </a:solidFill>
                <a:latin typeface="Liberation Sans"/>
              </a:rPr>
              <a:t>Registrazioni video e screenshot predisposti in caso di assenza di connettività in aula.</a:t>
            </a:r>
          </a:p>
        </p:txBody>
      </p:sp>
      <p:sp>
        <p:nvSpPr>
          <p:cNvPr id="8" name="TextBox 7"/>
          <p:cNvSpPr txBox="1"/>
          <p:nvPr/>
        </p:nvSpPr>
        <p:spPr>
          <a:xfrm>
            <a:off x="731520" y="6400800"/>
            <a:ext cx="10728655" cy="365760"/>
          </a:xfrm>
          <a:prstGeom prst="rect">
            <a:avLst/>
          </a:prstGeom>
          <a:noFill/>
        </p:spPr>
        <p:txBody>
          <a:bodyPr wrap="none" tIns="0" bIns="0" lIns="0" rIns="0">
            <a:spAutoFit/>
          </a:bodyPr>
          <a:lstStyle/>
          <a:p>
            <a:pPr>
              <a:defRPr sz="1000">
                <a:solidFill>
                  <a:srgbClr val="64748B"/>
                </a:solidFill>
                <a:latin typeface="Liberation Sans"/>
              </a:defRPr>
            </a:pPr>
            <a:r>
              <a:t>Open Data Imperia • Fablab Imperia APS — Linux Day 2026</a:t>
            </a:r>
          </a:p>
        </p:txBody>
      </p:sp>
      <p:sp>
        <p:nvSpPr>
          <p:cNvPr id="9" name="TextBox 8"/>
          <p:cNvSpPr txBox="1"/>
          <p:nvPr/>
        </p:nvSpPr>
        <p:spPr>
          <a:xfrm>
            <a:off x="9601200" y="6400800"/>
            <a:ext cx="1828800" cy="365760"/>
          </a:xfrm>
          <a:prstGeom prst="rect">
            <a:avLst/>
          </a:prstGeom>
          <a:noFill/>
        </p:spPr>
        <p:txBody>
          <a:bodyPr wrap="none" tIns="0" bIns="0" lIns="0" rIns="0">
            <a:spAutoFit/>
          </a:bodyPr>
          <a:lstStyle/>
          <a:p>
            <a:pPr algn="r">
              <a:defRPr sz="1000" b="1">
                <a:solidFill>
                  <a:srgbClr val="0D9488"/>
                </a:solidFill>
                <a:latin typeface="Liberation Sans"/>
              </a:defRPr>
            </a:pPr>
            <a: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tIns="0" bIns="0" lIns="0" rIns="0">
            <a:spAutoFit/>
          </a:bodyPr>
          <a:lstStyle/>
          <a:p>
            <a:pPr>
              <a:spcAft>
                <a:spcPts val="200"/>
              </a:spcAft>
              <a:defRPr sz="1100" b="1">
                <a:solidFill>
                  <a:srgbClr val="0D9488"/>
                </a:solidFill>
                <a:latin typeface="Liberation Sans"/>
              </a:defRPr>
            </a:pPr>
            <a:r>
              <a:t>SEZIONE 5 • CONCLUSIONI E RIUSO</a:t>
            </a:r>
          </a:p>
          <a:p>
            <a:pPr>
              <a:spcAft>
                <a:spcPts val="200"/>
              </a:spcAft>
              <a:defRPr sz="2400" b="1">
                <a:solidFill>
                  <a:srgbClr val="0F172A"/>
                </a:solidFill>
                <a:latin typeface="Liberation Sans"/>
              </a:defRPr>
            </a:pPr>
            <a:r>
              <a:t>Cosa Abbiamo Visto Oggi</a:t>
            </a:r>
          </a:p>
          <a:p>
            <a:pPr>
              <a:defRPr sz="1200">
                <a:solidFill>
                  <a:srgbClr val="64748B"/>
                </a:solidFill>
                <a:latin typeface="Liberation Sans"/>
              </a:defRPr>
            </a:pPr>
            <a:r>
              <a:t>Sintesi dei tre messaggi chiave tra diritto, tecnologia e cittadinanza attiva</a:t>
            </a:r>
          </a:p>
        </p:txBody>
      </p:sp>
      <p:sp>
        <p:nvSpPr>
          <p:cNvPr id="4" name="Rectangle 3"/>
          <p:cNvSpPr/>
          <p:nvPr/>
        </p:nvSpPr>
        <p:spPr>
          <a:xfrm>
            <a:off x="731520" y="1737360"/>
            <a:ext cx="342900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01952"/>
            <a:ext cx="306324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1. NORMATIVA</a:t>
            </a:r>
          </a:p>
          <a:p>
            <a:pPr>
              <a:spcAft>
                <a:spcPts val="600"/>
              </a:spcAft>
              <a:defRPr sz="1500" b="1">
                <a:solidFill>
                  <a:srgbClr val="0F172A"/>
                </a:solidFill>
                <a:latin typeface="Liberation Sans"/>
              </a:defRPr>
            </a:pPr>
            <a:r>
              <a:t>1. Diritto all'Informazione</a:t>
            </a:r>
          </a:p>
          <a:p>
            <a:pPr>
              <a:spcAft>
                <a:spcPts val="400"/>
              </a:spcAft>
            </a:pPr>
            <a:r>
              <a:rPr b="1" sz="1200">
                <a:solidFill>
                  <a:srgbClr val="0F172A"/>
                </a:solidFill>
                <a:latin typeface="Liberation Sans"/>
              </a:rPr>
              <a:t>• Non è una Concessione: </a:t>
            </a:r>
            <a:r>
              <a:rPr sz="1200">
                <a:solidFill>
                  <a:srgbClr val="334155"/>
                </a:solidFill>
                <a:latin typeface="Liberation Sans"/>
              </a:rPr>
              <a:t>Gli open data sono un preciso obbligo di legge europeo e nazionale (Direttiva 2019/1024, D.Lgs. 200/2021).</a:t>
            </a:r>
          </a:p>
          <a:p>
            <a:pPr>
              <a:spcAft>
                <a:spcPts val="400"/>
              </a:spcAft>
            </a:pPr>
            <a:r>
              <a:rPr b="1" sz="1200">
                <a:solidFill>
                  <a:srgbClr val="0F172A"/>
                </a:solidFill>
                <a:latin typeface="Liberation Sans"/>
              </a:rPr>
              <a:t>• Principio Open by Default: </a:t>
            </a:r>
            <a:r>
              <a:rPr sz="1200">
                <a:solidFill>
                  <a:srgbClr val="334155"/>
                </a:solidFill>
                <a:latin typeface="Liberation Sans"/>
              </a:rPr>
              <a:t>I dati pubblici appartengono ai cittadini che li hanno finanziati; la regola generale è l'apertura e la gratuità.</a:t>
            </a:r>
          </a:p>
          <a:p>
            <a:pPr>
              <a:spcAft>
                <a:spcPts val="400"/>
              </a:spcAft>
            </a:pPr>
            <a:r>
              <a:rPr b="1" sz="1200">
                <a:solidFill>
                  <a:srgbClr val="0F172A"/>
                </a:solidFill>
                <a:latin typeface="Liberation Sans"/>
              </a:rPr>
              <a:t>• Qualità ≥ 3 Stelle: </a:t>
            </a:r>
            <a:r>
              <a:rPr sz="1200">
                <a:solidFill>
                  <a:srgbClr val="334155"/>
                </a:solidFill>
                <a:latin typeface="Liberation Sans"/>
              </a:rPr>
              <a:t>La PA deve superare i PDF scansionati e adottare formati standard aperti e documentati.</a:t>
            </a:r>
          </a:p>
        </p:txBody>
      </p:sp>
      <p:sp>
        <p:nvSpPr>
          <p:cNvPr id="6" name="Rectangle 5"/>
          <p:cNvSpPr/>
          <p:nvPr/>
        </p:nvSpPr>
        <p:spPr>
          <a:xfrm>
            <a:off x="4389120" y="1737360"/>
            <a:ext cx="3429000" cy="4389120"/>
          </a:xfrm>
          <a:prstGeom prst="rect">
            <a:avLst/>
          </a:prstGeom>
          <a:solidFill>
            <a:srgbClr val="FFFFFF"/>
          </a:solidFill>
          <a:ln w="19050">
            <a:solidFill>
              <a:srgbClr val="0084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901952"/>
            <a:ext cx="306324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2. TECNOLOGIA</a:t>
            </a:r>
          </a:p>
          <a:p>
            <a:pPr>
              <a:spcAft>
                <a:spcPts val="600"/>
              </a:spcAft>
              <a:defRPr sz="1500" b="1">
                <a:solidFill>
                  <a:srgbClr val="0F172A"/>
                </a:solidFill>
                <a:latin typeface="Liberation Sans"/>
              </a:defRPr>
            </a:pPr>
            <a:r>
              <a:t>2. Potenza del Software Libero</a:t>
            </a:r>
          </a:p>
          <a:p>
            <a:pPr>
              <a:spcAft>
                <a:spcPts val="400"/>
              </a:spcAft>
            </a:pPr>
            <a:r>
              <a:rPr b="1" sz="1200">
                <a:solidFill>
                  <a:srgbClr val="0F172A"/>
                </a:solidFill>
                <a:latin typeface="Liberation Sans"/>
              </a:rPr>
              <a:t>• Ecosistema di Classe Mondiale: </a:t>
            </a:r>
            <a:r>
              <a:rPr sz="1200">
                <a:solidFill>
                  <a:srgbClr val="334155"/>
                </a:solidFill>
                <a:latin typeface="Liberation Sans"/>
              </a:rPr>
              <a:t>Con strumenti maturi come CKAN, PostgreSQL, Solr e Python è possibile allestire portali di livello governativo a costo zero di licenze.</a:t>
            </a:r>
          </a:p>
          <a:p>
            <a:pPr>
              <a:spcAft>
                <a:spcPts val="400"/>
              </a:spcAft>
            </a:pPr>
            <a:r>
              <a:rPr b="1" sz="1200">
                <a:solidFill>
                  <a:srgbClr val="0F172A"/>
                </a:solidFill>
                <a:latin typeface="Liberation Sans"/>
              </a:rPr>
              <a:t>• Conformità agli Standard: </a:t>
            </a:r>
            <a:r>
              <a:rPr sz="1200">
                <a:solidFill>
                  <a:srgbClr val="334155"/>
                </a:solidFill>
                <a:latin typeface="Liberation Sans"/>
              </a:rPr>
              <a:t>Piena compatibilità con i metadati nazionali AgID (DCAT-AP_IT) e facilità di federazione.</a:t>
            </a:r>
          </a:p>
          <a:p>
            <a:pPr>
              <a:spcAft>
                <a:spcPts val="400"/>
              </a:spcAft>
            </a:pPr>
            <a:r>
              <a:rPr b="1" sz="1200">
                <a:solidFill>
                  <a:srgbClr val="0F172A"/>
                </a:solidFill>
                <a:latin typeface="Liberation Sans"/>
              </a:rPr>
              <a:t>• Sovranità Digitale: </a:t>
            </a:r>
            <a:r>
              <a:rPr sz="1200">
                <a:solidFill>
                  <a:srgbClr val="334155"/>
                </a:solidFill>
                <a:latin typeface="Liberation Sans"/>
              </a:rPr>
              <a:t>Controllo totale sui propri dati senza dipendere da fornitori cloud proprietari.</a:t>
            </a:r>
          </a:p>
        </p:txBody>
      </p:sp>
      <p:sp>
        <p:nvSpPr>
          <p:cNvPr id="8" name="Rectangle 7"/>
          <p:cNvSpPr/>
          <p:nvPr/>
        </p:nvSpPr>
        <p:spPr>
          <a:xfrm>
            <a:off x="8046720" y="1737360"/>
            <a:ext cx="342900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901952"/>
            <a:ext cx="306324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3. COMUNITÀ</a:t>
            </a:r>
          </a:p>
          <a:p>
            <a:pPr>
              <a:spcAft>
                <a:spcPts val="600"/>
              </a:spcAft>
              <a:defRPr sz="1500" b="1">
                <a:solidFill>
                  <a:srgbClr val="0F172A"/>
                </a:solidFill>
                <a:latin typeface="Liberation Sans"/>
              </a:defRPr>
            </a:pPr>
            <a:r>
              <a:t>3. L'Impatto Civico dal Basso</a:t>
            </a:r>
          </a:p>
          <a:p>
            <a:pPr>
              <a:spcAft>
                <a:spcPts val="400"/>
              </a:spcAft>
            </a:pPr>
            <a:r>
              <a:rPr b="1" sz="1200">
                <a:solidFill>
                  <a:srgbClr val="0F172A"/>
                </a:solidFill>
                <a:latin typeface="Liberation Sans"/>
              </a:rPr>
              <a:t>• La Comunità che Fa: </a:t>
            </a:r>
            <a:r>
              <a:rPr sz="1200">
                <a:solidFill>
                  <a:srgbClr val="334155"/>
                </a:solidFill>
                <a:latin typeface="Liberation Sans"/>
              </a:rPr>
              <a:t>Un'associazione territoriale (Fablab Imperia) può trasformarsi da spettatrice passiva ad attore concreto del cambiamento digitale.</a:t>
            </a:r>
          </a:p>
          <a:p>
            <a:pPr>
              <a:spcAft>
                <a:spcPts val="400"/>
              </a:spcAft>
            </a:pPr>
            <a:r>
              <a:rPr b="1" sz="1200">
                <a:solidFill>
                  <a:srgbClr val="0F172A"/>
                </a:solidFill>
                <a:latin typeface="Liberation Sans"/>
              </a:rPr>
              <a:t>• Infrastruttura Replicabile: </a:t>
            </a:r>
            <a:r>
              <a:rPr sz="1200">
                <a:solidFill>
                  <a:srgbClr val="334155"/>
                </a:solidFill>
                <a:latin typeface="Liberation Sans"/>
              </a:rPr>
              <a:t>Un modello aperto, documentato e pronto per essere adottato da scuole, università e altri comuni italiani.</a:t>
            </a:r>
          </a:p>
          <a:p>
            <a:pPr>
              <a:spcAft>
                <a:spcPts val="400"/>
              </a:spcAft>
            </a:pPr>
            <a:r>
              <a:rPr b="1" sz="1200">
                <a:solidFill>
                  <a:srgbClr val="0F172A"/>
                </a:solidFill>
                <a:latin typeface="Liberation Sans"/>
              </a:rPr>
              <a:t>• Invito Aperto: </a:t>
            </a:r>
            <a:r>
              <a:rPr sz="1200">
                <a:solidFill>
                  <a:srgbClr val="334155"/>
                </a:solidFill>
                <a:latin typeface="Liberation Sans"/>
              </a:rPr>
              <a:t>I dati del territorio sono patrimonio comune: prendiamocene cura insieme.</a:t>
            </a:r>
          </a:p>
        </p:txBody>
      </p:sp>
      <p:sp>
        <p:nvSpPr>
          <p:cNvPr id="10" name="TextBox 9"/>
          <p:cNvSpPr txBox="1"/>
          <p:nvPr/>
        </p:nvSpPr>
        <p:spPr>
          <a:xfrm>
            <a:off x="731520" y="6400800"/>
            <a:ext cx="10728655" cy="365760"/>
          </a:xfrm>
          <a:prstGeom prst="rect">
            <a:avLst/>
          </a:prstGeom>
          <a:noFill/>
        </p:spPr>
        <p:txBody>
          <a:bodyPr wrap="none" tIns="0" bIns="0" lIns="0" rIns="0">
            <a:spAutoFit/>
          </a:bodyPr>
          <a:lstStyle/>
          <a:p>
            <a:pPr>
              <a:defRPr sz="1000">
                <a:solidFill>
                  <a:srgbClr val="64748B"/>
                </a:solidFill>
                <a:latin typeface="Liberation Sans"/>
              </a:defRPr>
            </a:pPr>
            <a:r>
              <a:t>Open Data Imperia • Fablab Imperia APS — Linux Day 2026</a:t>
            </a:r>
          </a:p>
        </p:txBody>
      </p:sp>
      <p:sp>
        <p:nvSpPr>
          <p:cNvPr id="11" name="TextBox 10"/>
          <p:cNvSpPr txBox="1"/>
          <p:nvPr/>
        </p:nvSpPr>
        <p:spPr>
          <a:xfrm>
            <a:off x="9601200" y="6400800"/>
            <a:ext cx="1828800" cy="365760"/>
          </a:xfrm>
          <a:prstGeom prst="rect">
            <a:avLst/>
          </a:prstGeom>
          <a:noFill/>
        </p:spPr>
        <p:txBody>
          <a:bodyPr wrap="none" tIns="0" bIns="0" lIns="0" rIns="0">
            <a:spAutoFit/>
          </a:bodyPr>
          <a:lstStyle/>
          <a:p>
            <a:pPr algn="r">
              <a:defRPr sz="1000" b="1">
                <a:solidFill>
                  <a:srgbClr val="0D9488"/>
                </a:solidFill>
                <a:latin typeface="Liberation Sans"/>
              </a:defRPr>
            </a:pPr>
            <a: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tIns="0" bIns="0" lIns="0" rIns="0">
            <a:spAutoFit/>
          </a:bodyPr>
          <a:lstStyle/>
          <a:p>
            <a:pPr>
              <a:spcAft>
                <a:spcPts val="200"/>
              </a:spcAft>
              <a:defRPr sz="1100" b="1">
                <a:solidFill>
                  <a:srgbClr val="0D9488"/>
                </a:solidFill>
                <a:latin typeface="Liberation Sans"/>
              </a:defRPr>
            </a:pPr>
            <a:r>
              <a:t>SEZIONE 5 • CONCLUSIONI E RIUSO</a:t>
            </a:r>
          </a:p>
          <a:p>
            <a:pPr>
              <a:spcAft>
                <a:spcPts val="200"/>
              </a:spcAft>
              <a:defRPr sz="2400" b="1">
                <a:solidFill>
                  <a:srgbClr val="0F172A"/>
                </a:solidFill>
                <a:latin typeface="Liberation Sans"/>
              </a:defRPr>
            </a:pPr>
            <a:r>
              <a:t>Come Contribuire e Replicare il Progetto</a:t>
            </a:r>
          </a:p>
          <a:p>
            <a:pPr>
              <a:defRPr sz="1200">
                <a:solidFill>
                  <a:srgbClr val="64748B"/>
                </a:solidFill>
                <a:latin typeface="Liberation Sans"/>
              </a:defRPr>
            </a:pPr>
            <a:r>
              <a:t>Tutti possono partecipare: sviluppatori, studenti, comunicatori e cittadini curiosi</a:t>
            </a:r>
          </a:p>
        </p:txBody>
      </p:sp>
      <p:sp>
        <p:nvSpPr>
          <p:cNvPr id="4" name="Rectangle 3"/>
          <p:cNvSpPr/>
          <p:nvPr/>
        </p:nvSpPr>
        <p:spPr>
          <a:xfrm>
            <a:off x="731520" y="1737360"/>
            <a:ext cx="342900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01952"/>
            <a:ext cx="306324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CODING</a:t>
            </a:r>
          </a:p>
          <a:p>
            <a:pPr>
              <a:spcAft>
                <a:spcPts val="600"/>
              </a:spcAft>
              <a:defRPr sz="1500" b="1">
                <a:solidFill>
                  <a:srgbClr val="0F172A"/>
                </a:solidFill>
                <a:latin typeface="Liberation Sans"/>
              </a:defRPr>
            </a:pPr>
            <a:r>
              <a:t>Sviluppatori &amp; Studenti</a:t>
            </a:r>
          </a:p>
          <a:p>
            <a:pPr>
              <a:spcAft>
                <a:spcPts val="400"/>
              </a:spcAft>
            </a:pPr>
            <a:r>
              <a:rPr b="1" sz="1200">
                <a:solidFill>
                  <a:srgbClr val="0F172A"/>
                </a:solidFill>
                <a:latin typeface="Liberation Sans"/>
              </a:rPr>
              <a:t>• Scrivi un Nuovo Collector: </a:t>
            </a:r>
            <a:r>
              <a:rPr sz="1200">
                <a:solidFill>
                  <a:srgbClr val="334155"/>
                </a:solidFill>
                <a:latin typeface="Liberation Sans"/>
              </a:rPr>
              <a:t>Adotta una sorgente locale (parcheggi, orari bus, sentieri) ed eredita dalla classe DataSource.</a:t>
            </a:r>
          </a:p>
          <a:p>
            <a:pPr>
              <a:spcAft>
                <a:spcPts val="400"/>
              </a:spcAft>
            </a:pPr>
            <a:r>
              <a:rPr b="1" sz="1200">
                <a:solidFill>
                  <a:srgbClr val="0F172A"/>
                </a:solidFill>
                <a:latin typeface="Liberation Sans"/>
              </a:rPr>
              <a:t>• Migliora l'Interfaccia: </a:t>
            </a:r>
            <a:r>
              <a:rPr sz="1200">
                <a:solidFill>
                  <a:srgbClr val="334155"/>
                </a:solidFill>
                <a:latin typeface="Liberation Sans"/>
              </a:rPr>
              <a:t>Aiutaci a perfezionare i template Jinja2 e il tema grafico CSS di ckanext-openimperia.</a:t>
            </a:r>
          </a:p>
          <a:p>
            <a:pPr>
              <a:spcAft>
                <a:spcPts val="400"/>
              </a:spcAft>
            </a:pPr>
            <a:r>
              <a:rPr b="1" sz="1200">
                <a:solidFill>
                  <a:srgbClr val="0F172A"/>
                </a:solidFill>
                <a:latin typeface="Liberation Sans"/>
              </a:rPr>
              <a:t>• Data Visualization: </a:t>
            </a:r>
            <a:r>
              <a:rPr sz="1200">
                <a:solidFill>
                  <a:srgbClr val="334155"/>
                </a:solidFill>
                <a:latin typeface="Liberation Sans"/>
              </a:rPr>
              <a:t>Crea grafici interattivi, mappe e dashboard basate sui dati del catalogo.</a:t>
            </a:r>
          </a:p>
        </p:txBody>
      </p:sp>
      <p:sp>
        <p:nvSpPr>
          <p:cNvPr id="6" name="Rectangle 5"/>
          <p:cNvSpPr/>
          <p:nvPr/>
        </p:nvSpPr>
        <p:spPr>
          <a:xfrm>
            <a:off x="4389120" y="1737360"/>
            <a:ext cx="3429000" cy="4389120"/>
          </a:xfrm>
          <a:prstGeom prst="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901952"/>
            <a:ext cx="306324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PARTECIPAZIONE</a:t>
            </a:r>
          </a:p>
          <a:p>
            <a:pPr>
              <a:spcAft>
                <a:spcPts val="600"/>
              </a:spcAft>
              <a:defRPr sz="1500" b="1">
                <a:solidFill>
                  <a:srgbClr val="0F172A"/>
                </a:solidFill>
                <a:latin typeface="Liberation Sans"/>
              </a:defRPr>
            </a:pPr>
            <a:r>
              <a:t>Cittadini &amp; Associazioni</a:t>
            </a:r>
          </a:p>
          <a:p>
            <a:pPr>
              <a:spcAft>
                <a:spcPts val="400"/>
              </a:spcAft>
            </a:pPr>
            <a:r>
              <a:rPr b="1" sz="1200">
                <a:solidFill>
                  <a:srgbClr val="0F172A"/>
                </a:solidFill>
                <a:latin typeface="Liberation Sans"/>
              </a:rPr>
              <a:t>• Segnala Dati Nascosti: </a:t>
            </a:r>
            <a:r>
              <a:rPr sz="1200">
                <a:solidFill>
                  <a:srgbClr val="334155"/>
                </a:solidFill>
                <a:latin typeface="Liberation Sans"/>
              </a:rPr>
              <a:t>Hai trovato tabelle utili o dati interessanti sepolti nei PDF dei siti pubblici locali? Segnalaceli!</a:t>
            </a:r>
          </a:p>
          <a:p>
            <a:pPr>
              <a:spcAft>
                <a:spcPts val="400"/>
              </a:spcAft>
            </a:pPr>
            <a:r>
              <a:rPr b="1" sz="1200">
                <a:solidFill>
                  <a:srgbClr val="0F172A"/>
                </a:solidFill>
                <a:latin typeface="Liberation Sans"/>
              </a:rPr>
              <a:t>• Documentazione &amp; Guide: </a:t>
            </a:r>
            <a:r>
              <a:rPr sz="1200">
                <a:solidFill>
                  <a:srgbClr val="334155"/>
                </a:solidFill>
                <a:latin typeface="Liberation Sans"/>
              </a:rPr>
              <a:t>Aiutaci a spiegare i dati in modo chiaro e comprensibile per chi non è un programmatore.</a:t>
            </a:r>
          </a:p>
          <a:p>
            <a:pPr>
              <a:spcAft>
                <a:spcPts val="400"/>
              </a:spcAft>
            </a:pPr>
            <a:r>
              <a:rPr b="1" sz="1200">
                <a:solidFill>
                  <a:srgbClr val="0F172A"/>
                </a:solidFill>
                <a:latin typeface="Liberation Sans"/>
              </a:rPr>
              <a:t>• Monitoraggio Civico: </a:t>
            </a:r>
            <a:r>
              <a:rPr sz="1200">
                <a:solidFill>
                  <a:srgbClr val="334155"/>
                </a:solidFill>
                <a:latin typeface="Liberation Sans"/>
              </a:rPr>
              <a:t>Usa i dati per fare inchieste, articoli o petizioni civiche costruttive.</a:t>
            </a:r>
          </a:p>
        </p:txBody>
      </p:sp>
      <p:sp>
        <p:nvSpPr>
          <p:cNvPr id="8" name="Rectangle 7"/>
          <p:cNvSpPr/>
          <p:nvPr/>
        </p:nvSpPr>
        <p:spPr>
          <a:xfrm>
            <a:off x="8046720" y="1737360"/>
            <a:ext cx="342900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901952"/>
            <a:ext cx="3063240" cy="4059936"/>
          </a:xfrm>
          <a:prstGeom prst="rect">
            <a:avLst/>
          </a:prstGeom>
          <a:noFill/>
        </p:spPr>
        <p:txBody>
          <a:bodyPr wrap="square" tIns="0" bIns="0" lIns="0" rIns="0">
            <a:spAutoFit/>
          </a:bodyPr>
          <a:lstStyle/>
          <a:p>
            <a:pPr>
              <a:spcAft>
                <a:spcPts val="200"/>
              </a:spcAft>
              <a:defRPr sz="1000" b="1">
                <a:solidFill>
                  <a:srgbClr val="0D9488"/>
                </a:solidFill>
                <a:latin typeface="Liberation Sans"/>
              </a:defRPr>
            </a:pPr>
            <a:r>
              <a:t>NETWORK</a:t>
            </a:r>
          </a:p>
          <a:p>
            <a:pPr>
              <a:spcAft>
                <a:spcPts val="600"/>
              </a:spcAft>
              <a:defRPr sz="1500" b="1">
                <a:solidFill>
                  <a:srgbClr val="0F172A"/>
                </a:solidFill>
                <a:latin typeface="Liberation Sans"/>
              </a:defRPr>
            </a:pPr>
            <a:r>
              <a:t>Amministrazioni &amp; Fablab</a:t>
            </a:r>
          </a:p>
          <a:p>
            <a:pPr>
              <a:spcAft>
                <a:spcPts val="400"/>
              </a:spcAft>
            </a:pPr>
            <a:r>
              <a:rPr b="1" sz="1200">
                <a:solidFill>
                  <a:srgbClr val="0F172A"/>
                </a:solidFill>
                <a:latin typeface="Liberation Sans"/>
              </a:rPr>
              <a:t>• Dialogo con la PA: </a:t>
            </a:r>
            <a:r>
              <a:rPr sz="1200">
                <a:solidFill>
                  <a:srgbClr val="334155"/>
                </a:solidFill>
                <a:latin typeface="Liberation Sans"/>
              </a:rPr>
              <a:t>Invitiamo i funzionari dei comuni del Ponente a collaborare con noi per semplificare la pubblicazione dei loro dati.</a:t>
            </a:r>
          </a:p>
          <a:p>
            <a:pPr>
              <a:spcAft>
                <a:spcPts val="400"/>
              </a:spcAft>
            </a:pPr>
            <a:r>
              <a:rPr b="1" sz="1200">
                <a:solidFill>
                  <a:srgbClr val="0F172A"/>
                </a:solidFill>
                <a:latin typeface="Liberation Sans"/>
              </a:rPr>
              <a:t>• Replicazione in Altre Città: </a:t>
            </a:r>
            <a:r>
              <a:rPr sz="1200">
                <a:solidFill>
                  <a:srgbClr val="334155"/>
                </a:solidFill>
                <a:latin typeface="Liberation Sans"/>
              </a:rPr>
              <a:t>Forniamo supporto tecnico a qualsiasi associazione o Fablab desideri avviare il portale nella propria provincia.</a:t>
            </a:r>
          </a:p>
          <a:p>
            <a:pPr>
              <a:spcAft>
                <a:spcPts val="400"/>
              </a:spcAft>
            </a:pPr>
            <a:r>
              <a:rPr b="1" sz="1200">
                <a:solidFill>
                  <a:srgbClr val="0F172A"/>
                </a:solidFill>
                <a:latin typeface="Liberation Sans"/>
              </a:rPr>
              <a:t>• Incontriamoci al Fablab: </a:t>
            </a:r>
            <a:r>
              <a:rPr sz="1200">
                <a:solidFill>
                  <a:srgbClr val="334155"/>
                </a:solidFill>
                <a:latin typeface="Liberation Sans"/>
              </a:rPr>
              <a:t>Tutti i giovedì sera per lavorare insieme sui progetti open source.</a:t>
            </a:r>
          </a:p>
        </p:txBody>
      </p:sp>
      <p:sp>
        <p:nvSpPr>
          <p:cNvPr id="10" name="TextBox 9"/>
          <p:cNvSpPr txBox="1"/>
          <p:nvPr/>
        </p:nvSpPr>
        <p:spPr>
          <a:xfrm>
            <a:off x="731520" y="6400800"/>
            <a:ext cx="10728655" cy="365760"/>
          </a:xfrm>
          <a:prstGeom prst="rect">
            <a:avLst/>
          </a:prstGeom>
          <a:noFill/>
        </p:spPr>
        <p:txBody>
          <a:bodyPr wrap="none" tIns="0" bIns="0" lIns="0" rIns="0">
            <a:spAutoFit/>
          </a:bodyPr>
          <a:lstStyle/>
          <a:p>
            <a:pPr>
              <a:defRPr sz="1000">
                <a:solidFill>
                  <a:srgbClr val="64748B"/>
                </a:solidFill>
                <a:latin typeface="Liberation Sans"/>
              </a:defRPr>
            </a:pPr>
            <a:r>
              <a:t>Open Data Imperia • Fablab Imperia APS — Linux Day 2026</a:t>
            </a:r>
          </a:p>
        </p:txBody>
      </p:sp>
      <p:sp>
        <p:nvSpPr>
          <p:cNvPr id="11" name="TextBox 10"/>
          <p:cNvSpPr txBox="1"/>
          <p:nvPr/>
        </p:nvSpPr>
        <p:spPr>
          <a:xfrm>
            <a:off x="9601200" y="6400800"/>
            <a:ext cx="1828800" cy="365760"/>
          </a:xfrm>
          <a:prstGeom prst="rect">
            <a:avLst/>
          </a:prstGeom>
          <a:noFill/>
        </p:spPr>
        <p:txBody>
          <a:bodyPr wrap="none" tIns="0" bIns="0" lIns="0" rIns="0">
            <a:spAutoFit/>
          </a:bodyPr>
          <a:lstStyle/>
          <a:p>
            <a:pPr algn="r">
              <a:defRPr sz="1000" b="1">
                <a:solidFill>
                  <a:srgbClr val="0D9488"/>
                </a:solidFill>
                <a:latin typeface="Liberation Sans"/>
              </a:defRPr>
            </a:pPr>
            <a: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548640"/>
            <a:ext cx="10362895" cy="1097280"/>
          </a:xfrm>
          <a:prstGeom prst="rect">
            <a:avLst/>
          </a:prstGeom>
          <a:noFill/>
        </p:spPr>
        <p:txBody>
          <a:bodyPr wrap="none">
            <a:spAutoFit/>
          </a:bodyPr>
          <a:lstStyle/>
          <a:p>
            <a:pPr>
              <a:spcAft>
                <a:spcPts val="200"/>
              </a:spcAft>
              <a:defRPr sz="1300" b="1">
                <a:solidFill>
                  <a:srgbClr val="E67E22"/>
                </a:solidFill>
                <a:latin typeface="Liberation Sans"/>
              </a:defRPr>
            </a:pPr>
            <a:r>
              <a:t>LINUX DAY 2026 • CONCLUSIONI</a:t>
            </a:r>
          </a:p>
          <a:p>
            <a:pPr>
              <a:defRPr sz="3600" b="1">
                <a:solidFill>
                  <a:srgbClr val="FFFFFF"/>
                </a:solidFill>
                <a:latin typeface="Liberation Sans"/>
              </a:defRPr>
            </a:pPr>
            <a:r>
              <a:t>Grazie per l'attenzione!</a:t>
            </a:r>
          </a:p>
        </p:txBody>
      </p:sp>
      <p:sp>
        <p:nvSpPr>
          <p:cNvPr id="5" name="Rectangle 4"/>
          <p:cNvSpPr/>
          <p:nvPr/>
        </p:nvSpPr>
        <p:spPr>
          <a:xfrm>
            <a:off x="914400" y="1828800"/>
            <a:ext cx="4937760" cy="3291840"/>
          </a:xfrm>
          <a:prstGeom prst="rect">
            <a:avLst/>
          </a:prstGeom>
          <a:solidFill>
            <a:srgbClr val="132940"/>
          </a:solidFill>
          <a:ln>
            <a:solidFill>
              <a:srgbClr val="1E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920240"/>
            <a:ext cx="2743200" cy="3017520"/>
          </a:xfrm>
          <a:prstGeom prst="rect">
            <a:avLst/>
          </a:prstGeom>
          <a:noFill/>
        </p:spPr>
        <p:txBody>
          <a:bodyPr wrap="square">
            <a:spAutoFit/>
          </a:bodyPr>
          <a:lstStyle/>
          <a:p>
            <a:pPr>
              <a:spcAft>
                <a:spcPts val="400"/>
              </a:spcAft>
              <a:defRPr sz="1600" b="1">
                <a:solidFill>
                  <a:srgbClr val="0084D1"/>
                </a:solidFill>
                <a:latin typeface="Liberation Sans"/>
              </a:defRPr>
            </a:pPr>
            <a:r>
              <a:t>Repository GitHub</a:t>
            </a:r>
          </a:p>
          <a:p>
            <a:pPr>
              <a:spcAft>
                <a:spcPts val="600"/>
              </a:spcAft>
              <a:defRPr sz="1100">
                <a:solidFill>
                  <a:srgbClr val="CBD5E1"/>
                </a:solidFill>
                <a:latin typeface="Liberation Sans"/>
              </a:defRPr>
            </a:pPr>
            <a:r>
              <a:t>Codice sorgente completo con licenza AGPL-3.0, guide all'architettura, Dockerfile e documentazione.</a:t>
            </a:r>
          </a:p>
          <a:p>
            <a:pPr>
              <a:defRPr sz="1050" b="1">
                <a:solidFill>
                  <a:srgbClr val="FFFFFF"/>
                </a:solidFill>
                <a:latin typeface="Liberation Mono"/>
              </a:defRPr>
            </a:pPr>
            <a:r>
              <a:t>github.com/fablab-imperia/open-imperia</a:t>
            </a:r>
          </a:p>
        </p:txBody>
      </p:sp>
      <p:pic>
        <p:nvPicPr>
          <p:cNvPr id="7" name="Picture 6" descr="qr_repo.png"/>
          <p:cNvPicPr>
            <a:picLocks noChangeAspect="1"/>
          </p:cNvPicPr>
          <p:nvPr/>
        </p:nvPicPr>
        <p:blipFill>
          <a:blip r:embed="rId2"/>
          <a:stretch>
            <a:fillRect/>
          </a:stretch>
        </p:blipFill>
        <p:spPr>
          <a:xfrm>
            <a:off x="4023360" y="2103120"/>
            <a:ext cx="1645920" cy="1645920"/>
          </a:xfrm>
          <a:prstGeom prst="rect">
            <a:avLst/>
          </a:prstGeom>
        </p:spPr>
      </p:pic>
      <p:sp>
        <p:nvSpPr>
          <p:cNvPr id="8" name="Rectangle 7"/>
          <p:cNvSpPr/>
          <p:nvPr/>
        </p:nvSpPr>
        <p:spPr>
          <a:xfrm>
            <a:off x="6309360" y="1828800"/>
            <a:ext cx="4937760" cy="3291840"/>
          </a:xfrm>
          <a:prstGeom prst="rect">
            <a:avLst/>
          </a:prstGeom>
          <a:solidFill>
            <a:srgbClr val="132940"/>
          </a:solidFill>
          <a:ln>
            <a:solidFill>
              <a:srgbClr val="1E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920240"/>
            <a:ext cx="2743200" cy="3017520"/>
          </a:xfrm>
          <a:prstGeom prst="rect">
            <a:avLst/>
          </a:prstGeom>
          <a:noFill/>
        </p:spPr>
        <p:txBody>
          <a:bodyPr wrap="square">
            <a:spAutoFit/>
          </a:bodyPr>
          <a:lstStyle/>
          <a:p>
            <a:pPr>
              <a:spcAft>
                <a:spcPts val="400"/>
              </a:spcAft>
              <a:defRPr sz="1600" b="1">
                <a:solidFill>
                  <a:srgbClr val="0D9488"/>
                </a:solidFill>
                <a:latin typeface="Liberation Sans"/>
              </a:defRPr>
            </a:pPr>
            <a:r>
              <a:t>Portale Open Data</a:t>
            </a:r>
          </a:p>
          <a:p>
            <a:pPr>
              <a:spcAft>
                <a:spcPts val="600"/>
              </a:spcAft>
              <a:defRPr sz="1100">
                <a:solidFill>
                  <a:srgbClr val="CBD5E1"/>
                </a:solidFill>
                <a:latin typeface="Liberation Sans"/>
              </a:defRPr>
            </a:pPr>
            <a:r>
              <a:t>Il catalogo pubblico dei dati del territorio di Imperia con ricerca a faccette e Action API aperte.</a:t>
            </a:r>
          </a:p>
          <a:p>
            <a:pPr>
              <a:defRPr sz="1100" b="1">
                <a:solidFill>
                  <a:srgbClr val="FFFFFF"/>
                </a:solidFill>
                <a:latin typeface="Liberation Mono"/>
              </a:defRPr>
            </a:pPr>
            <a:r>
              <a:t>dati.fablabimperia.org</a:t>
            </a:r>
          </a:p>
        </p:txBody>
      </p:sp>
      <p:pic>
        <p:nvPicPr>
          <p:cNvPr id="10" name="Picture 9" descr="qr_portal.png"/>
          <p:cNvPicPr>
            <a:picLocks noChangeAspect="1"/>
          </p:cNvPicPr>
          <p:nvPr/>
        </p:nvPicPr>
        <p:blipFill>
          <a:blip r:embed="rId3"/>
          <a:stretch>
            <a:fillRect/>
          </a:stretch>
        </p:blipFill>
        <p:spPr>
          <a:xfrm>
            <a:off x="9418320" y="2103120"/>
            <a:ext cx="1645920" cy="1645920"/>
          </a:xfrm>
          <a:prstGeom prst="rect">
            <a:avLst/>
          </a:prstGeom>
        </p:spPr>
      </p:pic>
      <p:sp>
        <p:nvSpPr>
          <p:cNvPr id="11" name="Rectangle 10"/>
          <p:cNvSpPr/>
          <p:nvPr/>
        </p:nvSpPr>
        <p:spPr>
          <a:xfrm>
            <a:off x="914400" y="5303520"/>
            <a:ext cx="10332720" cy="914400"/>
          </a:xfrm>
          <a:prstGeom prst="rect">
            <a:avLst/>
          </a:prstGeom>
          <a:solidFill>
            <a:srgbClr val="0F243A"/>
          </a:solidFill>
          <a:ln>
            <a:solidFill>
              <a:srgbClr val="0084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5376672"/>
            <a:ext cx="9966960" cy="777240"/>
          </a:xfrm>
          <a:prstGeom prst="rect">
            <a:avLst/>
          </a:prstGeom>
          <a:noFill/>
        </p:spPr>
        <p:txBody>
          <a:bodyPr wrap="none">
            <a:spAutoFit/>
          </a:bodyPr>
          <a:lstStyle/>
          <a:p>
            <a:pPr>
              <a:spcAft>
                <a:spcPts val="200"/>
              </a:spcAft>
              <a:defRPr sz="1300" b="1">
                <a:solidFill>
                  <a:srgbClr val="FFFFFF"/>
                </a:solidFill>
                <a:latin typeface="Liberation Sans"/>
              </a:defRPr>
            </a:pPr>
            <a:r>
              <a:t>Fablab Imperia APS  •  info@fablabimperia.org  •  https://fablabimperia.org</a:t>
            </a:r>
          </a:p>
          <a:p>
            <a:pPr>
              <a:defRPr sz="1200">
                <a:solidFill>
                  <a:srgbClr val="E67E22"/>
                </a:solidFill>
                <a:latin typeface="Liberation Sans"/>
              </a:defRPr>
            </a:pPr>
            <a:r>
              <a:t>Domande? Spazio aperto alla discussione e al confronto con la community!</a:t>
            </a:r>
          </a:p>
        </p:txBody>
      </p:sp>
      <p:sp>
        <p:nvSpPr>
          <p:cNvPr id="13" name="TextBox 12"/>
          <p:cNvSpPr txBox="1"/>
          <p:nvPr/>
        </p:nvSpPr>
        <p:spPr>
          <a:xfrm>
            <a:off x="731520" y="6400800"/>
            <a:ext cx="10728655" cy="365760"/>
          </a:xfrm>
          <a:prstGeom prst="rect">
            <a:avLst/>
          </a:prstGeom>
          <a:noFill/>
        </p:spPr>
        <p:txBody>
          <a:bodyPr wrap="none" tIns="0" bIns="0" lIns="0" rIns="0">
            <a:spAutoFit/>
          </a:bodyPr>
          <a:lstStyle/>
          <a:p>
            <a:pPr>
              <a:defRPr sz="1000">
                <a:solidFill>
                  <a:srgbClr val="94A3B8"/>
                </a:solidFill>
                <a:latin typeface="Liberation Sans"/>
              </a:defRPr>
            </a:pPr>
            <a:r>
              <a:t>Open Data Imperia • Fablab Imperia APS — Linux Day 2026</a:t>
            </a:r>
          </a:p>
        </p:txBody>
      </p:sp>
      <p:sp>
        <p:nvSpPr>
          <p:cNvPr id="14" name="TextBox 13"/>
          <p:cNvSpPr txBox="1"/>
          <p:nvPr/>
        </p:nvSpPr>
        <p:spPr>
          <a:xfrm>
            <a:off x="9601200" y="6400800"/>
            <a:ext cx="1828800" cy="365760"/>
          </a:xfrm>
          <a:prstGeom prst="rect">
            <a:avLst/>
          </a:prstGeom>
          <a:noFill/>
        </p:spPr>
        <p:txBody>
          <a:bodyPr wrap="none" tIns="0" bIns="0" lIns="0" rIns="0">
            <a:spAutoFit/>
          </a:bodyPr>
          <a:lstStyle/>
          <a:p>
            <a:pPr algn="r">
              <a:defRPr sz="1000" b="1">
                <a:solidFill>
                  <a:srgbClr val="0084D1"/>
                </a:solidFill>
                <a:latin typeface="Liberation Sans"/>
              </a:defRPr>
            </a:pPr>
            <a: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